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67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7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9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10/04/26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10/04/26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10/04/26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10/04/26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10/04/26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10/04/26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10/04/26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10/04/26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10/04/26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10/04/26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10/04/26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10/04/26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10/04/26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10/04/26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5/s-0042-1760247" TargetMode="External"/><Relationship Id="rId2" Type="http://schemas.openxmlformats.org/officeDocument/2006/relationships/hyperlink" Target="https://doi.org/10.1109/access.2022.3144765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doi.org/10.56553/popets-2023-005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95" y="1750741"/>
            <a:ext cx="11842810" cy="4703128"/>
          </a:xfrm>
        </p:spPr>
        <p:txBody>
          <a:bodyPr/>
          <a:lstStyle/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3200" dirty="0">
                <a:latin typeface="Comic Sans MS" panose="030F0702030302020204" pitchFamily="66" charset="0"/>
              </a:rPr>
              <a:t>Quality Degradation Attack in Synthetic Data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Qinyi Liu</a:t>
            </a:r>
            <a:r>
              <a:rPr lang="en-GB" sz="1800" dirty="0">
                <a:latin typeface="Comic Sans MS" panose="030F0702030302020204" pitchFamily="66" charset="0"/>
              </a:rPr>
              <a:t>,</a:t>
            </a:r>
            <a:r>
              <a:rPr lang="en-US" sz="1800" dirty="0">
                <a:latin typeface="Comic Sans MS" panose="030F0702030302020204" pitchFamily="66" charset="0"/>
              </a:rPr>
              <a:t> Dong Liu, Farhad </a:t>
            </a:r>
            <a:r>
              <a:rPr lang="en-US" sz="1800" dirty="0" err="1">
                <a:latin typeface="Comic Sans MS" panose="030F0702030302020204" pitchFamily="66" charset="0"/>
              </a:rPr>
              <a:t>Vadiee</a:t>
            </a:r>
            <a:r>
              <a:rPr lang="en-US" sz="1800" dirty="0">
                <a:latin typeface="Comic Sans MS" panose="030F0702030302020204" pitchFamily="66" charset="0"/>
              </a:rPr>
              <a:t>, Mohammad Khalil, Pedro P. Vergara Barrios</a:t>
            </a:r>
            <a:endParaRPr lang="en-IN" sz="1800" dirty="0">
              <a:latin typeface="Comic Sans MS" panose="030F0702030302020204" pitchFamily="66" charset="0"/>
            </a:endParaRP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r>
              <a:rPr lang="en-IN" sz="1400" dirty="0">
                <a:latin typeface="Comic Sans MS" panose="030F0702030302020204" pitchFamily="66" charset="0"/>
              </a:rPr>
              <a:t>University of Bergen, Norway</a:t>
            </a:r>
          </a:p>
          <a:p>
            <a:r>
              <a:rPr lang="en-IN" sz="1400" dirty="0">
                <a:latin typeface="Comic Sans MS" panose="030F0702030302020204" pitchFamily="66" charset="0"/>
              </a:rPr>
              <a:t>Delft University of Technology, Netherlands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8E97D-D68D-34F5-B23F-8BC0437F5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  <p:pic>
        <p:nvPicPr>
          <p:cNvPr id="2" name="Picture 1" descr="A white background with green text&#10;&#10;Description automatically generated">
            <a:extLst>
              <a:ext uri="{FF2B5EF4-FFF2-40B4-BE49-F238E27FC236}">
                <a16:creationId xmlns:a16="http://schemas.microsoft.com/office/drawing/2014/main" id="{118C2CCF-6899-0FF1-8A80-9A83EC84E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42236"/>
            <a:ext cx="4641849" cy="1415764"/>
          </a:xfrm>
          <a:prstGeom prst="rect">
            <a:avLst/>
          </a:prstGeom>
        </p:spPr>
      </p:pic>
      <p:pic>
        <p:nvPicPr>
          <p:cNvPr id="1028" name="Picture 4" descr="Delft University of Technology - Faculty of Architecture and the Built  Environment | GlobalABC">
            <a:extLst>
              <a:ext uri="{FF2B5EF4-FFF2-40B4-BE49-F238E27FC236}">
                <a16:creationId xmlns:a16="http://schemas.microsoft.com/office/drawing/2014/main" id="{61E06ADC-B341-A582-5011-69417B2C6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571" y="5399940"/>
            <a:ext cx="3678867" cy="144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57350"/>
            <a:ext cx="11407806" cy="4734572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IN" dirty="0">
                <a:latin typeface="Comic Sans MS" panose="030F0702030302020204" pitchFamily="66" charset="0"/>
              </a:rPr>
              <a:t>Motivation and Background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902030302020204" pitchFamily="66" charset="0"/>
              </a:rPr>
              <a:t>Synthetic data is widely used for privacy-preserving data sharing.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omic Sans MS" panose="030F09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902030302020204" pitchFamily="66" charset="0"/>
              </a:rPr>
              <a:t>Existing research primarily focuses on recipient privacy attacks (such as membership inference).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omic Sans MS" panose="030F09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  <a:latin typeface="Comic Sans MS" panose="030F0902030302020204" pitchFamily="66" charset="0"/>
              </a:rPr>
              <a:t>Our focus: Internal/upstream attacks – Data owners or generators intentionally degrading the quality of synthesized data</a:t>
            </a:r>
            <a:endParaRPr lang="en-IN" dirty="0">
              <a:solidFill>
                <a:srgbClr val="FF0000"/>
              </a:solidFill>
              <a:latin typeface="Comic Sans MS" panose="030F09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F1002F-4295-1AA6-F9B1-C32FF4202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52575"/>
            <a:ext cx="7089806" cy="48393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2. Threat Models: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902030302020204" pitchFamily="66" charset="0"/>
              </a:rPr>
              <a:t>Attacker Role: Client A (data owner), Provider B (generator provider), or intruder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902030302020204" pitchFamily="66" charset="0"/>
              </a:rPr>
              <a:t>Attacker Capabilities: Manipulation of real data, generation process parameters, or post-processing output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902030302020204" pitchFamily="66" charset="0"/>
              </a:rPr>
              <a:t>Objective: Increase statistical divergence + reduce downstream prediction performance</a:t>
            </a:r>
            <a:endParaRPr lang="en-IN" dirty="0">
              <a:latin typeface="Comic Sans MS" panose="030F09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23F315-B747-9A30-B81B-21FE1F26E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57E694-6C3A-2298-2EDB-0A3D794DA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445" y="1682749"/>
            <a:ext cx="43180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3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04975"/>
            <a:ext cx="11407806" cy="46869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3. Attacks types: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Upstream attacks: </a:t>
            </a:r>
            <a:r>
              <a:rPr lang="en-US" altLang="zh-CN" dirty="0">
                <a:latin typeface="Comic Sans MS" panose="030F0702030302020204" pitchFamily="66" charset="0"/>
              </a:rPr>
              <a:t>1</a:t>
            </a:r>
            <a:r>
              <a:rPr lang="en-GB" altLang="zh-CN" dirty="0">
                <a:latin typeface="Comic Sans MS" panose="030F0702030302020204" pitchFamily="66" charset="0"/>
              </a:rPr>
              <a:t>)</a:t>
            </a:r>
            <a:r>
              <a:rPr lang="en-US" altLang="zh-CN" dirty="0">
                <a:latin typeface="Comic Sans MS" panose="030F0702030302020204" pitchFamily="66" charset="0"/>
              </a:rPr>
              <a:t> </a:t>
            </a:r>
            <a:r>
              <a:rPr lang="en-GB" altLang="zh-CN" dirty="0">
                <a:latin typeface="Comic Sans MS" panose="030F0702030302020204" pitchFamily="66" charset="0"/>
              </a:rPr>
              <a:t>incorrect</a:t>
            </a:r>
            <a:r>
              <a:rPr lang="en-US" altLang="zh-CN" dirty="0">
                <a:latin typeface="Comic Sans MS" panose="030F0702030302020204" pitchFamily="66" charset="0"/>
              </a:rPr>
              <a:t> </a:t>
            </a:r>
            <a:r>
              <a:rPr lang="en-GB" altLang="zh-CN" dirty="0">
                <a:latin typeface="Comic Sans MS" panose="030F0702030302020204" pitchFamily="66" charset="0"/>
              </a:rPr>
              <a:t>or</a:t>
            </a:r>
            <a:r>
              <a:rPr lang="en-US" altLang="zh-CN" dirty="0">
                <a:latin typeface="Comic Sans MS" panose="030F0702030302020204" pitchFamily="66" charset="0"/>
              </a:rPr>
              <a:t> </a:t>
            </a:r>
            <a:r>
              <a:rPr lang="en-GB" altLang="zh-CN" dirty="0">
                <a:latin typeface="Comic Sans MS" panose="030F0702030302020204" pitchFamily="66" charset="0"/>
              </a:rPr>
              <a:t>inappropriate</a:t>
            </a:r>
            <a:r>
              <a:rPr lang="en-US" altLang="zh-CN" dirty="0">
                <a:latin typeface="Comic Sans MS" panose="030F0702030302020204" pitchFamily="66" charset="0"/>
              </a:rPr>
              <a:t> </a:t>
            </a:r>
            <a:r>
              <a:rPr lang="en-GB" altLang="zh-CN" dirty="0">
                <a:latin typeface="Comic Sans MS" panose="030F0702030302020204" pitchFamily="66" charset="0"/>
              </a:rPr>
              <a:t>data</a:t>
            </a:r>
            <a:r>
              <a:rPr lang="en-US" altLang="zh-CN" dirty="0">
                <a:latin typeface="Comic Sans MS" panose="030F0702030302020204" pitchFamily="66" charset="0"/>
              </a:rPr>
              <a:t> </a:t>
            </a:r>
            <a:r>
              <a:rPr lang="en-GB" altLang="zh-CN" dirty="0">
                <a:latin typeface="Comic Sans MS" panose="030F0702030302020204" pitchFamily="66" charset="0"/>
              </a:rPr>
              <a:t>sources</a:t>
            </a:r>
            <a:r>
              <a:rPr lang="en-US" altLang="zh-CN" dirty="0">
                <a:latin typeface="Comic Sans MS" panose="030F0702030302020204" pitchFamily="66" charset="0"/>
              </a:rPr>
              <a:t> </a:t>
            </a:r>
            <a:r>
              <a:rPr lang="en-GB" altLang="zh-CN" dirty="0">
                <a:latin typeface="Comic Sans MS" panose="030F0702030302020204" pitchFamily="66" charset="0"/>
              </a:rPr>
              <a:t>2)</a:t>
            </a:r>
            <a:r>
              <a:rPr lang="en-US" altLang="zh-CN" dirty="0">
                <a:latin typeface="Comic Sans MS" panose="030F0702030302020204" pitchFamily="66" charset="0"/>
              </a:rPr>
              <a:t> </a:t>
            </a:r>
            <a:r>
              <a:rPr lang="en-GB" altLang="zh-CN" dirty="0">
                <a:latin typeface="Comic Sans MS" panose="030F0702030302020204" pitchFamily="66" charset="0"/>
              </a:rPr>
              <a:t>real-data</a:t>
            </a:r>
            <a:r>
              <a:rPr lang="en-US" altLang="zh-CN" dirty="0">
                <a:latin typeface="Comic Sans MS" panose="030F0702030302020204" pitchFamily="66" charset="0"/>
              </a:rPr>
              <a:t> </a:t>
            </a:r>
            <a:r>
              <a:rPr lang="en-GB" altLang="zh-CN" dirty="0">
                <a:latin typeface="Comic Sans MS" panose="030F0702030302020204" pitchFamily="66" charset="0"/>
              </a:rPr>
              <a:t>manipulation</a:t>
            </a:r>
            <a:endParaRPr lang="en-IN" dirty="0">
              <a:latin typeface="Comic Sans MS" panose="030F07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latin typeface="Comic Sans MS" panose="030F07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In-processing attacks: SDG parameter / resource manipulation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latin typeface="Comic Sans MS" panose="030F07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Post-generation attacks: distribution distortion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587A8F-BC09-CEA7-CE5D-2FC1D782E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2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28080"/>
            <a:ext cx="11407806" cy="4763842"/>
          </a:xfrm>
        </p:spPr>
        <p:txBody>
          <a:bodyPr/>
          <a:lstStyle/>
          <a:p>
            <a:pPr algn="l"/>
            <a:r>
              <a:rPr lang="en-IN" dirty="0"/>
              <a:t>4. </a:t>
            </a:r>
            <a:r>
              <a:rPr lang="en-IN" dirty="0">
                <a:latin typeface="Comic Sans MS" panose="030F0702030302020204" pitchFamily="66" charset="0"/>
              </a:rPr>
              <a:t>Experiment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3C2E28-F0A7-157C-D89C-424E2E5EE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FC5E62-D723-52B1-711E-5C993968F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39" y="2243113"/>
            <a:ext cx="5753100" cy="17526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7A5280-89E4-FE2B-033E-F333CE9B9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670501"/>
              </p:ext>
            </p:extLst>
          </p:nvPr>
        </p:nvGraphicFramePr>
        <p:xfrm>
          <a:off x="6311695" y="3887592"/>
          <a:ext cx="5418666" cy="2291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9479527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77630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Utility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Fidelity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76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Train-on-Synthetic, Test-on-Real (TSTR)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Wasserstein Distance (WD)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43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effectLst/>
                        </a:rPr>
                        <a:t>Logistic Regression, Random Forest,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KS statistic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250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Kullback</a:t>
                      </a:r>
                      <a:r>
                        <a:rPr lang="en-GB" dirty="0"/>
                        <a:t>-Leibler Divergence (KLD)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32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26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5. Important results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FB345F-C21C-D97D-6B28-7ADEBEC44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EFE678-4962-8B41-A5C0-AB70C00AB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88" y="2433638"/>
            <a:ext cx="7772400" cy="26801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979A77-4AB2-D5CF-0E1B-3546FD35B4C3}"/>
              </a:ext>
            </a:extLst>
          </p:cNvPr>
          <p:cNvSpPr txBox="1"/>
          <p:nvPr/>
        </p:nvSpPr>
        <p:spPr>
          <a:xfrm>
            <a:off x="1488558" y="5300882"/>
            <a:ext cx="5699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FIA is highly destructive at low ratios; LFA increases linearly with the ratio.</a:t>
            </a:r>
          </a:p>
        </p:txBody>
      </p:sp>
    </p:spTree>
    <p:extLst>
      <p:ext uri="{BB962C8B-B14F-4D97-AF65-F5344CB8AC3E}">
        <p14:creationId xmlns:p14="http://schemas.microsoft.com/office/powerpoint/2010/main" val="242881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5. Important results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9577E0-6E81-74F6-F566-2CDB39127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4847DB-CEED-9E8A-ED47-902ED8213E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39" y="2452688"/>
            <a:ext cx="7772400" cy="26580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21E4F9-DE59-F2F4-603F-3393BF5FACD6}"/>
              </a:ext>
            </a:extLst>
          </p:cNvPr>
          <p:cNvSpPr txBox="1"/>
          <p:nvPr/>
        </p:nvSpPr>
        <p:spPr>
          <a:xfrm>
            <a:off x="1137684" y="5468592"/>
            <a:ext cx="5922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Strongest attacks: Incorrect data source (MLP ↓55.5%), Noise injection (LR ↓41%)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In-processing attacks are relatively weaker.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87264-2D3A-C693-AD6F-090FF1F55674}"/>
              </a:ext>
            </a:extLst>
          </p:cNvPr>
          <p:cNvSpPr txBox="1"/>
          <p:nvPr/>
        </p:nvSpPr>
        <p:spPr>
          <a:xfrm>
            <a:off x="8846288" y="2860158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Overall conclusion: Even minor manipulations can cause significant quality degradation.</a:t>
            </a:r>
          </a:p>
        </p:txBody>
      </p:sp>
    </p:spTree>
    <p:extLst>
      <p:ext uri="{BB962C8B-B14F-4D97-AF65-F5344CB8AC3E}">
        <p14:creationId xmlns:p14="http://schemas.microsoft.com/office/powerpoint/2010/main" val="240353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6. DISCUSSION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902030302020204" pitchFamily="66" charset="0"/>
              </a:rPr>
              <a:t>The SDG pipeline is highly vulnerable to upstream manipulation.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902030302020204" pitchFamily="66" charset="0"/>
              </a:rPr>
              <a:t>Current privacy protection frameworks are insufficient to guarantee data quality and integrity.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omic Sans MS" panose="030F09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omic Sans MS" panose="030F09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D54A6B-B761-0ADD-2C98-B04548CA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6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90D78-5371-ADB7-A7D4-561587C3D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63805A-EC7E-8D6B-5BB5-A737E68C0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7. IMPLICAITONS</a:t>
            </a:r>
          </a:p>
          <a:p>
            <a:pPr algn="l"/>
            <a:endParaRPr lang="en-GB" dirty="0">
              <a:latin typeface="Comic Sans MS" panose="030F09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902030302020204" pitchFamily="66" charset="0"/>
              </a:rPr>
              <a:t>For receivers of synthetic data: Without access to the real dataset, conventional privacy or similarity metrics may fail to detect quality degradation, making assessment misleading.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omic Sans MS" panose="030F09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902030302020204" pitchFamily="66" charset="0"/>
              </a:rPr>
              <a:t>This highlights the urgent need for integrity verification techniques that do not require real data access — such as provenance tracking, auditing SDG configurations, or post-hoc consistency checks.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omic Sans MS" panose="030F09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7C1364-0970-658A-4B69-D63877DB2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626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63E9D-CDEF-53E7-CEF8-044478EA2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D7AE92-3F26-BF39-3A4C-0D4FB1F79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7. IMPLICAITONS</a:t>
            </a:r>
          </a:p>
          <a:p>
            <a:pPr algn="l"/>
            <a:endParaRPr lang="en-GB" dirty="0">
              <a:latin typeface="Comic Sans MS" panose="030F09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902030302020204" pitchFamily="66" charset="0"/>
              </a:rPr>
              <a:t>This work expands the synthetic data security literature beyond its traditional receiver-centric privacy attacks.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omic Sans MS" panose="030F09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902030302020204" pitchFamily="66" charset="0"/>
              </a:rPr>
              <a:t>By introducing upstream and in-processing adversaries, we show that slight manipulations can significantly degrade utility and fidelity, calling for a complementary focus on quality and robustness alongside privacy protection.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EE388-01FE-E585-AFE9-AE878DCD0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391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8. FUTURE DIRECTION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omic Sans MS" panose="030F09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902030302020204" pitchFamily="66" charset="0"/>
              </a:rPr>
              <a:t>Future directions: Add integrity checking mechanisms, Develop techniques for detecting quality degradation attacks.</a:t>
            </a:r>
            <a:endParaRPr lang="en-IN" dirty="0">
              <a:latin typeface="Comic Sans MS" panose="030F09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omic Sans MS" panose="030F09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omic Sans MS" panose="030F09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CE60AB-EED4-2464-9FCB-B8AA12282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71625"/>
            <a:ext cx="11407806" cy="482029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8. CONCLUSION &amp; FUTURE WORK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QUESTIONS?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CONTRACT ME: </a:t>
            </a:r>
            <a:r>
              <a:rPr lang="en-IN" dirty="0" err="1">
                <a:latin typeface="Comic Sans MS" panose="030F0702030302020204" pitchFamily="66" charset="0"/>
              </a:rPr>
              <a:t>Qinyi.liu@uib.no</a:t>
            </a:r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534FC9-C762-E5BE-36C0-223FCA566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F3F347E-0919-77A2-B307-0AA2E824E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27" y="2408053"/>
            <a:ext cx="2041893" cy="2041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8B2645-E2A5-24B3-F5AF-FE3B7117E15A}"/>
              </a:ext>
            </a:extLst>
          </p:cNvPr>
          <p:cNvSpPr txBox="1"/>
          <p:nvPr/>
        </p:nvSpPr>
        <p:spPr>
          <a:xfrm>
            <a:off x="8079397" y="4597237"/>
            <a:ext cx="389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Connect with me!</a:t>
            </a:r>
          </a:p>
        </p:txBody>
      </p:sp>
      <p:pic>
        <p:nvPicPr>
          <p:cNvPr id="7" name="Picture 6" descr="Android Apps by LinkedIn on Google Play">
            <a:extLst>
              <a:ext uri="{FF2B5EF4-FFF2-40B4-BE49-F238E27FC236}">
                <a16:creationId xmlns:a16="http://schemas.microsoft.com/office/drawing/2014/main" id="{CA6999B3-7E26-171E-0E04-C649C08A3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2431" y="3428999"/>
            <a:ext cx="880298" cy="88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792A46-0112-3B95-4E23-8CF3294F44B6}"/>
              </a:ext>
            </a:extLst>
          </p:cNvPr>
          <p:cNvSpPr txBox="1"/>
          <p:nvPr/>
        </p:nvSpPr>
        <p:spPr>
          <a:xfrm>
            <a:off x="4884616" y="4967733"/>
            <a:ext cx="389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Link to the paper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5EA827-4F24-A50C-1E68-EDA6ACDA60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484" y="2274959"/>
            <a:ext cx="2497176" cy="247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27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33550"/>
            <a:ext cx="11407806" cy="4658372"/>
          </a:xfrm>
        </p:spPr>
        <p:txBody>
          <a:bodyPr>
            <a:normAutofit lnSpcReduction="10000"/>
          </a:bodyPr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10. REFERENCES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 err="1"/>
              <a:t>Dankar</a:t>
            </a:r>
            <a:r>
              <a:rPr lang="en-GB" sz="1800" dirty="0"/>
              <a:t>, F.K., Ibrahim, M.K., Ismail, L.: A Multi-Dimensional Evaluation of Synthetic Data Generators. IEEE Access 10, 11147–11158 (2022). </a:t>
            </a:r>
            <a:r>
              <a:rPr lang="en-GB" sz="1800" dirty="0">
                <a:hlinkClick r:id="rId2"/>
              </a:rPr>
              <a:t>https://doi.org/10.1109/access.2022.3144765</a:t>
            </a:r>
            <a:endParaRPr lang="en-GB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 err="1"/>
              <a:t>Papamakarios</a:t>
            </a:r>
            <a:r>
              <a:rPr lang="en-GB" sz="1800" dirty="0"/>
              <a:t>, G., </a:t>
            </a:r>
            <a:r>
              <a:rPr lang="en-GB" sz="1800" dirty="0" err="1"/>
              <a:t>Nalisnick</a:t>
            </a:r>
            <a:r>
              <a:rPr lang="en-GB" sz="1800" dirty="0"/>
              <a:t>, E., Rezende, D.J., Mohamed, S., Lakshminarayanan, B.: Normalizing Flows for Probabilistic </a:t>
            </a:r>
            <a:r>
              <a:rPr lang="en-GB" sz="1800" dirty="0" err="1"/>
              <a:t>Modeling</a:t>
            </a:r>
            <a:r>
              <a:rPr lang="en-GB" sz="1800" dirty="0"/>
              <a:t> and Inference. Journal of Machine Learning Research 22(57), 1–64 (2021).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/>
              <a:t>Hernandez, M., </a:t>
            </a:r>
            <a:r>
              <a:rPr lang="en-GB" sz="1800" dirty="0" err="1"/>
              <a:t>Epelde</a:t>
            </a:r>
            <a:r>
              <a:rPr lang="en-GB" sz="1800" dirty="0"/>
              <a:t>, G., Alberdi, A., Cilla, R., Rankin, D.: Synthetic Tabular Data Evaluation in the Health Domain Covering Resemblance, Utility, and Privacy Dimensions. Methods of Information in Medicine 62(</a:t>
            </a:r>
            <a:r>
              <a:rPr lang="en-GB" sz="1800" dirty="0" err="1"/>
              <a:t>Suppl</a:t>
            </a:r>
            <a:r>
              <a:rPr lang="en-GB" sz="1800" dirty="0"/>
              <a:t> 1), e19–e38 (2023). </a:t>
            </a:r>
            <a:r>
              <a:rPr lang="en-GB" sz="1800" dirty="0">
                <a:hlinkClick r:id="rId3"/>
              </a:rPr>
              <a:t>https://doi.org/10.1055/s-0042-1760247</a:t>
            </a:r>
            <a:endParaRPr lang="en-GB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/>
              <a:t>Giomi, M., Boenisch, F., Wehmeyer, C., Tasnádi, B.: A Unified Framework for Quantifying Privacy Risk in Synthetic Data. Proceedings on Privacy Enhancing Technologies 2023(2), 312–328 (2023). </a:t>
            </a:r>
            <a:r>
              <a:rPr lang="en-GB" sz="1800" dirty="0">
                <a:hlinkClick r:id="rId4"/>
              </a:rPr>
              <a:t>https://doi.org/10.56553/popets-2023-0055</a:t>
            </a:r>
            <a:endParaRPr lang="en-GB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/>
              <a:t>Boudewijn, A., Ferraris, A.F., Panfilo, D., Cocca, V., </a:t>
            </a:r>
            <a:r>
              <a:rPr lang="en-GB" sz="1800" dirty="0" err="1"/>
              <a:t>Zinutti</a:t>
            </a:r>
            <a:r>
              <a:rPr lang="en-GB" sz="1800" dirty="0"/>
              <a:t>, S., Schepper, D., Chauvenet, C.R.: Privacy Measurement in Tabular Synthetic Data: State of the Art and Future Research Directions. </a:t>
            </a:r>
            <a:r>
              <a:rPr lang="en-GB" sz="1800" dirty="0" err="1"/>
              <a:t>arXiv</a:t>
            </a:r>
            <a:r>
              <a:rPr lang="en-GB" sz="1800" dirty="0"/>
              <a:t> preprint (2023). https://</a:t>
            </a:r>
            <a:r>
              <a:rPr lang="en-GB" sz="1800" dirty="0" err="1"/>
              <a:t>arxiv.org</a:t>
            </a:r>
            <a:r>
              <a:rPr lang="en-GB" sz="1800" dirty="0"/>
              <a:t>/abs/2311.17453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26C7B4-AC9C-CFF8-5AEF-FFA29DBB9C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7"/>
            <a:ext cx="12192000" cy="15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9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</TotalTime>
  <Words>696</Words>
  <Application>Microsoft Macintosh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Qinyi Liu</cp:lastModifiedBy>
  <cp:revision>33</cp:revision>
  <dcterms:created xsi:type="dcterms:W3CDTF">2021-02-05T14:09:33Z</dcterms:created>
  <dcterms:modified xsi:type="dcterms:W3CDTF">2026-04-10T13:03:00Z</dcterms:modified>
</cp:coreProperties>
</file>