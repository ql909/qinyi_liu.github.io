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1" r:id="rId1"/>
  </p:sldMasterIdLst>
  <p:notesMasterIdLst>
    <p:notesMasterId r:id="rId48"/>
  </p:notesMasterIdLst>
  <p:sldIdLst>
    <p:sldId id="256" r:id="rId2"/>
    <p:sldId id="257" r:id="rId3"/>
    <p:sldId id="300" r:id="rId4"/>
    <p:sldId id="295" r:id="rId5"/>
    <p:sldId id="258" r:id="rId6"/>
    <p:sldId id="259" r:id="rId7"/>
    <p:sldId id="260" r:id="rId8"/>
    <p:sldId id="294" r:id="rId9"/>
    <p:sldId id="293" r:id="rId10"/>
    <p:sldId id="296" r:id="rId11"/>
    <p:sldId id="263" r:id="rId12"/>
    <p:sldId id="297" r:id="rId13"/>
    <p:sldId id="299" r:id="rId14"/>
    <p:sldId id="298" r:id="rId15"/>
    <p:sldId id="301" r:id="rId16"/>
    <p:sldId id="305" r:id="rId17"/>
    <p:sldId id="302" r:id="rId18"/>
    <p:sldId id="306" r:id="rId19"/>
    <p:sldId id="303" r:id="rId20"/>
    <p:sldId id="304" r:id="rId21"/>
    <p:sldId id="307" r:id="rId22"/>
    <p:sldId id="333" r:id="rId23"/>
    <p:sldId id="308" r:id="rId24"/>
    <p:sldId id="309" r:id="rId25"/>
    <p:sldId id="310" r:id="rId26"/>
    <p:sldId id="311" r:id="rId27"/>
    <p:sldId id="313" r:id="rId28"/>
    <p:sldId id="314" r:id="rId29"/>
    <p:sldId id="316" r:id="rId30"/>
    <p:sldId id="317" r:id="rId31"/>
    <p:sldId id="318" r:id="rId32"/>
    <p:sldId id="319" r:id="rId33"/>
    <p:sldId id="320" r:id="rId34"/>
    <p:sldId id="321" r:id="rId35"/>
    <p:sldId id="322" r:id="rId36"/>
    <p:sldId id="323" r:id="rId37"/>
    <p:sldId id="324" r:id="rId38"/>
    <p:sldId id="326" r:id="rId39"/>
    <p:sldId id="327" r:id="rId40"/>
    <p:sldId id="328" r:id="rId41"/>
    <p:sldId id="332" r:id="rId42"/>
    <p:sldId id="329" r:id="rId43"/>
    <p:sldId id="330" r:id="rId44"/>
    <p:sldId id="331" r:id="rId45"/>
    <p:sldId id="312" r:id="rId46"/>
    <p:sldId id="325"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5"/>
    <p:restoredTop sz="91036"/>
  </p:normalViewPr>
  <p:slideViewPr>
    <p:cSldViewPr snapToGrid="0">
      <p:cViewPr varScale="1">
        <p:scale>
          <a:sx n="95" d="100"/>
          <a:sy n="95" d="100"/>
        </p:scale>
        <p:origin x="135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9.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svg"/><Relationship Id="rId1" Type="http://schemas.openxmlformats.org/officeDocument/2006/relationships/image" Target="../media/image42.svg"/></Relationships>
</file>

<file path=ppt/diagrams/_rels/drawing9.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svg"/><Relationship Id="rId1" Type="http://schemas.openxmlformats.org/officeDocument/2006/relationships/image" Target="../media/image42.svg"/></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1D21C2-0210-C54C-A279-587D07FDA51C}" type="doc">
      <dgm:prSet loTypeId="urn:microsoft.com/office/officeart/2005/8/layout/venn1" loCatId="process" qsTypeId="urn:microsoft.com/office/officeart/2005/8/quickstyle/simple1" qsCatId="simple" csTypeId="urn:microsoft.com/office/officeart/2005/8/colors/accent4_3" csCatId="accent4"/>
      <dgm:spPr/>
      <dgm:t>
        <a:bodyPr/>
        <a:lstStyle/>
        <a:p>
          <a:endParaRPr lang="en-GB"/>
        </a:p>
      </dgm:t>
    </dgm:pt>
    <dgm:pt modelId="{0F00BD80-CDA6-E24A-816A-F6F7AD89A27C}">
      <dgm:prSet/>
      <dgm:spPr/>
      <dgm:t>
        <a:bodyPr/>
        <a:lstStyle/>
        <a:p>
          <a:r>
            <a:rPr lang="en-US"/>
            <a:t>Cost saving</a:t>
          </a:r>
          <a:endParaRPr lang="en-GB"/>
        </a:p>
      </dgm:t>
    </dgm:pt>
    <dgm:pt modelId="{59B7C4F9-8EF5-4D47-AF95-C832532BE244}" type="parTrans" cxnId="{BD985DD5-E9CF-124C-8377-9690B3BA4D90}">
      <dgm:prSet/>
      <dgm:spPr/>
      <dgm:t>
        <a:bodyPr/>
        <a:lstStyle/>
        <a:p>
          <a:endParaRPr lang="en-GB"/>
        </a:p>
      </dgm:t>
    </dgm:pt>
    <dgm:pt modelId="{DCE6B816-6D86-0241-994C-6E55034D46FB}" type="sibTrans" cxnId="{BD985DD5-E9CF-124C-8377-9690B3BA4D90}">
      <dgm:prSet/>
      <dgm:spPr/>
      <dgm:t>
        <a:bodyPr/>
        <a:lstStyle/>
        <a:p>
          <a:endParaRPr lang="en-GB"/>
        </a:p>
      </dgm:t>
    </dgm:pt>
    <dgm:pt modelId="{F0ED5D82-0252-F940-BE35-777688F22C0F}">
      <dgm:prSet/>
      <dgm:spPr/>
      <dgm:t>
        <a:bodyPr/>
        <a:lstStyle/>
        <a:p>
          <a:r>
            <a:rPr lang="en-US" dirty="0"/>
            <a:t>Reduce bias</a:t>
          </a:r>
          <a:endParaRPr lang="en-GB" dirty="0"/>
        </a:p>
      </dgm:t>
    </dgm:pt>
    <dgm:pt modelId="{4F22F177-9921-5B47-BB40-AA22763814EA}" type="parTrans" cxnId="{E1F309F2-3FA7-1A4A-9700-FC39AA9826E3}">
      <dgm:prSet/>
      <dgm:spPr/>
      <dgm:t>
        <a:bodyPr/>
        <a:lstStyle/>
        <a:p>
          <a:endParaRPr lang="en-GB"/>
        </a:p>
      </dgm:t>
    </dgm:pt>
    <dgm:pt modelId="{AA5B96CE-A475-A24C-8184-713586757B3F}" type="sibTrans" cxnId="{E1F309F2-3FA7-1A4A-9700-FC39AA9826E3}">
      <dgm:prSet/>
      <dgm:spPr/>
      <dgm:t>
        <a:bodyPr/>
        <a:lstStyle/>
        <a:p>
          <a:endParaRPr lang="en-GB"/>
        </a:p>
      </dgm:t>
    </dgm:pt>
    <dgm:pt modelId="{C4F263F1-A730-6347-9AF3-99A29C63D559}">
      <dgm:prSet/>
      <dgm:spPr/>
      <dgm:t>
        <a:bodyPr/>
        <a:lstStyle/>
        <a:p>
          <a:r>
            <a:rPr lang="en-US"/>
            <a:t>Privacy protection</a:t>
          </a:r>
          <a:endParaRPr lang="en-GB"/>
        </a:p>
      </dgm:t>
    </dgm:pt>
    <dgm:pt modelId="{E3C6BB23-6695-0446-9FE6-36EB10B5E539}" type="parTrans" cxnId="{1E8450A4-75C2-9F48-B572-5BFA577DBC9D}">
      <dgm:prSet/>
      <dgm:spPr/>
      <dgm:t>
        <a:bodyPr/>
        <a:lstStyle/>
        <a:p>
          <a:endParaRPr lang="en-GB"/>
        </a:p>
      </dgm:t>
    </dgm:pt>
    <dgm:pt modelId="{BAE72D64-BBF1-284C-9214-380783888F70}" type="sibTrans" cxnId="{1E8450A4-75C2-9F48-B572-5BFA577DBC9D}">
      <dgm:prSet/>
      <dgm:spPr/>
      <dgm:t>
        <a:bodyPr/>
        <a:lstStyle/>
        <a:p>
          <a:endParaRPr lang="en-GB"/>
        </a:p>
      </dgm:t>
    </dgm:pt>
    <dgm:pt modelId="{A5B328E4-6A8F-3E48-A3AB-BF0BC6E67103}" type="pres">
      <dgm:prSet presAssocID="{F91D21C2-0210-C54C-A279-587D07FDA51C}" presName="compositeShape" presStyleCnt="0">
        <dgm:presLayoutVars>
          <dgm:chMax val="7"/>
          <dgm:dir/>
          <dgm:resizeHandles val="exact"/>
        </dgm:presLayoutVars>
      </dgm:prSet>
      <dgm:spPr/>
    </dgm:pt>
    <dgm:pt modelId="{C0777D38-6D75-4E43-8700-C6F6E89FBD2C}" type="pres">
      <dgm:prSet presAssocID="{0F00BD80-CDA6-E24A-816A-F6F7AD89A27C}" presName="circ1" presStyleLbl="vennNode1" presStyleIdx="0" presStyleCnt="3"/>
      <dgm:spPr/>
    </dgm:pt>
    <dgm:pt modelId="{C83A5CFF-2070-9341-9CBD-5237F7FA45C4}" type="pres">
      <dgm:prSet presAssocID="{0F00BD80-CDA6-E24A-816A-F6F7AD89A27C}" presName="circ1Tx" presStyleLbl="revTx" presStyleIdx="0" presStyleCnt="0">
        <dgm:presLayoutVars>
          <dgm:chMax val="0"/>
          <dgm:chPref val="0"/>
          <dgm:bulletEnabled val="1"/>
        </dgm:presLayoutVars>
      </dgm:prSet>
      <dgm:spPr/>
    </dgm:pt>
    <dgm:pt modelId="{E4D56AF0-A260-CD41-A5EA-6539EB7216A0}" type="pres">
      <dgm:prSet presAssocID="{F0ED5D82-0252-F940-BE35-777688F22C0F}" presName="circ2" presStyleLbl="vennNode1" presStyleIdx="1" presStyleCnt="3"/>
      <dgm:spPr/>
    </dgm:pt>
    <dgm:pt modelId="{A07FE93F-D736-BC45-BBB4-5D8C2B23B3AC}" type="pres">
      <dgm:prSet presAssocID="{F0ED5D82-0252-F940-BE35-777688F22C0F}" presName="circ2Tx" presStyleLbl="revTx" presStyleIdx="0" presStyleCnt="0">
        <dgm:presLayoutVars>
          <dgm:chMax val="0"/>
          <dgm:chPref val="0"/>
          <dgm:bulletEnabled val="1"/>
        </dgm:presLayoutVars>
      </dgm:prSet>
      <dgm:spPr/>
    </dgm:pt>
    <dgm:pt modelId="{7F93AD8F-6E2B-8442-A042-2730F7B4104D}" type="pres">
      <dgm:prSet presAssocID="{C4F263F1-A730-6347-9AF3-99A29C63D559}" presName="circ3" presStyleLbl="vennNode1" presStyleIdx="2" presStyleCnt="3"/>
      <dgm:spPr/>
    </dgm:pt>
    <dgm:pt modelId="{3FAA3048-A629-9D40-B86F-B1FCB421C58E}" type="pres">
      <dgm:prSet presAssocID="{C4F263F1-A730-6347-9AF3-99A29C63D559}" presName="circ3Tx" presStyleLbl="revTx" presStyleIdx="0" presStyleCnt="0">
        <dgm:presLayoutVars>
          <dgm:chMax val="0"/>
          <dgm:chPref val="0"/>
          <dgm:bulletEnabled val="1"/>
        </dgm:presLayoutVars>
      </dgm:prSet>
      <dgm:spPr/>
    </dgm:pt>
  </dgm:ptLst>
  <dgm:cxnLst>
    <dgm:cxn modelId="{4C97CB17-D688-B84B-B72F-DAF7E39BDCE6}" type="presOf" srcId="{C4F263F1-A730-6347-9AF3-99A29C63D559}" destId="{3FAA3048-A629-9D40-B86F-B1FCB421C58E}" srcOrd="1" destOrd="0" presId="urn:microsoft.com/office/officeart/2005/8/layout/venn1"/>
    <dgm:cxn modelId="{4628A558-A562-EE41-AF39-C2F9FCF853A5}" type="presOf" srcId="{F0ED5D82-0252-F940-BE35-777688F22C0F}" destId="{A07FE93F-D736-BC45-BBB4-5D8C2B23B3AC}" srcOrd="1" destOrd="0" presId="urn:microsoft.com/office/officeart/2005/8/layout/venn1"/>
    <dgm:cxn modelId="{39BA8678-16D6-024E-B643-888D14C5A6FF}" type="presOf" srcId="{F91D21C2-0210-C54C-A279-587D07FDA51C}" destId="{A5B328E4-6A8F-3E48-A3AB-BF0BC6E67103}" srcOrd="0" destOrd="0" presId="urn:microsoft.com/office/officeart/2005/8/layout/venn1"/>
    <dgm:cxn modelId="{453D5D8D-EB71-C944-8ECB-45C3224B7920}" type="presOf" srcId="{0F00BD80-CDA6-E24A-816A-F6F7AD89A27C}" destId="{C0777D38-6D75-4E43-8700-C6F6E89FBD2C}" srcOrd="0" destOrd="0" presId="urn:microsoft.com/office/officeart/2005/8/layout/venn1"/>
    <dgm:cxn modelId="{1E8450A4-75C2-9F48-B572-5BFA577DBC9D}" srcId="{F91D21C2-0210-C54C-A279-587D07FDA51C}" destId="{C4F263F1-A730-6347-9AF3-99A29C63D559}" srcOrd="2" destOrd="0" parTransId="{E3C6BB23-6695-0446-9FE6-36EB10B5E539}" sibTransId="{BAE72D64-BBF1-284C-9214-380783888F70}"/>
    <dgm:cxn modelId="{71FD81C4-AAE6-2946-A118-F4E11D1F8729}" type="presOf" srcId="{0F00BD80-CDA6-E24A-816A-F6F7AD89A27C}" destId="{C83A5CFF-2070-9341-9CBD-5237F7FA45C4}" srcOrd="1" destOrd="0" presId="urn:microsoft.com/office/officeart/2005/8/layout/venn1"/>
    <dgm:cxn modelId="{ECADF3C6-4ACC-5144-9620-7B8D13187DC0}" type="presOf" srcId="{F0ED5D82-0252-F940-BE35-777688F22C0F}" destId="{E4D56AF0-A260-CD41-A5EA-6539EB7216A0}" srcOrd="0" destOrd="0" presId="urn:microsoft.com/office/officeart/2005/8/layout/venn1"/>
    <dgm:cxn modelId="{BD985DD5-E9CF-124C-8377-9690B3BA4D90}" srcId="{F91D21C2-0210-C54C-A279-587D07FDA51C}" destId="{0F00BD80-CDA6-E24A-816A-F6F7AD89A27C}" srcOrd="0" destOrd="0" parTransId="{59B7C4F9-8EF5-4D47-AF95-C832532BE244}" sibTransId="{DCE6B816-6D86-0241-994C-6E55034D46FB}"/>
    <dgm:cxn modelId="{A369B1E3-8FDA-A845-852E-9471FE60AFCC}" type="presOf" srcId="{C4F263F1-A730-6347-9AF3-99A29C63D559}" destId="{7F93AD8F-6E2B-8442-A042-2730F7B4104D}" srcOrd="0" destOrd="0" presId="urn:microsoft.com/office/officeart/2005/8/layout/venn1"/>
    <dgm:cxn modelId="{E1F309F2-3FA7-1A4A-9700-FC39AA9826E3}" srcId="{F91D21C2-0210-C54C-A279-587D07FDA51C}" destId="{F0ED5D82-0252-F940-BE35-777688F22C0F}" srcOrd="1" destOrd="0" parTransId="{4F22F177-9921-5B47-BB40-AA22763814EA}" sibTransId="{AA5B96CE-A475-A24C-8184-713586757B3F}"/>
    <dgm:cxn modelId="{04C9DE97-F414-2E4C-BD13-6DE2C0E1E10F}" type="presParOf" srcId="{A5B328E4-6A8F-3E48-A3AB-BF0BC6E67103}" destId="{C0777D38-6D75-4E43-8700-C6F6E89FBD2C}" srcOrd="0" destOrd="0" presId="urn:microsoft.com/office/officeart/2005/8/layout/venn1"/>
    <dgm:cxn modelId="{1BE00E98-2191-AD41-BD63-3FD8D261C5F7}" type="presParOf" srcId="{A5B328E4-6A8F-3E48-A3AB-BF0BC6E67103}" destId="{C83A5CFF-2070-9341-9CBD-5237F7FA45C4}" srcOrd="1" destOrd="0" presId="urn:microsoft.com/office/officeart/2005/8/layout/venn1"/>
    <dgm:cxn modelId="{F1622F63-EE77-5D4E-9633-460C69BC12F8}" type="presParOf" srcId="{A5B328E4-6A8F-3E48-A3AB-BF0BC6E67103}" destId="{E4D56AF0-A260-CD41-A5EA-6539EB7216A0}" srcOrd="2" destOrd="0" presId="urn:microsoft.com/office/officeart/2005/8/layout/venn1"/>
    <dgm:cxn modelId="{C5BA7676-B471-D943-8761-067BC3E1606B}" type="presParOf" srcId="{A5B328E4-6A8F-3E48-A3AB-BF0BC6E67103}" destId="{A07FE93F-D736-BC45-BBB4-5D8C2B23B3AC}" srcOrd="3" destOrd="0" presId="urn:microsoft.com/office/officeart/2005/8/layout/venn1"/>
    <dgm:cxn modelId="{501BC308-83C4-F74E-A0B6-B39695E62BBA}" type="presParOf" srcId="{A5B328E4-6A8F-3E48-A3AB-BF0BC6E67103}" destId="{7F93AD8F-6E2B-8442-A042-2730F7B4104D}" srcOrd="4" destOrd="0" presId="urn:microsoft.com/office/officeart/2005/8/layout/venn1"/>
    <dgm:cxn modelId="{A72C73D5-B31E-F544-85A6-1D0919C68644}" type="presParOf" srcId="{A5B328E4-6A8F-3E48-A3AB-BF0BC6E67103}" destId="{3FAA3048-A629-9D40-B86F-B1FCB421C58E}" srcOrd="5"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3516162-33EF-4B51-8DB7-0C438962E17C}"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814F0959-618F-41BD-95F4-DD1451F4C29F}">
      <dgm:prSet/>
      <dgm:spPr/>
      <dgm:t>
        <a:bodyPr/>
        <a:lstStyle/>
        <a:p>
          <a:r>
            <a:rPr lang="en-US" dirty="0"/>
            <a:t>Representative algorithms: Gaussian Copulas, Bayesian Networks, Conditional Independent Models.</a:t>
          </a:r>
        </a:p>
      </dgm:t>
    </dgm:pt>
    <dgm:pt modelId="{7C8F4A6F-ED16-4B7C-8271-F5A1B4059236}" type="parTrans" cxnId="{4909096B-7A6A-42B4-8BDB-0D81272B2D3A}">
      <dgm:prSet/>
      <dgm:spPr/>
      <dgm:t>
        <a:bodyPr/>
        <a:lstStyle/>
        <a:p>
          <a:endParaRPr lang="en-US"/>
        </a:p>
      </dgm:t>
    </dgm:pt>
    <dgm:pt modelId="{CF691C00-117C-42F9-B990-44B9C4856DCC}" type="sibTrans" cxnId="{4909096B-7A6A-42B4-8BDB-0D81272B2D3A}">
      <dgm:prSet/>
      <dgm:spPr/>
      <dgm:t>
        <a:bodyPr/>
        <a:lstStyle/>
        <a:p>
          <a:endParaRPr lang="en-US"/>
        </a:p>
      </dgm:t>
    </dgm:pt>
    <dgm:pt modelId="{1EA709AD-D26D-4958-9933-062B8B7B546E}">
      <dgm:prSet/>
      <dgm:spPr/>
      <dgm:t>
        <a:bodyPr/>
        <a:lstStyle/>
        <a:p>
          <a:r>
            <a:rPr lang="en-US" dirty="0"/>
            <a:t>Working principle: Fits the marginal distribution and covariance matrix of the original data, then randomly samples from them.</a:t>
          </a:r>
        </a:p>
      </dgm:t>
    </dgm:pt>
    <dgm:pt modelId="{97FEED30-7AD9-4C62-AB22-A372421E5D76}" type="parTrans" cxnId="{F7C76927-8045-4A64-82FE-74795F53C1B9}">
      <dgm:prSet/>
      <dgm:spPr/>
      <dgm:t>
        <a:bodyPr/>
        <a:lstStyle/>
        <a:p>
          <a:endParaRPr lang="en-US"/>
        </a:p>
      </dgm:t>
    </dgm:pt>
    <dgm:pt modelId="{41407DF3-8051-4346-BCA5-57F3B08ECCDE}" type="sibTrans" cxnId="{F7C76927-8045-4A64-82FE-74795F53C1B9}">
      <dgm:prSet/>
      <dgm:spPr/>
      <dgm:t>
        <a:bodyPr/>
        <a:lstStyle/>
        <a:p>
          <a:endParaRPr lang="en-US"/>
        </a:p>
      </dgm:t>
    </dgm:pt>
    <dgm:pt modelId="{7808F9A7-8492-4179-8AA2-40F40AEBA35F}">
      <dgm:prSet/>
      <dgm:spPr/>
      <dgm:t>
        <a:bodyPr/>
        <a:lstStyle/>
        <a:p>
          <a:r>
            <a:rPr lang="en-US" dirty="0"/>
            <a:t>Applicable scenarios: tabular data.</a:t>
          </a:r>
        </a:p>
      </dgm:t>
    </dgm:pt>
    <dgm:pt modelId="{25627267-CAE4-4C7D-A13A-0DEC59BCCC76}" type="parTrans" cxnId="{46ABDC83-F680-4E1C-930F-72BD19FCDE22}">
      <dgm:prSet/>
      <dgm:spPr/>
      <dgm:t>
        <a:bodyPr/>
        <a:lstStyle/>
        <a:p>
          <a:endParaRPr lang="en-US"/>
        </a:p>
      </dgm:t>
    </dgm:pt>
    <dgm:pt modelId="{A2A359E4-8DEF-4A2D-98E2-36D329E6EA41}" type="sibTrans" cxnId="{46ABDC83-F680-4E1C-930F-72BD19FCDE22}">
      <dgm:prSet/>
      <dgm:spPr/>
      <dgm:t>
        <a:bodyPr/>
        <a:lstStyle/>
        <a:p>
          <a:endParaRPr lang="en-US"/>
        </a:p>
      </dgm:t>
    </dgm:pt>
    <dgm:pt modelId="{855D4DDE-9E11-4799-94B9-197DD45323C1}">
      <dgm:prSet/>
      <dgm:spPr/>
      <dgm:t>
        <a:bodyPr/>
        <a:lstStyle/>
        <a:p>
          <a:r>
            <a:rPr lang="en-US" dirty="0"/>
            <a:t>Advantages and disadvantages: Extremely high interpretability, extremely fast computation, and easy to prove with differential privacy; however, it cannot capture extremely complex nonlinear relationships or unstructured data.</a:t>
          </a:r>
        </a:p>
      </dgm:t>
    </dgm:pt>
    <dgm:pt modelId="{15175E8E-A88D-4681-A46A-96CAA2A8DB8B}" type="parTrans" cxnId="{B452D633-F714-4198-B3BA-0EFF8A9FB980}">
      <dgm:prSet/>
      <dgm:spPr/>
      <dgm:t>
        <a:bodyPr/>
        <a:lstStyle/>
        <a:p>
          <a:endParaRPr lang="en-US"/>
        </a:p>
      </dgm:t>
    </dgm:pt>
    <dgm:pt modelId="{D26BF860-FC25-4FFE-AFB3-1A82B5E3EC63}" type="sibTrans" cxnId="{B452D633-F714-4198-B3BA-0EFF8A9FB980}">
      <dgm:prSet/>
      <dgm:spPr/>
      <dgm:t>
        <a:bodyPr/>
        <a:lstStyle/>
        <a:p>
          <a:endParaRPr lang="en-US"/>
        </a:p>
      </dgm:t>
    </dgm:pt>
    <dgm:pt modelId="{1B8D13FD-A709-B549-844C-53675EE7C2E0}" type="pres">
      <dgm:prSet presAssocID="{33516162-33EF-4B51-8DB7-0C438962E17C}" presName="vert0" presStyleCnt="0">
        <dgm:presLayoutVars>
          <dgm:dir/>
          <dgm:animOne val="branch"/>
          <dgm:animLvl val="lvl"/>
        </dgm:presLayoutVars>
      </dgm:prSet>
      <dgm:spPr/>
    </dgm:pt>
    <dgm:pt modelId="{AC3C78F0-5D04-DC44-99E0-EB7CC476BFEF}" type="pres">
      <dgm:prSet presAssocID="{814F0959-618F-41BD-95F4-DD1451F4C29F}" presName="thickLine" presStyleLbl="alignNode1" presStyleIdx="0" presStyleCnt="4"/>
      <dgm:spPr/>
    </dgm:pt>
    <dgm:pt modelId="{ADF67812-07DD-E249-A62B-A3773A70B212}" type="pres">
      <dgm:prSet presAssocID="{814F0959-618F-41BD-95F4-DD1451F4C29F}" presName="horz1" presStyleCnt="0"/>
      <dgm:spPr/>
    </dgm:pt>
    <dgm:pt modelId="{4491BE94-93A8-8842-9CE8-EBF3A4359299}" type="pres">
      <dgm:prSet presAssocID="{814F0959-618F-41BD-95F4-DD1451F4C29F}" presName="tx1" presStyleLbl="revTx" presStyleIdx="0" presStyleCnt="4"/>
      <dgm:spPr/>
    </dgm:pt>
    <dgm:pt modelId="{066D7E46-903B-834A-BE32-FF5507D9CA6F}" type="pres">
      <dgm:prSet presAssocID="{814F0959-618F-41BD-95F4-DD1451F4C29F}" presName="vert1" presStyleCnt="0"/>
      <dgm:spPr/>
    </dgm:pt>
    <dgm:pt modelId="{773D49FE-77C6-7344-AF84-47A1AF7F2127}" type="pres">
      <dgm:prSet presAssocID="{1EA709AD-D26D-4958-9933-062B8B7B546E}" presName="thickLine" presStyleLbl="alignNode1" presStyleIdx="1" presStyleCnt="4"/>
      <dgm:spPr/>
    </dgm:pt>
    <dgm:pt modelId="{E9A50D84-660D-6347-A347-E2148AC60ECE}" type="pres">
      <dgm:prSet presAssocID="{1EA709AD-D26D-4958-9933-062B8B7B546E}" presName="horz1" presStyleCnt="0"/>
      <dgm:spPr/>
    </dgm:pt>
    <dgm:pt modelId="{E591B328-4D49-4348-A6B2-828CF32E1D10}" type="pres">
      <dgm:prSet presAssocID="{1EA709AD-D26D-4958-9933-062B8B7B546E}" presName="tx1" presStyleLbl="revTx" presStyleIdx="1" presStyleCnt="4"/>
      <dgm:spPr/>
    </dgm:pt>
    <dgm:pt modelId="{FBDB8258-9FBF-F642-8835-922768AE3094}" type="pres">
      <dgm:prSet presAssocID="{1EA709AD-D26D-4958-9933-062B8B7B546E}" presName="vert1" presStyleCnt="0"/>
      <dgm:spPr/>
    </dgm:pt>
    <dgm:pt modelId="{13823A1C-3FC0-9648-82F1-E6DCA908024E}" type="pres">
      <dgm:prSet presAssocID="{7808F9A7-8492-4179-8AA2-40F40AEBA35F}" presName="thickLine" presStyleLbl="alignNode1" presStyleIdx="2" presStyleCnt="4"/>
      <dgm:spPr/>
    </dgm:pt>
    <dgm:pt modelId="{D0F1AA7D-B6F7-9149-A1B1-0E14DF7FC662}" type="pres">
      <dgm:prSet presAssocID="{7808F9A7-8492-4179-8AA2-40F40AEBA35F}" presName="horz1" presStyleCnt="0"/>
      <dgm:spPr/>
    </dgm:pt>
    <dgm:pt modelId="{1374DD2F-D574-254B-8A19-D06EBDFF7C8E}" type="pres">
      <dgm:prSet presAssocID="{7808F9A7-8492-4179-8AA2-40F40AEBA35F}" presName="tx1" presStyleLbl="revTx" presStyleIdx="2" presStyleCnt="4"/>
      <dgm:spPr/>
    </dgm:pt>
    <dgm:pt modelId="{AF641E43-31DA-7340-BB0F-328F59B7EF91}" type="pres">
      <dgm:prSet presAssocID="{7808F9A7-8492-4179-8AA2-40F40AEBA35F}" presName="vert1" presStyleCnt="0"/>
      <dgm:spPr/>
    </dgm:pt>
    <dgm:pt modelId="{7748EB9C-2FF7-564C-88E4-1F24BC09ADB1}" type="pres">
      <dgm:prSet presAssocID="{855D4DDE-9E11-4799-94B9-197DD45323C1}" presName="thickLine" presStyleLbl="alignNode1" presStyleIdx="3" presStyleCnt="4"/>
      <dgm:spPr/>
    </dgm:pt>
    <dgm:pt modelId="{5D2C4B77-0C84-2B41-A5BE-C0F038FCC2BA}" type="pres">
      <dgm:prSet presAssocID="{855D4DDE-9E11-4799-94B9-197DD45323C1}" presName="horz1" presStyleCnt="0"/>
      <dgm:spPr/>
    </dgm:pt>
    <dgm:pt modelId="{2C5954E4-37E3-F94F-8F33-86B11D1C0731}" type="pres">
      <dgm:prSet presAssocID="{855D4DDE-9E11-4799-94B9-197DD45323C1}" presName="tx1" presStyleLbl="revTx" presStyleIdx="3" presStyleCnt="4"/>
      <dgm:spPr/>
    </dgm:pt>
    <dgm:pt modelId="{DA6A2FCE-4C86-7C46-82CD-2E9277CB3274}" type="pres">
      <dgm:prSet presAssocID="{855D4DDE-9E11-4799-94B9-197DD45323C1}" presName="vert1" presStyleCnt="0"/>
      <dgm:spPr/>
    </dgm:pt>
  </dgm:ptLst>
  <dgm:cxnLst>
    <dgm:cxn modelId="{F7C76927-8045-4A64-82FE-74795F53C1B9}" srcId="{33516162-33EF-4B51-8DB7-0C438962E17C}" destId="{1EA709AD-D26D-4958-9933-062B8B7B546E}" srcOrd="1" destOrd="0" parTransId="{97FEED30-7AD9-4C62-AB22-A372421E5D76}" sibTransId="{41407DF3-8051-4346-BCA5-57F3B08ECCDE}"/>
    <dgm:cxn modelId="{B452D633-F714-4198-B3BA-0EFF8A9FB980}" srcId="{33516162-33EF-4B51-8DB7-0C438962E17C}" destId="{855D4DDE-9E11-4799-94B9-197DD45323C1}" srcOrd="3" destOrd="0" parTransId="{15175E8E-A88D-4681-A46A-96CAA2A8DB8B}" sibTransId="{D26BF860-FC25-4FFE-AFB3-1A82B5E3EC63}"/>
    <dgm:cxn modelId="{6B80F468-9242-4447-8648-5D00033194F4}" type="presOf" srcId="{814F0959-618F-41BD-95F4-DD1451F4C29F}" destId="{4491BE94-93A8-8842-9CE8-EBF3A4359299}" srcOrd="0" destOrd="0" presId="urn:microsoft.com/office/officeart/2008/layout/LinedList"/>
    <dgm:cxn modelId="{4909096B-7A6A-42B4-8BDB-0D81272B2D3A}" srcId="{33516162-33EF-4B51-8DB7-0C438962E17C}" destId="{814F0959-618F-41BD-95F4-DD1451F4C29F}" srcOrd="0" destOrd="0" parTransId="{7C8F4A6F-ED16-4B7C-8271-F5A1B4059236}" sibTransId="{CF691C00-117C-42F9-B990-44B9C4856DCC}"/>
    <dgm:cxn modelId="{46ABDC83-F680-4E1C-930F-72BD19FCDE22}" srcId="{33516162-33EF-4B51-8DB7-0C438962E17C}" destId="{7808F9A7-8492-4179-8AA2-40F40AEBA35F}" srcOrd="2" destOrd="0" parTransId="{25627267-CAE4-4C7D-A13A-0DEC59BCCC76}" sibTransId="{A2A359E4-8DEF-4A2D-98E2-36D329E6EA41}"/>
    <dgm:cxn modelId="{0711A697-9FDC-1140-96BC-AEE8C19F69F1}" type="presOf" srcId="{33516162-33EF-4B51-8DB7-0C438962E17C}" destId="{1B8D13FD-A709-B549-844C-53675EE7C2E0}" srcOrd="0" destOrd="0" presId="urn:microsoft.com/office/officeart/2008/layout/LinedList"/>
    <dgm:cxn modelId="{485B8C9B-4E52-F040-AB58-DED96E84D4A0}" type="presOf" srcId="{855D4DDE-9E11-4799-94B9-197DD45323C1}" destId="{2C5954E4-37E3-F94F-8F33-86B11D1C0731}" srcOrd="0" destOrd="0" presId="urn:microsoft.com/office/officeart/2008/layout/LinedList"/>
    <dgm:cxn modelId="{C026A0B7-B0D1-F448-97EE-D554EA372FC1}" type="presOf" srcId="{7808F9A7-8492-4179-8AA2-40F40AEBA35F}" destId="{1374DD2F-D574-254B-8A19-D06EBDFF7C8E}" srcOrd="0" destOrd="0" presId="urn:microsoft.com/office/officeart/2008/layout/LinedList"/>
    <dgm:cxn modelId="{EA7086BB-CB3C-E44A-BC9F-1979DE23BAC8}" type="presOf" srcId="{1EA709AD-D26D-4958-9933-062B8B7B546E}" destId="{E591B328-4D49-4348-A6B2-828CF32E1D10}" srcOrd="0" destOrd="0" presId="urn:microsoft.com/office/officeart/2008/layout/LinedList"/>
    <dgm:cxn modelId="{BEBAFF36-1FB8-7A4B-975C-7F5D183248B0}" type="presParOf" srcId="{1B8D13FD-A709-B549-844C-53675EE7C2E0}" destId="{AC3C78F0-5D04-DC44-99E0-EB7CC476BFEF}" srcOrd="0" destOrd="0" presId="urn:microsoft.com/office/officeart/2008/layout/LinedList"/>
    <dgm:cxn modelId="{B1EEE272-6B3C-2B49-B413-C5AA38EBF8A6}" type="presParOf" srcId="{1B8D13FD-A709-B549-844C-53675EE7C2E0}" destId="{ADF67812-07DD-E249-A62B-A3773A70B212}" srcOrd="1" destOrd="0" presId="urn:microsoft.com/office/officeart/2008/layout/LinedList"/>
    <dgm:cxn modelId="{F3CF53F9-2909-544D-85AC-E99D83ED4BEA}" type="presParOf" srcId="{ADF67812-07DD-E249-A62B-A3773A70B212}" destId="{4491BE94-93A8-8842-9CE8-EBF3A4359299}" srcOrd="0" destOrd="0" presId="urn:microsoft.com/office/officeart/2008/layout/LinedList"/>
    <dgm:cxn modelId="{ECFD21E4-ACAA-9F4B-8F20-5D2CA00076E0}" type="presParOf" srcId="{ADF67812-07DD-E249-A62B-A3773A70B212}" destId="{066D7E46-903B-834A-BE32-FF5507D9CA6F}" srcOrd="1" destOrd="0" presId="urn:microsoft.com/office/officeart/2008/layout/LinedList"/>
    <dgm:cxn modelId="{3E2CDFF3-D3FD-7240-9032-3850C6B6F132}" type="presParOf" srcId="{1B8D13FD-A709-B549-844C-53675EE7C2E0}" destId="{773D49FE-77C6-7344-AF84-47A1AF7F2127}" srcOrd="2" destOrd="0" presId="urn:microsoft.com/office/officeart/2008/layout/LinedList"/>
    <dgm:cxn modelId="{DECE94DC-A397-494D-82F8-EF9F2A7A0A2F}" type="presParOf" srcId="{1B8D13FD-A709-B549-844C-53675EE7C2E0}" destId="{E9A50D84-660D-6347-A347-E2148AC60ECE}" srcOrd="3" destOrd="0" presId="urn:microsoft.com/office/officeart/2008/layout/LinedList"/>
    <dgm:cxn modelId="{AA1B2155-6EEC-DC42-BABA-D1FE8B208747}" type="presParOf" srcId="{E9A50D84-660D-6347-A347-E2148AC60ECE}" destId="{E591B328-4D49-4348-A6B2-828CF32E1D10}" srcOrd="0" destOrd="0" presId="urn:microsoft.com/office/officeart/2008/layout/LinedList"/>
    <dgm:cxn modelId="{7AB87985-10FB-E444-A66E-BB8AABB4897E}" type="presParOf" srcId="{E9A50D84-660D-6347-A347-E2148AC60ECE}" destId="{FBDB8258-9FBF-F642-8835-922768AE3094}" srcOrd="1" destOrd="0" presId="urn:microsoft.com/office/officeart/2008/layout/LinedList"/>
    <dgm:cxn modelId="{FD8881D0-160E-FC49-9C27-B1D418B28BE3}" type="presParOf" srcId="{1B8D13FD-A709-B549-844C-53675EE7C2E0}" destId="{13823A1C-3FC0-9648-82F1-E6DCA908024E}" srcOrd="4" destOrd="0" presId="urn:microsoft.com/office/officeart/2008/layout/LinedList"/>
    <dgm:cxn modelId="{97C3C765-AB35-7E4C-8696-89F73F3D6A04}" type="presParOf" srcId="{1B8D13FD-A709-B549-844C-53675EE7C2E0}" destId="{D0F1AA7D-B6F7-9149-A1B1-0E14DF7FC662}" srcOrd="5" destOrd="0" presId="urn:microsoft.com/office/officeart/2008/layout/LinedList"/>
    <dgm:cxn modelId="{05823416-A874-A44E-9C3B-F77CC3381510}" type="presParOf" srcId="{D0F1AA7D-B6F7-9149-A1B1-0E14DF7FC662}" destId="{1374DD2F-D574-254B-8A19-D06EBDFF7C8E}" srcOrd="0" destOrd="0" presId="urn:microsoft.com/office/officeart/2008/layout/LinedList"/>
    <dgm:cxn modelId="{61E8BE18-C0C3-EA44-B4DE-A062A4EE4304}" type="presParOf" srcId="{D0F1AA7D-B6F7-9149-A1B1-0E14DF7FC662}" destId="{AF641E43-31DA-7340-BB0F-328F59B7EF91}" srcOrd="1" destOrd="0" presId="urn:microsoft.com/office/officeart/2008/layout/LinedList"/>
    <dgm:cxn modelId="{677392BA-7D12-5044-8B6B-31F87B54D59F}" type="presParOf" srcId="{1B8D13FD-A709-B549-844C-53675EE7C2E0}" destId="{7748EB9C-2FF7-564C-88E4-1F24BC09ADB1}" srcOrd="6" destOrd="0" presId="urn:microsoft.com/office/officeart/2008/layout/LinedList"/>
    <dgm:cxn modelId="{D42F3216-F4AE-A04F-B9C8-12DF03D7AA17}" type="presParOf" srcId="{1B8D13FD-A709-B549-844C-53675EE7C2E0}" destId="{5D2C4B77-0C84-2B41-A5BE-C0F038FCC2BA}" srcOrd="7" destOrd="0" presId="urn:microsoft.com/office/officeart/2008/layout/LinedList"/>
    <dgm:cxn modelId="{98A8EA5D-DCB1-C248-B304-5DE1E446586F}" type="presParOf" srcId="{5D2C4B77-0C84-2B41-A5BE-C0F038FCC2BA}" destId="{2C5954E4-37E3-F94F-8F33-86B11D1C0731}" srcOrd="0" destOrd="0" presId="urn:microsoft.com/office/officeart/2008/layout/LinedList"/>
    <dgm:cxn modelId="{11E98D21-4304-8246-B3B8-47E7E10EA19A}" type="presParOf" srcId="{5D2C4B77-0C84-2B41-A5BE-C0F038FCC2BA}" destId="{DA6A2FCE-4C86-7C46-82CD-2E9277CB327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3746C49-B916-433E-B286-3D91BDA03087}"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7358335B-D687-42BC-90B5-C9F1A567FD95}">
      <dgm:prSet/>
      <dgm:spPr/>
      <dgm:t>
        <a:bodyPr/>
        <a:lstStyle/>
        <a:p>
          <a:r>
            <a:rPr lang="en-US"/>
            <a:t>Representative Algorithms:</a:t>
          </a:r>
        </a:p>
      </dgm:t>
    </dgm:pt>
    <dgm:pt modelId="{B35F39E0-7C96-424B-8250-542C04993C1E}" type="parTrans" cxnId="{379DE9A9-588B-476A-BE31-95CABCE8DEBC}">
      <dgm:prSet/>
      <dgm:spPr/>
      <dgm:t>
        <a:bodyPr/>
        <a:lstStyle/>
        <a:p>
          <a:endParaRPr lang="en-US"/>
        </a:p>
      </dgm:t>
    </dgm:pt>
    <dgm:pt modelId="{7EAE4900-874E-48CF-BB9B-E0CAB41A98A2}" type="sibTrans" cxnId="{379DE9A9-588B-476A-BE31-95CABCE8DEBC}">
      <dgm:prSet/>
      <dgm:spPr/>
      <dgm:t>
        <a:bodyPr/>
        <a:lstStyle/>
        <a:p>
          <a:endParaRPr lang="en-US"/>
        </a:p>
      </dgm:t>
    </dgm:pt>
    <dgm:pt modelId="{8E41AEBC-0361-412B-82E2-E9ED7BAA0351}">
      <dgm:prSet/>
      <dgm:spPr/>
      <dgm:t>
        <a:bodyPr/>
        <a:lstStyle/>
        <a:p>
          <a:r>
            <a:rPr lang="en-US"/>
            <a:t>GANs (Generative Adversarial Networks): such as CTGAN (for tables), TimeGAN (for time series), StyleGAN (for images).</a:t>
          </a:r>
        </a:p>
      </dgm:t>
    </dgm:pt>
    <dgm:pt modelId="{AC51948C-C588-47E0-9FDB-8773061DAB90}" type="parTrans" cxnId="{33A75162-B818-4EF3-82D1-FA1489B98B73}">
      <dgm:prSet/>
      <dgm:spPr/>
      <dgm:t>
        <a:bodyPr/>
        <a:lstStyle/>
        <a:p>
          <a:endParaRPr lang="en-US"/>
        </a:p>
      </dgm:t>
    </dgm:pt>
    <dgm:pt modelId="{B6927996-A962-4DCA-BBEB-6FA1D6DDA349}" type="sibTrans" cxnId="{33A75162-B818-4EF3-82D1-FA1489B98B73}">
      <dgm:prSet/>
      <dgm:spPr/>
      <dgm:t>
        <a:bodyPr/>
        <a:lstStyle/>
        <a:p>
          <a:endParaRPr lang="en-US"/>
        </a:p>
      </dgm:t>
    </dgm:pt>
    <dgm:pt modelId="{4E5B37D2-9980-4654-AA10-46A944426A2B}">
      <dgm:prSet/>
      <dgm:spPr/>
      <dgm:t>
        <a:bodyPr/>
        <a:lstStyle/>
        <a:p>
          <a:r>
            <a:rPr lang="en-US"/>
            <a:t>VAEs (Variational Autoencoders): such as TVAE.</a:t>
          </a:r>
        </a:p>
      </dgm:t>
    </dgm:pt>
    <dgm:pt modelId="{C82AA9B6-8795-4C5E-91D7-44033C460CE2}" type="parTrans" cxnId="{570DDC96-03A7-422F-A8E7-A600AA4A9F40}">
      <dgm:prSet/>
      <dgm:spPr/>
      <dgm:t>
        <a:bodyPr/>
        <a:lstStyle/>
        <a:p>
          <a:endParaRPr lang="en-US"/>
        </a:p>
      </dgm:t>
    </dgm:pt>
    <dgm:pt modelId="{AD16D182-8402-48CF-A61D-522FEF9EF6EC}" type="sibTrans" cxnId="{570DDC96-03A7-422F-A8E7-A600AA4A9F40}">
      <dgm:prSet/>
      <dgm:spPr/>
      <dgm:t>
        <a:bodyPr/>
        <a:lstStyle/>
        <a:p>
          <a:endParaRPr lang="en-US"/>
        </a:p>
      </dgm:t>
    </dgm:pt>
    <dgm:pt modelId="{65DD0BE1-0E41-4E4F-965F-EBE90D9348C4}">
      <dgm:prSet/>
      <dgm:spPr/>
      <dgm:t>
        <a:bodyPr/>
        <a:lstStyle/>
        <a:p>
          <a:r>
            <a:rPr lang="en-US"/>
            <a:t>Diffusion Models: such as TabDDPM (table diffusion model), Stable Diffusion/FLUX (for images).</a:t>
          </a:r>
        </a:p>
      </dgm:t>
    </dgm:pt>
    <dgm:pt modelId="{EF6B8AAF-89BE-41A3-9EBF-A5D3D6B6B79B}" type="parTrans" cxnId="{E48CAEF7-B9E8-44E1-99EC-E017573C1CCC}">
      <dgm:prSet/>
      <dgm:spPr/>
      <dgm:t>
        <a:bodyPr/>
        <a:lstStyle/>
        <a:p>
          <a:endParaRPr lang="en-US"/>
        </a:p>
      </dgm:t>
    </dgm:pt>
    <dgm:pt modelId="{06A7B345-6E7A-4195-8AFE-C4351052CC2D}" type="sibTrans" cxnId="{E48CAEF7-B9E8-44E1-99EC-E017573C1CCC}">
      <dgm:prSet/>
      <dgm:spPr/>
      <dgm:t>
        <a:bodyPr/>
        <a:lstStyle/>
        <a:p>
          <a:endParaRPr lang="en-US"/>
        </a:p>
      </dgm:t>
    </dgm:pt>
    <dgm:pt modelId="{07A8912B-128C-2548-B284-D03475A0BE0D}" type="pres">
      <dgm:prSet presAssocID="{33746C49-B916-433E-B286-3D91BDA03087}" presName="vert0" presStyleCnt="0">
        <dgm:presLayoutVars>
          <dgm:dir/>
          <dgm:animOne val="branch"/>
          <dgm:animLvl val="lvl"/>
        </dgm:presLayoutVars>
      </dgm:prSet>
      <dgm:spPr/>
    </dgm:pt>
    <dgm:pt modelId="{49A2E8EA-6D7E-A04A-A0F7-0FEC30053C90}" type="pres">
      <dgm:prSet presAssocID="{7358335B-D687-42BC-90B5-C9F1A567FD95}" presName="thickLine" presStyleLbl="alignNode1" presStyleIdx="0" presStyleCnt="4"/>
      <dgm:spPr/>
    </dgm:pt>
    <dgm:pt modelId="{CF0EB5BB-9D18-964E-A2EB-B8887CBC706E}" type="pres">
      <dgm:prSet presAssocID="{7358335B-D687-42BC-90B5-C9F1A567FD95}" presName="horz1" presStyleCnt="0"/>
      <dgm:spPr/>
    </dgm:pt>
    <dgm:pt modelId="{A173B123-63D1-8C47-B3A6-FCA5A7CC6E88}" type="pres">
      <dgm:prSet presAssocID="{7358335B-D687-42BC-90B5-C9F1A567FD95}" presName="tx1" presStyleLbl="revTx" presStyleIdx="0" presStyleCnt="4"/>
      <dgm:spPr/>
    </dgm:pt>
    <dgm:pt modelId="{B2ED68D1-62B8-CE4A-9C74-A8A8181424C1}" type="pres">
      <dgm:prSet presAssocID="{7358335B-D687-42BC-90B5-C9F1A567FD95}" presName="vert1" presStyleCnt="0"/>
      <dgm:spPr/>
    </dgm:pt>
    <dgm:pt modelId="{06DF870F-4E02-5642-958A-412D48E9F7B1}" type="pres">
      <dgm:prSet presAssocID="{8E41AEBC-0361-412B-82E2-E9ED7BAA0351}" presName="thickLine" presStyleLbl="alignNode1" presStyleIdx="1" presStyleCnt="4"/>
      <dgm:spPr/>
    </dgm:pt>
    <dgm:pt modelId="{99E7EB59-74C7-5648-BB89-3E1269F8EE8C}" type="pres">
      <dgm:prSet presAssocID="{8E41AEBC-0361-412B-82E2-E9ED7BAA0351}" presName="horz1" presStyleCnt="0"/>
      <dgm:spPr/>
    </dgm:pt>
    <dgm:pt modelId="{FF32C5BE-6F57-AC40-96DC-CCA9D9B0B8E6}" type="pres">
      <dgm:prSet presAssocID="{8E41AEBC-0361-412B-82E2-E9ED7BAA0351}" presName="tx1" presStyleLbl="revTx" presStyleIdx="1" presStyleCnt="4"/>
      <dgm:spPr/>
    </dgm:pt>
    <dgm:pt modelId="{9205AFEC-6751-8D40-BFAA-5197E7F3575C}" type="pres">
      <dgm:prSet presAssocID="{8E41AEBC-0361-412B-82E2-E9ED7BAA0351}" presName="vert1" presStyleCnt="0"/>
      <dgm:spPr/>
    </dgm:pt>
    <dgm:pt modelId="{0135BDD9-8630-214C-874B-DA7CB7541F80}" type="pres">
      <dgm:prSet presAssocID="{4E5B37D2-9980-4654-AA10-46A944426A2B}" presName="thickLine" presStyleLbl="alignNode1" presStyleIdx="2" presStyleCnt="4"/>
      <dgm:spPr/>
    </dgm:pt>
    <dgm:pt modelId="{6C90B4EB-EBE5-C343-BC1D-5164ECE8A715}" type="pres">
      <dgm:prSet presAssocID="{4E5B37D2-9980-4654-AA10-46A944426A2B}" presName="horz1" presStyleCnt="0"/>
      <dgm:spPr/>
    </dgm:pt>
    <dgm:pt modelId="{A63FC4D2-5CF9-6F45-B3EB-4451850AC1EC}" type="pres">
      <dgm:prSet presAssocID="{4E5B37D2-9980-4654-AA10-46A944426A2B}" presName="tx1" presStyleLbl="revTx" presStyleIdx="2" presStyleCnt="4"/>
      <dgm:spPr/>
    </dgm:pt>
    <dgm:pt modelId="{0A4501CB-53EE-E440-833F-B7C43E419194}" type="pres">
      <dgm:prSet presAssocID="{4E5B37D2-9980-4654-AA10-46A944426A2B}" presName="vert1" presStyleCnt="0"/>
      <dgm:spPr/>
    </dgm:pt>
    <dgm:pt modelId="{44DB761F-92D4-1A47-87B3-4A51B52B9EB5}" type="pres">
      <dgm:prSet presAssocID="{65DD0BE1-0E41-4E4F-965F-EBE90D9348C4}" presName="thickLine" presStyleLbl="alignNode1" presStyleIdx="3" presStyleCnt="4"/>
      <dgm:spPr/>
    </dgm:pt>
    <dgm:pt modelId="{F487A69B-689F-A243-8C25-01668660D7AD}" type="pres">
      <dgm:prSet presAssocID="{65DD0BE1-0E41-4E4F-965F-EBE90D9348C4}" presName="horz1" presStyleCnt="0"/>
      <dgm:spPr/>
    </dgm:pt>
    <dgm:pt modelId="{AED9C456-C087-9E4D-876B-814ECFD6A999}" type="pres">
      <dgm:prSet presAssocID="{65DD0BE1-0E41-4E4F-965F-EBE90D9348C4}" presName="tx1" presStyleLbl="revTx" presStyleIdx="3" presStyleCnt="4"/>
      <dgm:spPr/>
    </dgm:pt>
    <dgm:pt modelId="{1D5B1871-19FB-F842-8B3B-C7C43579F02E}" type="pres">
      <dgm:prSet presAssocID="{65DD0BE1-0E41-4E4F-965F-EBE90D9348C4}" presName="vert1" presStyleCnt="0"/>
      <dgm:spPr/>
    </dgm:pt>
  </dgm:ptLst>
  <dgm:cxnLst>
    <dgm:cxn modelId="{14A5BC23-A98F-9D46-94AA-C6F1CF7A4808}" type="presOf" srcId="{65DD0BE1-0E41-4E4F-965F-EBE90D9348C4}" destId="{AED9C456-C087-9E4D-876B-814ECFD6A999}" srcOrd="0" destOrd="0" presId="urn:microsoft.com/office/officeart/2008/layout/LinedList"/>
    <dgm:cxn modelId="{33A75162-B818-4EF3-82D1-FA1489B98B73}" srcId="{33746C49-B916-433E-B286-3D91BDA03087}" destId="{8E41AEBC-0361-412B-82E2-E9ED7BAA0351}" srcOrd="1" destOrd="0" parTransId="{AC51948C-C588-47E0-9FDB-8773061DAB90}" sibTransId="{B6927996-A962-4DCA-BBEB-6FA1D6DDA349}"/>
    <dgm:cxn modelId="{C80A0D64-E8BB-1149-9AF7-D1E5C0AAE7A0}" type="presOf" srcId="{7358335B-D687-42BC-90B5-C9F1A567FD95}" destId="{A173B123-63D1-8C47-B3A6-FCA5A7CC6E88}" srcOrd="0" destOrd="0" presId="urn:microsoft.com/office/officeart/2008/layout/LinedList"/>
    <dgm:cxn modelId="{D7B2AE91-505E-8F4F-80BC-939B3E7A8B59}" type="presOf" srcId="{8E41AEBC-0361-412B-82E2-E9ED7BAA0351}" destId="{FF32C5BE-6F57-AC40-96DC-CCA9D9B0B8E6}" srcOrd="0" destOrd="0" presId="urn:microsoft.com/office/officeart/2008/layout/LinedList"/>
    <dgm:cxn modelId="{570DDC96-03A7-422F-A8E7-A600AA4A9F40}" srcId="{33746C49-B916-433E-B286-3D91BDA03087}" destId="{4E5B37D2-9980-4654-AA10-46A944426A2B}" srcOrd="2" destOrd="0" parTransId="{C82AA9B6-8795-4C5E-91D7-44033C460CE2}" sibTransId="{AD16D182-8402-48CF-A61D-522FEF9EF6EC}"/>
    <dgm:cxn modelId="{379DE9A9-588B-476A-BE31-95CABCE8DEBC}" srcId="{33746C49-B916-433E-B286-3D91BDA03087}" destId="{7358335B-D687-42BC-90B5-C9F1A567FD95}" srcOrd="0" destOrd="0" parTransId="{B35F39E0-7C96-424B-8250-542C04993C1E}" sibTransId="{7EAE4900-874E-48CF-BB9B-E0CAB41A98A2}"/>
    <dgm:cxn modelId="{E07E72B2-143B-0E46-A495-48E16DCE2C45}" type="presOf" srcId="{33746C49-B916-433E-B286-3D91BDA03087}" destId="{07A8912B-128C-2548-B284-D03475A0BE0D}" srcOrd="0" destOrd="0" presId="urn:microsoft.com/office/officeart/2008/layout/LinedList"/>
    <dgm:cxn modelId="{BD1BCBF3-87C9-574E-B2D5-CE6260D1DCB6}" type="presOf" srcId="{4E5B37D2-9980-4654-AA10-46A944426A2B}" destId="{A63FC4D2-5CF9-6F45-B3EB-4451850AC1EC}" srcOrd="0" destOrd="0" presId="urn:microsoft.com/office/officeart/2008/layout/LinedList"/>
    <dgm:cxn modelId="{E48CAEF7-B9E8-44E1-99EC-E017573C1CCC}" srcId="{33746C49-B916-433E-B286-3D91BDA03087}" destId="{65DD0BE1-0E41-4E4F-965F-EBE90D9348C4}" srcOrd="3" destOrd="0" parTransId="{EF6B8AAF-89BE-41A3-9EBF-A5D3D6B6B79B}" sibTransId="{06A7B345-6E7A-4195-8AFE-C4351052CC2D}"/>
    <dgm:cxn modelId="{CEBB5A53-1D43-2449-A6BC-81607B8C766F}" type="presParOf" srcId="{07A8912B-128C-2548-B284-D03475A0BE0D}" destId="{49A2E8EA-6D7E-A04A-A0F7-0FEC30053C90}" srcOrd="0" destOrd="0" presId="urn:microsoft.com/office/officeart/2008/layout/LinedList"/>
    <dgm:cxn modelId="{DECDE156-B0F3-234F-9EA5-06DA5001BAF6}" type="presParOf" srcId="{07A8912B-128C-2548-B284-D03475A0BE0D}" destId="{CF0EB5BB-9D18-964E-A2EB-B8887CBC706E}" srcOrd="1" destOrd="0" presId="urn:microsoft.com/office/officeart/2008/layout/LinedList"/>
    <dgm:cxn modelId="{BD151E08-223A-4249-95A4-D7AC01B2EC8F}" type="presParOf" srcId="{CF0EB5BB-9D18-964E-A2EB-B8887CBC706E}" destId="{A173B123-63D1-8C47-B3A6-FCA5A7CC6E88}" srcOrd="0" destOrd="0" presId="urn:microsoft.com/office/officeart/2008/layout/LinedList"/>
    <dgm:cxn modelId="{69F11BB1-A8E9-ED4E-82EA-40DC79F041AD}" type="presParOf" srcId="{CF0EB5BB-9D18-964E-A2EB-B8887CBC706E}" destId="{B2ED68D1-62B8-CE4A-9C74-A8A8181424C1}" srcOrd="1" destOrd="0" presId="urn:microsoft.com/office/officeart/2008/layout/LinedList"/>
    <dgm:cxn modelId="{7B408C21-6C65-404D-95C3-305746F15DAA}" type="presParOf" srcId="{07A8912B-128C-2548-B284-D03475A0BE0D}" destId="{06DF870F-4E02-5642-958A-412D48E9F7B1}" srcOrd="2" destOrd="0" presId="urn:microsoft.com/office/officeart/2008/layout/LinedList"/>
    <dgm:cxn modelId="{B5091389-9649-9D49-9098-AD7B475620D8}" type="presParOf" srcId="{07A8912B-128C-2548-B284-D03475A0BE0D}" destId="{99E7EB59-74C7-5648-BB89-3E1269F8EE8C}" srcOrd="3" destOrd="0" presId="urn:microsoft.com/office/officeart/2008/layout/LinedList"/>
    <dgm:cxn modelId="{5536A99D-C292-8149-B369-E2B33DD99AE0}" type="presParOf" srcId="{99E7EB59-74C7-5648-BB89-3E1269F8EE8C}" destId="{FF32C5BE-6F57-AC40-96DC-CCA9D9B0B8E6}" srcOrd="0" destOrd="0" presId="urn:microsoft.com/office/officeart/2008/layout/LinedList"/>
    <dgm:cxn modelId="{ACAC41F5-9507-774B-83B0-5F44693AB99F}" type="presParOf" srcId="{99E7EB59-74C7-5648-BB89-3E1269F8EE8C}" destId="{9205AFEC-6751-8D40-BFAA-5197E7F3575C}" srcOrd="1" destOrd="0" presId="urn:microsoft.com/office/officeart/2008/layout/LinedList"/>
    <dgm:cxn modelId="{9F9345A1-09FC-CA46-B470-25A0B7CC2DC6}" type="presParOf" srcId="{07A8912B-128C-2548-B284-D03475A0BE0D}" destId="{0135BDD9-8630-214C-874B-DA7CB7541F80}" srcOrd="4" destOrd="0" presId="urn:microsoft.com/office/officeart/2008/layout/LinedList"/>
    <dgm:cxn modelId="{198FDF72-0785-3B48-B5AD-2638212D0B9C}" type="presParOf" srcId="{07A8912B-128C-2548-B284-D03475A0BE0D}" destId="{6C90B4EB-EBE5-C343-BC1D-5164ECE8A715}" srcOrd="5" destOrd="0" presId="urn:microsoft.com/office/officeart/2008/layout/LinedList"/>
    <dgm:cxn modelId="{9203936E-165B-A247-A61A-4CBB66FF74BA}" type="presParOf" srcId="{6C90B4EB-EBE5-C343-BC1D-5164ECE8A715}" destId="{A63FC4D2-5CF9-6F45-B3EB-4451850AC1EC}" srcOrd="0" destOrd="0" presId="urn:microsoft.com/office/officeart/2008/layout/LinedList"/>
    <dgm:cxn modelId="{8791A046-AF1F-F647-A56F-19B3E3BB4DC7}" type="presParOf" srcId="{6C90B4EB-EBE5-C343-BC1D-5164ECE8A715}" destId="{0A4501CB-53EE-E440-833F-B7C43E419194}" srcOrd="1" destOrd="0" presId="urn:microsoft.com/office/officeart/2008/layout/LinedList"/>
    <dgm:cxn modelId="{4365143A-5FD8-D740-A15F-BB8F98198D04}" type="presParOf" srcId="{07A8912B-128C-2548-B284-D03475A0BE0D}" destId="{44DB761F-92D4-1A47-87B3-4A51B52B9EB5}" srcOrd="6" destOrd="0" presId="urn:microsoft.com/office/officeart/2008/layout/LinedList"/>
    <dgm:cxn modelId="{41EC89FE-4604-A64F-98BF-F0E188DBCE14}" type="presParOf" srcId="{07A8912B-128C-2548-B284-D03475A0BE0D}" destId="{F487A69B-689F-A243-8C25-01668660D7AD}" srcOrd="7" destOrd="0" presId="urn:microsoft.com/office/officeart/2008/layout/LinedList"/>
    <dgm:cxn modelId="{68A36BCD-C667-A64C-8320-2DA53FE27281}" type="presParOf" srcId="{F487A69B-689F-A243-8C25-01668660D7AD}" destId="{AED9C456-C087-9E4D-876B-814ECFD6A999}" srcOrd="0" destOrd="0" presId="urn:microsoft.com/office/officeart/2008/layout/LinedList"/>
    <dgm:cxn modelId="{73150D59-1724-7741-AFE6-FEF37E3FBF1A}" type="presParOf" srcId="{F487A69B-689F-A243-8C25-01668660D7AD}" destId="{1D5B1871-19FB-F842-8B3B-C7C43579F02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9352806-4331-40FC-BB5F-5A1730BD64B5}"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6F487D87-6C8B-4C65-A59C-6DAD965A6D54}">
      <dgm:prSet/>
      <dgm:spPr/>
      <dgm:t>
        <a:bodyPr/>
        <a:lstStyle/>
        <a:p>
          <a:r>
            <a:rPr lang="en-US"/>
            <a:t>Working Principle: Implicitly fits extremely complex real-world data distributions through learning the high-dimensional latent space of a neural network.</a:t>
          </a:r>
        </a:p>
      </dgm:t>
    </dgm:pt>
    <dgm:pt modelId="{37E0CA8C-91A7-45D4-B902-03BF330631FE}" type="parTrans" cxnId="{EF807B11-52B6-498F-897E-D3FD6FB16D25}">
      <dgm:prSet/>
      <dgm:spPr/>
      <dgm:t>
        <a:bodyPr/>
        <a:lstStyle/>
        <a:p>
          <a:endParaRPr lang="en-US"/>
        </a:p>
      </dgm:t>
    </dgm:pt>
    <dgm:pt modelId="{61973C5E-6306-42BC-ABFD-A136A63D9186}" type="sibTrans" cxnId="{EF807B11-52B6-498F-897E-D3FD6FB16D25}">
      <dgm:prSet/>
      <dgm:spPr/>
      <dgm:t>
        <a:bodyPr/>
        <a:lstStyle/>
        <a:p>
          <a:endParaRPr lang="en-US"/>
        </a:p>
      </dgm:t>
    </dgm:pt>
    <dgm:pt modelId="{690B5604-B942-49CF-BF87-EFF9FFD7B948}">
      <dgm:prSet/>
      <dgm:spPr/>
      <dgm:t>
        <a:bodyPr/>
        <a:lstStyle/>
        <a:p>
          <a:r>
            <a:rPr lang="en-US"/>
            <a:t>Applicable Scenarios: Complex tables, multidimensional time series, medical images, and visual data for autonomous driving.</a:t>
          </a:r>
        </a:p>
      </dgm:t>
    </dgm:pt>
    <dgm:pt modelId="{41570CAF-FA43-43B1-8A71-9EAD02326EEB}" type="parTrans" cxnId="{C3975681-4372-4C71-9AFB-882F82D16162}">
      <dgm:prSet/>
      <dgm:spPr/>
      <dgm:t>
        <a:bodyPr/>
        <a:lstStyle/>
        <a:p>
          <a:endParaRPr lang="en-US"/>
        </a:p>
      </dgm:t>
    </dgm:pt>
    <dgm:pt modelId="{62DB2649-3F94-4F74-9830-014C818AC8E3}" type="sibTrans" cxnId="{C3975681-4372-4C71-9AFB-882F82D16162}">
      <dgm:prSet/>
      <dgm:spPr/>
      <dgm:t>
        <a:bodyPr/>
        <a:lstStyle/>
        <a:p>
          <a:endParaRPr lang="en-US"/>
        </a:p>
      </dgm:t>
    </dgm:pt>
    <dgm:pt modelId="{5D705E42-D7C0-4445-94EE-00C4D8889408}">
      <dgm:prSet/>
      <dgm:spPr/>
      <dgm:t>
        <a:bodyPr/>
        <a:lstStyle/>
        <a:p>
          <a:r>
            <a:rPr lang="en-US" dirty="0"/>
            <a:t>Advantages and Disadvantages: Extremely strong fitting ability, capable of capturing deep and complex relationships; however, it requires significant computational resources and may be susceptible to </a:t>
          </a:r>
          <a:r>
            <a:rPr lang="en-US" dirty="0">
              <a:solidFill>
                <a:srgbClr val="FF0000"/>
              </a:solidFill>
            </a:rPr>
            <a:t>mode collapse or overfitting</a:t>
          </a:r>
          <a:r>
            <a:rPr lang="en-US" dirty="0"/>
            <a:t>.</a:t>
          </a:r>
        </a:p>
      </dgm:t>
    </dgm:pt>
    <dgm:pt modelId="{6FD2C256-0C52-4AC0-847F-5D1338B78CDC}" type="parTrans" cxnId="{E4B8563F-5944-47E5-82E4-AC6E928ED567}">
      <dgm:prSet/>
      <dgm:spPr/>
      <dgm:t>
        <a:bodyPr/>
        <a:lstStyle/>
        <a:p>
          <a:endParaRPr lang="en-US"/>
        </a:p>
      </dgm:t>
    </dgm:pt>
    <dgm:pt modelId="{61CAB067-29F2-45EF-A41E-737664872B4F}" type="sibTrans" cxnId="{E4B8563F-5944-47E5-82E4-AC6E928ED567}">
      <dgm:prSet/>
      <dgm:spPr/>
      <dgm:t>
        <a:bodyPr/>
        <a:lstStyle/>
        <a:p>
          <a:endParaRPr lang="en-US"/>
        </a:p>
      </dgm:t>
    </dgm:pt>
    <dgm:pt modelId="{51362BE2-7CDD-BE40-9900-E18086626DCA}" type="pres">
      <dgm:prSet presAssocID="{A9352806-4331-40FC-BB5F-5A1730BD64B5}" presName="vert0" presStyleCnt="0">
        <dgm:presLayoutVars>
          <dgm:dir/>
          <dgm:animOne val="branch"/>
          <dgm:animLvl val="lvl"/>
        </dgm:presLayoutVars>
      </dgm:prSet>
      <dgm:spPr/>
    </dgm:pt>
    <dgm:pt modelId="{C0063D05-A427-324E-AB14-01CC8CD8C43F}" type="pres">
      <dgm:prSet presAssocID="{6F487D87-6C8B-4C65-A59C-6DAD965A6D54}" presName="thickLine" presStyleLbl="alignNode1" presStyleIdx="0" presStyleCnt="3"/>
      <dgm:spPr/>
    </dgm:pt>
    <dgm:pt modelId="{1C72DD74-AC96-A849-9A26-53863DDF0220}" type="pres">
      <dgm:prSet presAssocID="{6F487D87-6C8B-4C65-A59C-6DAD965A6D54}" presName="horz1" presStyleCnt="0"/>
      <dgm:spPr/>
    </dgm:pt>
    <dgm:pt modelId="{D5A0CFC0-A9B1-BB42-A499-57B231FF5197}" type="pres">
      <dgm:prSet presAssocID="{6F487D87-6C8B-4C65-A59C-6DAD965A6D54}" presName="tx1" presStyleLbl="revTx" presStyleIdx="0" presStyleCnt="3"/>
      <dgm:spPr/>
    </dgm:pt>
    <dgm:pt modelId="{4E48AC17-3578-434E-B294-B9B771081E41}" type="pres">
      <dgm:prSet presAssocID="{6F487D87-6C8B-4C65-A59C-6DAD965A6D54}" presName="vert1" presStyleCnt="0"/>
      <dgm:spPr/>
    </dgm:pt>
    <dgm:pt modelId="{435B201F-4324-984D-8752-659F044903DE}" type="pres">
      <dgm:prSet presAssocID="{690B5604-B942-49CF-BF87-EFF9FFD7B948}" presName="thickLine" presStyleLbl="alignNode1" presStyleIdx="1" presStyleCnt="3"/>
      <dgm:spPr/>
    </dgm:pt>
    <dgm:pt modelId="{D436FC45-36D5-5649-8FE9-EFEF686D47B2}" type="pres">
      <dgm:prSet presAssocID="{690B5604-B942-49CF-BF87-EFF9FFD7B948}" presName="horz1" presStyleCnt="0"/>
      <dgm:spPr/>
    </dgm:pt>
    <dgm:pt modelId="{1EBDF80F-A4DF-9E4F-87D3-9044F52115CD}" type="pres">
      <dgm:prSet presAssocID="{690B5604-B942-49CF-BF87-EFF9FFD7B948}" presName="tx1" presStyleLbl="revTx" presStyleIdx="1" presStyleCnt="3"/>
      <dgm:spPr/>
    </dgm:pt>
    <dgm:pt modelId="{8313C57F-3CCB-FB43-9D30-276E931CF39D}" type="pres">
      <dgm:prSet presAssocID="{690B5604-B942-49CF-BF87-EFF9FFD7B948}" presName="vert1" presStyleCnt="0"/>
      <dgm:spPr/>
    </dgm:pt>
    <dgm:pt modelId="{23116573-1A34-0B41-8936-E4D1F7F07FF7}" type="pres">
      <dgm:prSet presAssocID="{5D705E42-D7C0-4445-94EE-00C4D8889408}" presName="thickLine" presStyleLbl="alignNode1" presStyleIdx="2" presStyleCnt="3"/>
      <dgm:spPr/>
    </dgm:pt>
    <dgm:pt modelId="{A1CF707F-4624-624F-9D7F-705E5914A289}" type="pres">
      <dgm:prSet presAssocID="{5D705E42-D7C0-4445-94EE-00C4D8889408}" presName="horz1" presStyleCnt="0"/>
      <dgm:spPr/>
    </dgm:pt>
    <dgm:pt modelId="{9B3D2889-3469-8B46-A595-646E6F229EF4}" type="pres">
      <dgm:prSet presAssocID="{5D705E42-D7C0-4445-94EE-00C4D8889408}" presName="tx1" presStyleLbl="revTx" presStyleIdx="2" presStyleCnt="3"/>
      <dgm:spPr/>
    </dgm:pt>
    <dgm:pt modelId="{F4D0C2AF-8E43-554F-B6CC-22005236AD2F}" type="pres">
      <dgm:prSet presAssocID="{5D705E42-D7C0-4445-94EE-00C4D8889408}" presName="vert1" presStyleCnt="0"/>
      <dgm:spPr/>
    </dgm:pt>
  </dgm:ptLst>
  <dgm:cxnLst>
    <dgm:cxn modelId="{EF807B11-52B6-498F-897E-D3FD6FB16D25}" srcId="{A9352806-4331-40FC-BB5F-5A1730BD64B5}" destId="{6F487D87-6C8B-4C65-A59C-6DAD965A6D54}" srcOrd="0" destOrd="0" parTransId="{37E0CA8C-91A7-45D4-B902-03BF330631FE}" sibTransId="{61973C5E-6306-42BC-ABFD-A136A63D9186}"/>
    <dgm:cxn modelId="{E4B8563F-5944-47E5-82E4-AC6E928ED567}" srcId="{A9352806-4331-40FC-BB5F-5A1730BD64B5}" destId="{5D705E42-D7C0-4445-94EE-00C4D8889408}" srcOrd="2" destOrd="0" parTransId="{6FD2C256-0C52-4AC0-847F-5D1338B78CDC}" sibTransId="{61CAB067-29F2-45EF-A41E-737664872B4F}"/>
    <dgm:cxn modelId="{C3975681-4372-4C71-9AFB-882F82D16162}" srcId="{A9352806-4331-40FC-BB5F-5A1730BD64B5}" destId="{690B5604-B942-49CF-BF87-EFF9FFD7B948}" srcOrd="1" destOrd="0" parTransId="{41570CAF-FA43-43B1-8A71-9EAD02326EEB}" sibTransId="{62DB2649-3F94-4F74-9830-014C818AC8E3}"/>
    <dgm:cxn modelId="{B591F6BC-B521-CE43-8861-8CEA159846DB}" type="presOf" srcId="{5D705E42-D7C0-4445-94EE-00C4D8889408}" destId="{9B3D2889-3469-8B46-A595-646E6F229EF4}" srcOrd="0" destOrd="0" presId="urn:microsoft.com/office/officeart/2008/layout/LinedList"/>
    <dgm:cxn modelId="{6E5D58CA-9403-7C45-A182-A3801A3575C1}" type="presOf" srcId="{6F487D87-6C8B-4C65-A59C-6DAD965A6D54}" destId="{D5A0CFC0-A9B1-BB42-A499-57B231FF5197}" srcOrd="0" destOrd="0" presId="urn:microsoft.com/office/officeart/2008/layout/LinedList"/>
    <dgm:cxn modelId="{EE6A11D0-CCE0-4B46-9AA4-2108617CFF19}" type="presOf" srcId="{A9352806-4331-40FC-BB5F-5A1730BD64B5}" destId="{51362BE2-7CDD-BE40-9900-E18086626DCA}" srcOrd="0" destOrd="0" presId="urn:microsoft.com/office/officeart/2008/layout/LinedList"/>
    <dgm:cxn modelId="{DAB6B6F4-3ED4-EF48-B6B2-1150CA872F06}" type="presOf" srcId="{690B5604-B942-49CF-BF87-EFF9FFD7B948}" destId="{1EBDF80F-A4DF-9E4F-87D3-9044F52115CD}" srcOrd="0" destOrd="0" presId="urn:microsoft.com/office/officeart/2008/layout/LinedList"/>
    <dgm:cxn modelId="{8E3B7534-46DC-2049-AA53-ECCC3E8CB53F}" type="presParOf" srcId="{51362BE2-7CDD-BE40-9900-E18086626DCA}" destId="{C0063D05-A427-324E-AB14-01CC8CD8C43F}" srcOrd="0" destOrd="0" presId="urn:microsoft.com/office/officeart/2008/layout/LinedList"/>
    <dgm:cxn modelId="{A3B40531-5E15-EA42-8043-9A8D64988F71}" type="presParOf" srcId="{51362BE2-7CDD-BE40-9900-E18086626DCA}" destId="{1C72DD74-AC96-A849-9A26-53863DDF0220}" srcOrd="1" destOrd="0" presId="urn:microsoft.com/office/officeart/2008/layout/LinedList"/>
    <dgm:cxn modelId="{BD698566-F8FF-F04A-9DDD-A811E0CCBB85}" type="presParOf" srcId="{1C72DD74-AC96-A849-9A26-53863DDF0220}" destId="{D5A0CFC0-A9B1-BB42-A499-57B231FF5197}" srcOrd="0" destOrd="0" presId="urn:microsoft.com/office/officeart/2008/layout/LinedList"/>
    <dgm:cxn modelId="{24A36F40-7400-F64E-A77F-5A26A4FF8145}" type="presParOf" srcId="{1C72DD74-AC96-A849-9A26-53863DDF0220}" destId="{4E48AC17-3578-434E-B294-B9B771081E41}" srcOrd="1" destOrd="0" presId="urn:microsoft.com/office/officeart/2008/layout/LinedList"/>
    <dgm:cxn modelId="{4F581D9B-DF6D-7940-83C8-627D2F70E87A}" type="presParOf" srcId="{51362BE2-7CDD-BE40-9900-E18086626DCA}" destId="{435B201F-4324-984D-8752-659F044903DE}" srcOrd="2" destOrd="0" presId="urn:microsoft.com/office/officeart/2008/layout/LinedList"/>
    <dgm:cxn modelId="{C4CC7072-F0E1-6E4F-8901-836CB60CF829}" type="presParOf" srcId="{51362BE2-7CDD-BE40-9900-E18086626DCA}" destId="{D436FC45-36D5-5649-8FE9-EFEF686D47B2}" srcOrd="3" destOrd="0" presId="urn:microsoft.com/office/officeart/2008/layout/LinedList"/>
    <dgm:cxn modelId="{10526753-C7A8-AB41-8870-9991F8113069}" type="presParOf" srcId="{D436FC45-36D5-5649-8FE9-EFEF686D47B2}" destId="{1EBDF80F-A4DF-9E4F-87D3-9044F52115CD}" srcOrd="0" destOrd="0" presId="urn:microsoft.com/office/officeart/2008/layout/LinedList"/>
    <dgm:cxn modelId="{FC2127F2-D7DB-5A41-A908-37F8FFD6E583}" type="presParOf" srcId="{D436FC45-36D5-5649-8FE9-EFEF686D47B2}" destId="{8313C57F-3CCB-FB43-9D30-276E931CF39D}" srcOrd="1" destOrd="0" presId="urn:microsoft.com/office/officeart/2008/layout/LinedList"/>
    <dgm:cxn modelId="{AA67E1C5-2892-BC4B-856D-B8812821F76D}" type="presParOf" srcId="{51362BE2-7CDD-BE40-9900-E18086626DCA}" destId="{23116573-1A34-0B41-8936-E4D1F7F07FF7}" srcOrd="4" destOrd="0" presId="urn:microsoft.com/office/officeart/2008/layout/LinedList"/>
    <dgm:cxn modelId="{996105A8-25CA-584A-9ACA-0A503E7208D0}" type="presParOf" srcId="{51362BE2-7CDD-BE40-9900-E18086626DCA}" destId="{A1CF707F-4624-624F-9D7F-705E5914A289}" srcOrd="5" destOrd="0" presId="urn:microsoft.com/office/officeart/2008/layout/LinedList"/>
    <dgm:cxn modelId="{EE6C8A22-2723-DE47-8FA8-49DF71D0E361}" type="presParOf" srcId="{A1CF707F-4624-624F-9D7F-705E5914A289}" destId="{9B3D2889-3469-8B46-A595-646E6F229EF4}" srcOrd="0" destOrd="0" presId="urn:microsoft.com/office/officeart/2008/layout/LinedList"/>
    <dgm:cxn modelId="{009185DE-C38B-7343-A94A-262B038669C7}" type="presParOf" srcId="{A1CF707F-4624-624F-9D7F-705E5914A289}" destId="{F4D0C2AF-8E43-554F-B6CC-22005236AD2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2B51D44-8854-4DF2-96BB-819EEBFD8405}"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A4741906-860E-428A-BA26-CACD64CCD20C}">
      <dgm:prSet/>
      <dgm:spPr/>
      <dgm:t>
        <a:bodyPr/>
        <a:lstStyle/>
        <a:p>
          <a:r>
            <a:rPr lang="en-GB"/>
            <a:t>Representative Methods: Prompt Engineering (Few-shot example generation), Agentic Workflows, Self-Instruct.</a:t>
          </a:r>
          <a:endParaRPr lang="en-US"/>
        </a:p>
      </dgm:t>
    </dgm:pt>
    <dgm:pt modelId="{E709EA24-0479-4D62-88B6-BEF23F804405}" type="parTrans" cxnId="{9027D584-4027-4117-81E5-0E88F23A8072}">
      <dgm:prSet/>
      <dgm:spPr/>
      <dgm:t>
        <a:bodyPr/>
        <a:lstStyle/>
        <a:p>
          <a:endParaRPr lang="en-US"/>
        </a:p>
      </dgm:t>
    </dgm:pt>
    <dgm:pt modelId="{D3C97C5A-328C-49B5-A53E-987335229F71}" type="sibTrans" cxnId="{9027D584-4027-4117-81E5-0E88F23A8072}">
      <dgm:prSet/>
      <dgm:spPr/>
      <dgm:t>
        <a:bodyPr/>
        <a:lstStyle/>
        <a:p>
          <a:endParaRPr lang="en-US"/>
        </a:p>
      </dgm:t>
    </dgm:pt>
    <dgm:pt modelId="{5FAEBFB4-5A06-4328-A620-7D8B66DB2EAC}">
      <dgm:prSet/>
      <dgm:spPr/>
      <dgm:t>
        <a:bodyPr/>
        <a:lstStyle/>
        <a:p>
          <a:r>
            <a:rPr lang="en-GB"/>
            <a:t>Working Principle: Leveraging the powerful world knowledge and contextual understanding capabilities of LLM, data is directly "written" based on the Prompt or Agent interaction logic.</a:t>
          </a:r>
          <a:endParaRPr lang="en-US" dirty="0"/>
        </a:p>
      </dgm:t>
    </dgm:pt>
    <dgm:pt modelId="{C42D5A2E-0355-4CDA-AD6F-3419715DA224}" type="parTrans" cxnId="{B463062B-2D4F-4707-92AF-1F30F4B711AA}">
      <dgm:prSet/>
      <dgm:spPr/>
      <dgm:t>
        <a:bodyPr/>
        <a:lstStyle/>
        <a:p>
          <a:endParaRPr lang="en-US"/>
        </a:p>
      </dgm:t>
    </dgm:pt>
    <dgm:pt modelId="{A677C6C2-6F4C-4319-A740-FBD67C166628}" type="sibTrans" cxnId="{B463062B-2D4F-4707-92AF-1F30F4B711AA}">
      <dgm:prSet/>
      <dgm:spPr/>
      <dgm:t>
        <a:bodyPr/>
        <a:lstStyle/>
        <a:p>
          <a:endParaRPr lang="en-US"/>
        </a:p>
      </dgm:t>
    </dgm:pt>
    <dgm:pt modelId="{AA1ACED6-2D61-0749-8AC9-261EC4E40EFA}" type="pres">
      <dgm:prSet presAssocID="{42B51D44-8854-4DF2-96BB-819EEBFD8405}" presName="vert0" presStyleCnt="0">
        <dgm:presLayoutVars>
          <dgm:dir/>
          <dgm:animOne val="branch"/>
          <dgm:animLvl val="lvl"/>
        </dgm:presLayoutVars>
      </dgm:prSet>
      <dgm:spPr/>
    </dgm:pt>
    <dgm:pt modelId="{D4A550B9-1700-C343-851C-057A243FE6F1}" type="pres">
      <dgm:prSet presAssocID="{A4741906-860E-428A-BA26-CACD64CCD20C}" presName="thickLine" presStyleLbl="alignNode1" presStyleIdx="0" presStyleCnt="2"/>
      <dgm:spPr/>
    </dgm:pt>
    <dgm:pt modelId="{FE54F778-914C-7243-85E2-D3B07BCDB576}" type="pres">
      <dgm:prSet presAssocID="{A4741906-860E-428A-BA26-CACD64CCD20C}" presName="horz1" presStyleCnt="0"/>
      <dgm:spPr/>
    </dgm:pt>
    <dgm:pt modelId="{A44AE949-792D-AC4C-88F8-A0E7B6B75682}" type="pres">
      <dgm:prSet presAssocID="{A4741906-860E-428A-BA26-CACD64CCD20C}" presName="tx1" presStyleLbl="revTx" presStyleIdx="0" presStyleCnt="2"/>
      <dgm:spPr/>
    </dgm:pt>
    <dgm:pt modelId="{D9336B13-0C73-4D48-B028-535B30602FAB}" type="pres">
      <dgm:prSet presAssocID="{A4741906-860E-428A-BA26-CACD64CCD20C}" presName="vert1" presStyleCnt="0"/>
      <dgm:spPr/>
    </dgm:pt>
    <dgm:pt modelId="{A7ED20F1-C9D9-1444-B2BE-BE688EBC94EF}" type="pres">
      <dgm:prSet presAssocID="{5FAEBFB4-5A06-4328-A620-7D8B66DB2EAC}" presName="thickLine" presStyleLbl="alignNode1" presStyleIdx="1" presStyleCnt="2"/>
      <dgm:spPr/>
    </dgm:pt>
    <dgm:pt modelId="{DC66AEF5-A09F-154E-9A4A-ABCF453C3A6C}" type="pres">
      <dgm:prSet presAssocID="{5FAEBFB4-5A06-4328-A620-7D8B66DB2EAC}" presName="horz1" presStyleCnt="0"/>
      <dgm:spPr/>
    </dgm:pt>
    <dgm:pt modelId="{DC44A60D-AA2D-2A42-A3EE-440106559F9B}" type="pres">
      <dgm:prSet presAssocID="{5FAEBFB4-5A06-4328-A620-7D8B66DB2EAC}" presName="tx1" presStyleLbl="revTx" presStyleIdx="1" presStyleCnt="2"/>
      <dgm:spPr/>
    </dgm:pt>
    <dgm:pt modelId="{FADBFB4F-2F74-DA43-A131-A32180798C78}" type="pres">
      <dgm:prSet presAssocID="{5FAEBFB4-5A06-4328-A620-7D8B66DB2EAC}" presName="vert1" presStyleCnt="0"/>
      <dgm:spPr/>
    </dgm:pt>
  </dgm:ptLst>
  <dgm:cxnLst>
    <dgm:cxn modelId="{FFE03906-C2C6-EA42-920B-0245D372B193}" type="presOf" srcId="{5FAEBFB4-5A06-4328-A620-7D8B66DB2EAC}" destId="{DC44A60D-AA2D-2A42-A3EE-440106559F9B}" srcOrd="0" destOrd="0" presId="urn:microsoft.com/office/officeart/2008/layout/LinedList"/>
    <dgm:cxn modelId="{84244807-0BA0-964E-9874-434A92386155}" type="presOf" srcId="{42B51D44-8854-4DF2-96BB-819EEBFD8405}" destId="{AA1ACED6-2D61-0749-8AC9-261EC4E40EFA}" srcOrd="0" destOrd="0" presId="urn:microsoft.com/office/officeart/2008/layout/LinedList"/>
    <dgm:cxn modelId="{B463062B-2D4F-4707-92AF-1F30F4B711AA}" srcId="{42B51D44-8854-4DF2-96BB-819EEBFD8405}" destId="{5FAEBFB4-5A06-4328-A620-7D8B66DB2EAC}" srcOrd="1" destOrd="0" parTransId="{C42D5A2E-0355-4CDA-AD6F-3419715DA224}" sibTransId="{A677C6C2-6F4C-4319-A740-FBD67C166628}"/>
    <dgm:cxn modelId="{7F6A7362-26F6-8F4B-BBDC-5D7D338B751C}" type="presOf" srcId="{A4741906-860E-428A-BA26-CACD64CCD20C}" destId="{A44AE949-792D-AC4C-88F8-A0E7B6B75682}" srcOrd="0" destOrd="0" presId="urn:microsoft.com/office/officeart/2008/layout/LinedList"/>
    <dgm:cxn modelId="{9027D584-4027-4117-81E5-0E88F23A8072}" srcId="{42B51D44-8854-4DF2-96BB-819EEBFD8405}" destId="{A4741906-860E-428A-BA26-CACD64CCD20C}" srcOrd="0" destOrd="0" parTransId="{E709EA24-0479-4D62-88B6-BEF23F804405}" sibTransId="{D3C97C5A-328C-49B5-A53E-987335229F71}"/>
    <dgm:cxn modelId="{6EDA5DFD-EAE1-F94F-A0FB-AD8185F4EED5}" type="presParOf" srcId="{AA1ACED6-2D61-0749-8AC9-261EC4E40EFA}" destId="{D4A550B9-1700-C343-851C-057A243FE6F1}" srcOrd="0" destOrd="0" presId="urn:microsoft.com/office/officeart/2008/layout/LinedList"/>
    <dgm:cxn modelId="{9B9BA712-4FBA-E243-981D-915D13C9FF06}" type="presParOf" srcId="{AA1ACED6-2D61-0749-8AC9-261EC4E40EFA}" destId="{FE54F778-914C-7243-85E2-D3B07BCDB576}" srcOrd="1" destOrd="0" presId="urn:microsoft.com/office/officeart/2008/layout/LinedList"/>
    <dgm:cxn modelId="{F8B1B3B7-864C-2A47-99A1-4B4AE5269B27}" type="presParOf" srcId="{FE54F778-914C-7243-85E2-D3B07BCDB576}" destId="{A44AE949-792D-AC4C-88F8-A0E7B6B75682}" srcOrd="0" destOrd="0" presId="urn:microsoft.com/office/officeart/2008/layout/LinedList"/>
    <dgm:cxn modelId="{564CA009-B371-1647-8972-B0CBCAD27DEB}" type="presParOf" srcId="{FE54F778-914C-7243-85E2-D3B07BCDB576}" destId="{D9336B13-0C73-4D48-B028-535B30602FAB}" srcOrd="1" destOrd="0" presId="urn:microsoft.com/office/officeart/2008/layout/LinedList"/>
    <dgm:cxn modelId="{2D614C5C-4028-4545-9293-5AD68E2E6695}" type="presParOf" srcId="{AA1ACED6-2D61-0749-8AC9-261EC4E40EFA}" destId="{A7ED20F1-C9D9-1444-B2BE-BE688EBC94EF}" srcOrd="2" destOrd="0" presId="urn:microsoft.com/office/officeart/2008/layout/LinedList"/>
    <dgm:cxn modelId="{22E984D2-482D-E441-90B5-A192D5963328}" type="presParOf" srcId="{AA1ACED6-2D61-0749-8AC9-261EC4E40EFA}" destId="{DC66AEF5-A09F-154E-9A4A-ABCF453C3A6C}" srcOrd="3" destOrd="0" presId="urn:microsoft.com/office/officeart/2008/layout/LinedList"/>
    <dgm:cxn modelId="{08F3AB83-3663-1A41-9A9A-EE262BF9537A}" type="presParOf" srcId="{DC66AEF5-A09F-154E-9A4A-ABCF453C3A6C}" destId="{DC44A60D-AA2D-2A42-A3EE-440106559F9B}" srcOrd="0" destOrd="0" presId="urn:microsoft.com/office/officeart/2008/layout/LinedList"/>
    <dgm:cxn modelId="{EE585F8A-AFB8-394A-9A2F-46A592BEE006}" type="presParOf" srcId="{DC66AEF5-A09F-154E-9A4A-ABCF453C3A6C}" destId="{FADBFB4F-2F74-DA43-A131-A32180798C7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65B1A09-D8CA-9649-93FF-C5F3B3601A1C}" type="doc">
      <dgm:prSet loTypeId="urn:microsoft.com/office/officeart/2005/8/layout/radial4" loCatId="" qsTypeId="urn:microsoft.com/office/officeart/2005/8/quickstyle/3d2" qsCatId="3D" csTypeId="urn:microsoft.com/office/officeart/2005/8/colors/accent5_1" csCatId="accent5" phldr="1"/>
      <dgm:spPr/>
      <dgm:t>
        <a:bodyPr/>
        <a:lstStyle/>
        <a:p>
          <a:endParaRPr lang="en-GB"/>
        </a:p>
      </dgm:t>
    </dgm:pt>
    <dgm:pt modelId="{3FE846C2-4676-EF49-913F-C8AA36AC3349}">
      <dgm:prSet/>
      <dgm:spPr/>
      <dgm:t>
        <a:bodyPr/>
        <a:lstStyle/>
        <a:p>
          <a:r>
            <a:rPr lang="en-US" dirty="0"/>
            <a:t>Evaluation of synthetic data </a:t>
          </a:r>
          <a:endParaRPr lang="en-GB" dirty="0"/>
        </a:p>
      </dgm:t>
    </dgm:pt>
    <dgm:pt modelId="{88AAA3E9-F55E-094A-A739-8645D506B005}" type="parTrans" cxnId="{D38F960B-8B45-0540-951D-FB40C65F0836}">
      <dgm:prSet/>
      <dgm:spPr/>
      <dgm:t>
        <a:bodyPr/>
        <a:lstStyle/>
        <a:p>
          <a:endParaRPr lang="en-GB"/>
        </a:p>
      </dgm:t>
    </dgm:pt>
    <dgm:pt modelId="{9EEB7358-5AE2-554C-B02F-82797B588D33}" type="sibTrans" cxnId="{D38F960B-8B45-0540-951D-FB40C65F0836}">
      <dgm:prSet/>
      <dgm:spPr/>
      <dgm:t>
        <a:bodyPr/>
        <a:lstStyle/>
        <a:p>
          <a:endParaRPr lang="en-GB"/>
        </a:p>
      </dgm:t>
    </dgm:pt>
    <dgm:pt modelId="{5F35492F-709F-1548-8222-328DA82A793B}">
      <dgm:prSet/>
      <dgm:spPr/>
      <dgm:t>
        <a:bodyPr/>
        <a:lstStyle/>
        <a:p>
          <a:r>
            <a:rPr lang="en-US" dirty="0"/>
            <a:t>structural similarity to the original data (resemblance)</a:t>
          </a:r>
          <a:endParaRPr lang="en-GB" dirty="0"/>
        </a:p>
      </dgm:t>
    </dgm:pt>
    <dgm:pt modelId="{386A0D8F-BCED-D646-A11C-CD3F5C9B8696}" type="parTrans" cxnId="{CA2241FC-5DE7-1141-90CE-6B5BA7823DA6}">
      <dgm:prSet/>
      <dgm:spPr/>
      <dgm:t>
        <a:bodyPr/>
        <a:lstStyle/>
        <a:p>
          <a:endParaRPr lang="en-GB"/>
        </a:p>
      </dgm:t>
    </dgm:pt>
    <dgm:pt modelId="{58163C00-C536-8D48-88B3-26314B6D8472}" type="sibTrans" cxnId="{CA2241FC-5DE7-1141-90CE-6B5BA7823DA6}">
      <dgm:prSet/>
      <dgm:spPr/>
      <dgm:t>
        <a:bodyPr/>
        <a:lstStyle/>
        <a:p>
          <a:endParaRPr lang="en-GB"/>
        </a:p>
      </dgm:t>
    </dgm:pt>
    <dgm:pt modelId="{A8615B98-2561-134F-B830-6C7DDCFEDB8F}">
      <dgm:prSet/>
      <dgm:spPr/>
      <dgm:t>
        <a:bodyPr/>
        <a:lstStyle/>
        <a:p>
          <a:r>
            <a:rPr lang="en-US" dirty="0"/>
            <a:t>its usage for analysis and predictive modeling (utility)</a:t>
          </a:r>
          <a:endParaRPr lang="en-GB" dirty="0"/>
        </a:p>
      </dgm:t>
    </dgm:pt>
    <dgm:pt modelId="{09342EC1-0EF9-6B46-9FF6-8C6FDDCE8B37}" type="parTrans" cxnId="{5C79F756-7C2F-E04F-AC83-EE7A2713C384}">
      <dgm:prSet/>
      <dgm:spPr/>
      <dgm:t>
        <a:bodyPr/>
        <a:lstStyle/>
        <a:p>
          <a:endParaRPr lang="en-GB"/>
        </a:p>
      </dgm:t>
    </dgm:pt>
    <dgm:pt modelId="{E8195A02-6056-524D-834A-92AF41EB81F0}" type="sibTrans" cxnId="{5C79F756-7C2F-E04F-AC83-EE7A2713C384}">
      <dgm:prSet/>
      <dgm:spPr/>
      <dgm:t>
        <a:bodyPr/>
        <a:lstStyle/>
        <a:p>
          <a:endParaRPr lang="en-GB"/>
        </a:p>
      </dgm:t>
    </dgm:pt>
    <dgm:pt modelId="{33C4FDA9-2A97-3941-BEAB-2E7F223CEB41}">
      <dgm:prSet/>
      <dgm:spPr/>
      <dgm:t>
        <a:bodyPr/>
        <a:lstStyle/>
        <a:p>
          <a:r>
            <a:rPr lang="en-US" dirty="0"/>
            <a:t>protection of information stored in the real data (privacy)</a:t>
          </a:r>
          <a:endParaRPr lang="en-GB" dirty="0"/>
        </a:p>
      </dgm:t>
    </dgm:pt>
    <dgm:pt modelId="{478F8ADA-E882-7D48-BE2D-6813D4521030}" type="parTrans" cxnId="{331D51C8-DD5E-5C4D-8193-4BF06F94373F}">
      <dgm:prSet/>
      <dgm:spPr/>
      <dgm:t>
        <a:bodyPr/>
        <a:lstStyle/>
        <a:p>
          <a:endParaRPr lang="en-GB"/>
        </a:p>
      </dgm:t>
    </dgm:pt>
    <dgm:pt modelId="{B7F9F86D-F205-1942-9CCB-4C66D6C8F47F}" type="sibTrans" cxnId="{331D51C8-DD5E-5C4D-8193-4BF06F94373F}">
      <dgm:prSet/>
      <dgm:spPr/>
      <dgm:t>
        <a:bodyPr/>
        <a:lstStyle/>
        <a:p>
          <a:endParaRPr lang="en-GB"/>
        </a:p>
      </dgm:t>
    </dgm:pt>
    <dgm:pt modelId="{DDD6DC54-AB1C-1647-B300-99925695EBB0}" type="pres">
      <dgm:prSet presAssocID="{765B1A09-D8CA-9649-93FF-C5F3B3601A1C}" presName="cycle" presStyleCnt="0">
        <dgm:presLayoutVars>
          <dgm:chMax val="1"/>
          <dgm:dir/>
          <dgm:animLvl val="ctr"/>
          <dgm:resizeHandles val="exact"/>
        </dgm:presLayoutVars>
      </dgm:prSet>
      <dgm:spPr/>
    </dgm:pt>
    <dgm:pt modelId="{4A25955B-BC74-854F-88AB-201919D12D00}" type="pres">
      <dgm:prSet presAssocID="{3FE846C2-4676-EF49-913F-C8AA36AC3349}" presName="centerShape" presStyleLbl="node0" presStyleIdx="0" presStyleCnt="1"/>
      <dgm:spPr/>
    </dgm:pt>
    <dgm:pt modelId="{728C5D94-889A-504D-AA18-DBF5C6334E91}" type="pres">
      <dgm:prSet presAssocID="{386A0D8F-BCED-D646-A11C-CD3F5C9B8696}" presName="parTrans" presStyleLbl="bgSibTrans2D1" presStyleIdx="0" presStyleCnt="3"/>
      <dgm:spPr/>
    </dgm:pt>
    <dgm:pt modelId="{E19F80FF-33DB-B444-A7C4-D44AE0C98BEE}" type="pres">
      <dgm:prSet presAssocID="{5F35492F-709F-1548-8222-328DA82A793B}" presName="node" presStyleLbl="node1" presStyleIdx="0" presStyleCnt="3">
        <dgm:presLayoutVars>
          <dgm:bulletEnabled val="1"/>
        </dgm:presLayoutVars>
      </dgm:prSet>
      <dgm:spPr/>
    </dgm:pt>
    <dgm:pt modelId="{031C8B27-BC22-B84F-AB17-A6BD3BC19178}" type="pres">
      <dgm:prSet presAssocID="{09342EC1-0EF9-6B46-9FF6-8C6FDDCE8B37}" presName="parTrans" presStyleLbl="bgSibTrans2D1" presStyleIdx="1" presStyleCnt="3"/>
      <dgm:spPr/>
    </dgm:pt>
    <dgm:pt modelId="{EEA5732D-C5FB-7840-8A1E-3836029E56D0}" type="pres">
      <dgm:prSet presAssocID="{A8615B98-2561-134F-B830-6C7DDCFEDB8F}" presName="node" presStyleLbl="node1" presStyleIdx="1" presStyleCnt="3">
        <dgm:presLayoutVars>
          <dgm:bulletEnabled val="1"/>
        </dgm:presLayoutVars>
      </dgm:prSet>
      <dgm:spPr/>
    </dgm:pt>
    <dgm:pt modelId="{E1C79881-5CCF-BB49-B25D-5F1435CACB63}" type="pres">
      <dgm:prSet presAssocID="{478F8ADA-E882-7D48-BE2D-6813D4521030}" presName="parTrans" presStyleLbl="bgSibTrans2D1" presStyleIdx="2" presStyleCnt="3"/>
      <dgm:spPr/>
    </dgm:pt>
    <dgm:pt modelId="{DD1C9295-48AD-704B-B330-873290BB139D}" type="pres">
      <dgm:prSet presAssocID="{33C4FDA9-2A97-3941-BEAB-2E7F223CEB41}" presName="node" presStyleLbl="node1" presStyleIdx="2" presStyleCnt="3">
        <dgm:presLayoutVars>
          <dgm:bulletEnabled val="1"/>
        </dgm:presLayoutVars>
      </dgm:prSet>
      <dgm:spPr/>
    </dgm:pt>
  </dgm:ptLst>
  <dgm:cxnLst>
    <dgm:cxn modelId="{D38F960B-8B45-0540-951D-FB40C65F0836}" srcId="{765B1A09-D8CA-9649-93FF-C5F3B3601A1C}" destId="{3FE846C2-4676-EF49-913F-C8AA36AC3349}" srcOrd="0" destOrd="0" parTransId="{88AAA3E9-F55E-094A-A739-8645D506B005}" sibTransId="{9EEB7358-5AE2-554C-B02F-82797B588D33}"/>
    <dgm:cxn modelId="{A0CB2F49-D70B-4B45-8DAA-8FCFA61BBFC7}" type="presOf" srcId="{5F35492F-709F-1548-8222-328DA82A793B}" destId="{E19F80FF-33DB-B444-A7C4-D44AE0C98BEE}" srcOrd="0" destOrd="0" presId="urn:microsoft.com/office/officeart/2005/8/layout/radial4"/>
    <dgm:cxn modelId="{5C79F756-7C2F-E04F-AC83-EE7A2713C384}" srcId="{3FE846C2-4676-EF49-913F-C8AA36AC3349}" destId="{A8615B98-2561-134F-B830-6C7DDCFEDB8F}" srcOrd="1" destOrd="0" parTransId="{09342EC1-0EF9-6B46-9FF6-8C6FDDCE8B37}" sibTransId="{E8195A02-6056-524D-834A-92AF41EB81F0}"/>
    <dgm:cxn modelId="{2EDCA666-201D-0C4E-9088-5C155116D3B6}" type="presOf" srcId="{09342EC1-0EF9-6B46-9FF6-8C6FDDCE8B37}" destId="{031C8B27-BC22-B84F-AB17-A6BD3BC19178}" srcOrd="0" destOrd="0" presId="urn:microsoft.com/office/officeart/2005/8/layout/radial4"/>
    <dgm:cxn modelId="{59ED1F7B-A1D3-E14C-BCA9-F66F78517192}" type="presOf" srcId="{3FE846C2-4676-EF49-913F-C8AA36AC3349}" destId="{4A25955B-BC74-854F-88AB-201919D12D00}" srcOrd="0" destOrd="0" presId="urn:microsoft.com/office/officeart/2005/8/layout/radial4"/>
    <dgm:cxn modelId="{37F91780-AFC3-B646-BD9F-E9B649C78195}" type="presOf" srcId="{765B1A09-D8CA-9649-93FF-C5F3B3601A1C}" destId="{DDD6DC54-AB1C-1647-B300-99925695EBB0}" srcOrd="0" destOrd="0" presId="urn:microsoft.com/office/officeart/2005/8/layout/radial4"/>
    <dgm:cxn modelId="{44C67C86-041A-F246-8A29-31D2089F9951}" type="presOf" srcId="{478F8ADA-E882-7D48-BE2D-6813D4521030}" destId="{E1C79881-5CCF-BB49-B25D-5F1435CACB63}" srcOrd="0" destOrd="0" presId="urn:microsoft.com/office/officeart/2005/8/layout/radial4"/>
    <dgm:cxn modelId="{D81A1587-97D0-894D-8600-BC6A15F0D8C2}" type="presOf" srcId="{A8615B98-2561-134F-B830-6C7DDCFEDB8F}" destId="{EEA5732D-C5FB-7840-8A1E-3836029E56D0}" srcOrd="0" destOrd="0" presId="urn:microsoft.com/office/officeart/2005/8/layout/radial4"/>
    <dgm:cxn modelId="{331D51C8-DD5E-5C4D-8193-4BF06F94373F}" srcId="{3FE846C2-4676-EF49-913F-C8AA36AC3349}" destId="{33C4FDA9-2A97-3941-BEAB-2E7F223CEB41}" srcOrd="2" destOrd="0" parTransId="{478F8ADA-E882-7D48-BE2D-6813D4521030}" sibTransId="{B7F9F86D-F205-1942-9CCB-4C66D6C8F47F}"/>
    <dgm:cxn modelId="{268B89D3-9864-354A-BB5A-F01576C82816}" type="presOf" srcId="{386A0D8F-BCED-D646-A11C-CD3F5C9B8696}" destId="{728C5D94-889A-504D-AA18-DBF5C6334E91}" srcOrd="0" destOrd="0" presId="urn:microsoft.com/office/officeart/2005/8/layout/radial4"/>
    <dgm:cxn modelId="{273EB8E3-525E-5C42-B648-FED344BE11E0}" type="presOf" srcId="{33C4FDA9-2A97-3941-BEAB-2E7F223CEB41}" destId="{DD1C9295-48AD-704B-B330-873290BB139D}" srcOrd="0" destOrd="0" presId="urn:microsoft.com/office/officeart/2005/8/layout/radial4"/>
    <dgm:cxn modelId="{CA2241FC-5DE7-1141-90CE-6B5BA7823DA6}" srcId="{3FE846C2-4676-EF49-913F-C8AA36AC3349}" destId="{5F35492F-709F-1548-8222-328DA82A793B}" srcOrd="0" destOrd="0" parTransId="{386A0D8F-BCED-D646-A11C-CD3F5C9B8696}" sibTransId="{58163C00-C536-8D48-88B3-26314B6D8472}"/>
    <dgm:cxn modelId="{40149F3B-219D-7A4D-99C0-012A0A7B8BF4}" type="presParOf" srcId="{DDD6DC54-AB1C-1647-B300-99925695EBB0}" destId="{4A25955B-BC74-854F-88AB-201919D12D00}" srcOrd="0" destOrd="0" presId="urn:microsoft.com/office/officeart/2005/8/layout/radial4"/>
    <dgm:cxn modelId="{0014A44D-7DDC-F749-9964-1B57F8101613}" type="presParOf" srcId="{DDD6DC54-AB1C-1647-B300-99925695EBB0}" destId="{728C5D94-889A-504D-AA18-DBF5C6334E91}" srcOrd="1" destOrd="0" presId="urn:microsoft.com/office/officeart/2005/8/layout/radial4"/>
    <dgm:cxn modelId="{1D525C02-BCA1-1A48-BDF0-F7E5DA1120C1}" type="presParOf" srcId="{DDD6DC54-AB1C-1647-B300-99925695EBB0}" destId="{E19F80FF-33DB-B444-A7C4-D44AE0C98BEE}" srcOrd="2" destOrd="0" presId="urn:microsoft.com/office/officeart/2005/8/layout/radial4"/>
    <dgm:cxn modelId="{8DE546B1-CEEA-EE4C-87D4-F55756C22A30}" type="presParOf" srcId="{DDD6DC54-AB1C-1647-B300-99925695EBB0}" destId="{031C8B27-BC22-B84F-AB17-A6BD3BC19178}" srcOrd="3" destOrd="0" presId="urn:microsoft.com/office/officeart/2005/8/layout/radial4"/>
    <dgm:cxn modelId="{762819A6-CC32-1C4B-9792-0E92EB8E3EC2}" type="presParOf" srcId="{DDD6DC54-AB1C-1647-B300-99925695EBB0}" destId="{EEA5732D-C5FB-7840-8A1E-3836029E56D0}" srcOrd="4" destOrd="0" presId="urn:microsoft.com/office/officeart/2005/8/layout/radial4"/>
    <dgm:cxn modelId="{09C105E3-C1DD-754A-A49E-90ED28263B5F}" type="presParOf" srcId="{DDD6DC54-AB1C-1647-B300-99925695EBB0}" destId="{E1C79881-5CCF-BB49-B25D-5F1435CACB63}" srcOrd="5" destOrd="0" presId="urn:microsoft.com/office/officeart/2005/8/layout/radial4"/>
    <dgm:cxn modelId="{BFB580E8-36E0-C647-998D-B901A12A4586}" type="presParOf" srcId="{DDD6DC54-AB1C-1647-B300-99925695EBB0}" destId="{DD1C9295-48AD-704B-B330-873290BB139D}"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EEC660B-E21B-4861-9936-21FDC3D0FCFE}"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2D41964A-FEAD-4800-AB6B-2DC15665883D}">
      <dgm:prSet/>
      <dgm:spPr/>
      <dgm:t>
        <a:bodyPr/>
        <a:lstStyle/>
        <a:p>
          <a:r>
            <a:rPr lang="en-US"/>
            <a:t>Distance-based privacy:  "Did the model 'memorize' a specific real subject, leading to a privacy leak?”</a:t>
          </a:r>
        </a:p>
      </dgm:t>
    </dgm:pt>
    <dgm:pt modelId="{9B8FBEE9-B9B2-433C-99A5-511BB069A7DD}" type="parTrans" cxnId="{F3A6067E-56C8-49C8-A7C9-0BFEFD5FC850}">
      <dgm:prSet/>
      <dgm:spPr/>
      <dgm:t>
        <a:bodyPr/>
        <a:lstStyle/>
        <a:p>
          <a:endParaRPr lang="en-US"/>
        </a:p>
      </dgm:t>
    </dgm:pt>
    <dgm:pt modelId="{84513A39-3FB8-4913-B2B9-1C229BB7308A}" type="sibTrans" cxnId="{F3A6067E-56C8-49C8-A7C9-0BFEFD5FC850}">
      <dgm:prSet/>
      <dgm:spPr/>
      <dgm:t>
        <a:bodyPr/>
        <a:lstStyle/>
        <a:p>
          <a:endParaRPr lang="en-US"/>
        </a:p>
      </dgm:t>
    </dgm:pt>
    <dgm:pt modelId="{43A6D446-A517-4BF9-A3C6-BC581655B34F}">
      <dgm:prSet/>
      <dgm:spPr/>
      <dgm:t>
        <a:bodyPr/>
        <a:lstStyle/>
        <a:p>
          <a:r>
            <a:rPr lang="en-US"/>
            <a:t>Attack-based privacy: Is the synthetic data model or released synthetic data robust? Let’s do some attacks and try them out</a:t>
          </a:r>
        </a:p>
      </dgm:t>
    </dgm:pt>
    <dgm:pt modelId="{2D406AF6-985E-4F4A-A438-3FD4447C9870}" type="parTrans" cxnId="{213428E0-2CCD-49B6-AC22-6DD623AE4904}">
      <dgm:prSet/>
      <dgm:spPr/>
      <dgm:t>
        <a:bodyPr/>
        <a:lstStyle/>
        <a:p>
          <a:endParaRPr lang="en-US"/>
        </a:p>
      </dgm:t>
    </dgm:pt>
    <dgm:pt modelId="{71DAB858-9788-4875-BF21-C4C5650A1DAB}" type="sibTrans" cxnId="{213428E0-2CCD-49B6-AC22-6DD623AE4904}">
      <dgm:prSet/>
      <dgm:spPr/>
      <dgm:t>
        <a:bodyPr/>
        <a:lstStyle/>
        <a:p>
          <a:endParaRPr lang="en-US"/>
        </a:p>
      </dgm:t>
    </dgm:pt>
    <dgm:pt modelId="{8D566205-14CF-C04F-AB7D-35E7173D41F6}" type="pres">
      <dgm:prSet presAssocID="{7EEC660B-E21B-4861-9936-21FDC3D0FCFE}" presName="hierChild1" presStyleCnt="0">
        <dgm:presLayoutVars>
          <dgm:chPref val="1"/>
          <dgm:dir/>
          <dgm:animOne val="branch"/>
          <dgm:animLvl val="lvl"/>
          <dgm:resizeHandles/>
        </dgm:presLayoutVars>
      </dgm:prSet>
      <dgm:spPr/>
    </dgm:pt>
    <dgm:pt modelId="{CD209ADF-6BC2-6C49-A618-033B946645C9}" type="pres">
      <dgm:prSet presAssocID="{2D41964A-FEAD-4800-AB6B-2DC15665883D}" presName="hierRoot1" presStyleCnt="0"/>
      <dgm:spPr/>
    </dgm:pt>
    <dgm:pt modelId="{0D409145-7E52-B244-BA3E-7DE3F95E2347}" type="pres">
      <dgm:prSet presAssocID="{2D41964A-FEAD-4800-AB6B-2DC15665883D}" presName="composite" presStyleCnt="0"/>
      <dgm:spPr/>
    </dgm:pt>
    <dgm:pt modelId="{B037C1F9-0D9B-F143-8A7E-9A3A6BD5DFDD}" type="pres">
      <dgm:prSet presAssocID="{2D41964A-FEAD-4800-AB6B-2DC15665883D}" presName="background" presStyleLbl="node0" presStyleIdx="0" presStyleCnt="2"/>
      <dgm:spPr/>
    </dgm:pt>
    <dgm:pt modelId="{98BF2D25-C9F7-6941-BE1E-75B4F76F45BD}" type="pres">
      <dgm:prSet presAssocID="{2D41964A-FEAD-4800-AB6B-2DC15665883D}" presName="text" presStyleLbl="fgAcc0" presStyleIdx="0" presStyleCnt="2">
        <dgm:presLayoutVars>
          <dgm:chPref val="3"/>
        </dgm:presLayoutVars>
      </dgm:prSet>
      <dgm:spPr/>
    </dgm:pt>
    <dgm:pt modelId="{C3114B8B-1E18-AF41-9319-FC0FB14BBECD}" type="pres">
      <dgm:prSet presAssocID="{2D41964A-FEAD-4800-AB6B-2DC15665883D}" presName="hierChild2" presStyleCnt="0"/>
      <dgm:spPr/>
    </dgm:pt>
    <dgm:pt modelId="{8ABEFFAF-90C0-0A4C-B933-17354E5AB1E1}" type="pres">
      <dgm:prSet presAssocID="{43A6D446-A517-4BF9-A3C6-BC581655B34F}" presName="hierRoot1" presStyleCnt="0"/>
      <dgm:spPr/>
    </dgm:pt>
    <dgm:pt modelId="{910A9E8C-23C2-9A49-B1E2-C32C49D222F8}" type="pres">
      <dgm:prSet presAssocID="{43A6D446-A517-4BF9-A3C6-BC581655B34F}" presName="composite" presStyleCnt="0"/>
      <dgm:spPr/>
    </dgm:pt>
    <dgm:pt modelId="{620CE9A7-19B1-8F49-9D57-7D49D4332C76}" type="pres">
      <dgm:prSet presAssocID="{43A6D446-A517-4BF9-A3C6-BC581655B34F}" presName="background" presStyleLbl="node0" presStyleIdx="1" presStyleCnt="2"/>
      <dgm:spPr/>
    </dgm:pt>
    <dgm:pt modelId="{156D6783-CAAE-A048-9B06-DCBFC8F82899}" type="pres">
      <dgm:prSet presAssocID="{43A6D446-A517-4BF9-A3C6-BC581655B34F}" presName="text" presStyleLbl="fgAcc0" presStyleIdx="1" presStyleCnt="2">
        <dgm:presLayoutVars>
          <dgm:chPref val="3"/>
        </dgm:presLayoutVars>
      </dgm:prSet>
      <dgm:spPr/>
    </dgm:pt>
    <dgm:pt modelId="{A7D4C711-E783-2742-9762-51798B7A6EAB}" type="pres">
      <dgm:prSet presAssocID="{43A6D446-A517-4BF9-A3C6-BC581655B34F}" presName="hierChild2" presStyleCnt="0"/>
      <dgm:spPr/>
    </dgm:pt>
  </dgm:ptLst>
  <dgm:cxnLst>
    <dgm:cxn modelId="{65F00F11-052D-9246-A4B3-C020AC08D482}" type="presOf" srcId="{43A6D446-A517-4BF9-A3C6-BC581655B34F}" destId="{156D6783-CAAE-A048-9B06-DCBFC8F82899}" srcOrd="0" destOrd="0" presId="urn:microsoft.com/office/officeart/2005/8/layout/hierarchy1"/>
    <dgm:cxn modelId="{F3A6067E-56C8-49C8-A7C9-0BFEFD5FC850}" srcId="{7EEC660B-E21B-4861-9936-21FDC3D0FCFE}" destId="{2D41964A-FEAD-4800-AB6B-2DC15665883D}" srcOrd="0" destOrd="0" parTransId="{9B8FBEE9-B9B2-433C-99A5-511BB069A7DD}" sibTransId="{84513A39-3FB8-4913-B2B9-1C229BB7308A}"/>
    <dgm:cxn modelId="{554B73A2-2641-444F-8111-30F42CCCEEC7}" type="presOf" srcId="{7EEC660B-E21B-4861-9936-21FDC3D0FCFE}" destId="{8D566205-14CF-C04F-AB7D-35E7173D41F6}" srcOrd="0" destOrd="0" presId="urn:microsoft.com/office/officeart/2005/8/layout/hierarchy1"/>
    <dgm:cxn modelId="{1E3DCEDE-DD69-9346-BFF1-C3863A4B1218}" type="presOf" srcId="{2D41964A-FEAD-4800-AB6B-2DC15665883D}" destId="{98BF2D25-C9F7-6941-BE1E-75B4F76F45BD}" srcOrd="0" destOrd="0" presId="urn:microsoft.com/office/officeart/2005/8/layout/hierarchy1"/>
    <dgm:cxn modelId="{213428E0-2CCD-49B6-AC22-6DD623AE4904}" srcId="{7EEC660B-E21B-4861-9936-21FDC3D0FCFE}" destId="{43A6D446-A517-4BF9-A3C6-BC581655B34F}" srcOrd="1" destOrd="0" parTransId="{2D406AF6-985E-4F4A-A438-3FD4447C9870}" sibTransId="{71DAB858-9788-4875-BF21-C4C5650A1DAB}"/>
    <dgm:cxn modelId="{E8BA901C-D794-314F-9810-5F2050CA832E}" type="presParOf" srcId="{8D566205-14CF-C04F-AB7D-35E7173D41F6}" destId="{CD209ADF-6BC2-6C49-A618-033B946645C9}" srcOrd="0" destOrd="0" presId="urn:microsoft.com/office/officeart/2005/8/layout/hierarchy1"/>
    <dgm:cxn modelId="{7C45C97F-121F-E343-A6B6-F3E30D93A2BB}" type="presParOf" srcId="{CD209ADF-6BC2-6C49-A618-033B946645C9}" destId="{0D409145-7E52-B244-BA3E-7DE3F95E2347}" srcOrd="0" destOrd="0" presId="urn:microsoft.com/office/officeart/2005/8/layout/hierarchy1"/>
    <dgm:cxn modelId="{F655C9C2-E0B5-B44E-AE50-8AD307B3438F}" type="presParOf" srcId="{0D409145-7E52-B244-BA3E-7DE3F95E2347}" destId="{B037C1F9-0D9B-F143-8A7E-9A3A6BD5DFDD}" srcOrd="0" destOrd="0" presId="urn:microsoft.com/office/officeart/2005/8/layout/hierarchy1"/>
    <dgm:cxn modelId="{9017672C-22AA-EE4A-A421-373781E0463D}" type="presParOf" srcId="{0D409145-7E52-B244-BA3E-7DE3F95E2347}" destId="{98BF2D25-C9F7-6941-BE1E-75B4F76F45BD}" srcOrd="1" destOrd="0" presId="urn:microsoft.com/office/officeart/2005/8/layout/hierarchy1"/>
    <dgm:cxn modelId="{7264EEE0-0498-BD42-B5E0-4F9448DBDE4B}" type="presParOf" srcId="{CD209ADF-6BC2-6C49-A618-033B946645C9}" destId="{C3114B8B-1E18-AF41-9319-FC0FB14BBECD}" srcOrd="1" destOrd="0" presId="urn:microsoft.com/office/officeart/2005/8/layout/hierarchy1"/>
    <dgm:cxn modelId="{B52DA052-E6AD-4B47-8882-53ADB0162D98}" type="presParOf" srcId="{8D566205-14CF-C04F-AB7D-35E7173D41F6}" destId="{8ABEFFAF-90C0-0A4C-B933-17354E5AB1E1}" srcOrd="1" destOrd="0" presId="urn:microsoft.com/office/officeart/2005/8/layout/hierarchy1"/>
    <dgm:cxn modelId="{26AD0609-46B0-8848-BC7C-FAB0762F4F0A}" type="presParOf" srcId="{8ABEFFAF-90C0-0A4C-B933-17354E5AB1E1}" destId="{910A9E8C-23C2-9A49-B1E2-C32C49D222F8}" srcOrd="0" destOrd="0" presId="urn:microsoft.com/office/officeart/2005/8/layout/hierarchy1"/>
    <dgm:cxn modelId="{C91B7662-AF5C-4749-A82F-A310C9E7643B}" type="presParOf" srcId="{910A9E8C-23C2-9A49-B1E2-C32C49D222F8}" destId="{620CE9A7-19B1-8F49-9D57-7D49D4332C76}" srcOrd="0" destOrd="0" presId="urn:microsoft.com/office/officeart/2005/8/layout/hierarchy1"/>
    <dgm:cxn modelId="{CB9AA862-9A94-FA45-B982-078C0560401C}" type="presParOf" srcId="{910A9E8C-23C2-9A49-B1E2-C32C49D222F8}" destId="{156D6783-CAAE-A048-9B06-DCBFC8F82899}" srcOrd="1" destOrd="0" presId="urn:microsoft.com/office/officeart/2005/8/layout/hierarchy1"/>
    <dgm:cxn modelId="{099355B9-1121-F349-B4F4-470BE8E68474}" type="presParOf" srcId="{8ABEFFAF-90C0-0A4C-B933-17354E5AB1E1}" destId="{A7D4C711-E783-2742-9762-51798B7A6EA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2F61E22-C754-4131-8F22-704642E98737}"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D48B225B-AF14-4BBE-A9A8-6FB064F13F46}">
      <dgm:prSet/>
      <dgm:spPr/>
      <dgm:t>
        <a:bodyPr/>
        <a:lstStyle/>
        <a:p>
          <a:r>
            <a:rPr lang="en-US"/>
            <a:t>What if AI-generated data accidentally leaks information about a patient?</a:t>
          </a:r>
        </a:p>
      </dgm:t>
    </dgm:pt>
    <dgm:pt modelId="{1F99BC13-94A2-465D-83CE-194B772C1E1E}" type="parTrans" cxnId="{4775A686-CA4F-42EB-B57C-5B71E9710D6B}">
      <dgm:prSet/>
      <dgm:spPr/>
      <dgm:t>
        <a:bodyPr/>
        <a:lstStyle/>
        <a:p>
          <a:endParaRPr lang="en-US"/>
        </a:p>
      </dgm:t>
    </dgm:pt>
    <dgm:pt modelId="{F3B9508B-4155-4511-9664-B2A7D64528AD}" type="sibTrans" cxnId="{4775A686-CA4F-42EB-B57C-5B71E9710D6B}">
      <dgm:prSet/>
      <dgm:spPr/>
      <dgm:t>
        <a:bodyPr/>
        <a:lstStyle/>
        <a:p>
          <a:endParaRPr lang="en-US"/>
        </a:p>
      </dgm:t>
    </dgm:pt>
    <dgm:pt modelId="{66A794D1-A0D4-475B-BA02-B20C3B6B60F3}">
      <dgm:prSet/>
      <dgm:spPr/>
      <dgm:t>
        <a:bodyPr/>
        <a:lstStyle/>
        <a:p>
          <a:r>
            <a:rPr lang="en-US"/>
            <a:t>What if the data is scattered across 5 different hospitals/institutions, and none of them can send the data to the others?</a:t>
          </a:r>
        </a:p>
      </dgm:t>
    </dgm:pt>
    <dgm:pt modelId="{22279D4C-D138-4A03-96E8-2B5ACD9A9FE1}" type="parTrans" cxnId="{44725340-4EE3-4E0C-9AAF-355C11C3DF5D}">
      <dgm:prSet/>
      <dgm:spPr/>
      <dgm:t>
        <a:bodyPr/>
        <a:lstStyle/>
        <a:p>
          <a:endParaRPr lang="en-US"/>
        </a:p>
      </dgm:t>
    </dgm:pt>
    <dgm:pt modelId="{F22A6FB5-CD15-4948-A959-8EA7E05F04D0}" type="sibTrans" cxnId="{44725340-4EE3-4E0C-9AAF-355C11C3DF5D}">
      <dgm:prSet/>
      <dgm:spPr/>
      <dgm:t>
        <a:bodyPr/>
        <a:lstStyle/>
        <a:p>
          <a:endParaRPr lang="en-US"/>
        </a:p>
      </dgm:t>
    </dgm:pt>
    <dgm:pt modelId="{828BE5E4-EED7-7C49-BAA7-9E61952D40D7}" type="pres">
      <dgm:prSet presAssocID="{62F61E22-C754-4131-8F22-704642E98737}" presName="hierChild1" presStyleCnt="0">
        <dgm:presLayoutVars>
          <dgm:chPref val="1"/>
          <dgm:dir/>
          <dgm:animOne val="branch"/>
          <dgm:animLvl val="lvl"/>
          <dgm:resizeHandles/>
        </dgm:presLayoutVars>
      </dgm:prSet>
      <dgm:spPr/>
    </dgm:pt>
    <dgm:pt modelId="{65CD614A-7CF8-3D4A-9BB4-367CD6CBD072}" type="pres">
      <dgm:prSet presAssocID="{D48B225B-AF14-4BBE-A9A8-6FB064F13F46}" presName="hierRoot1" presStyleCnt="0"/>
      <dgm:spPr/>
    </dgm:pt>
    <dgm:pt modelId="{BDC18210-3937-FF43-952E-70BC291C27A0}" type="pres">
      <dgm:prSet presAssocID="{D48B225B-AF14-4BBE-A9A8-6FB064F13F46}" presName="composite" presStyleCnt="0"/>
      <dgm:spPr/>
    </dgm:pt>
    <dgm:pt modelId="{8D14F531-27F7-8D41-804D-636461957D3C}" type="pres">
      <dgm:prSet presAssocID="{D48B225B-AF14-4BBE-A9A8-6FB064F13F46}" presName="background" presStyleLbl="node0" presStyleIdx="0" presStyleCnt="2"/>
      <dgm:spPr/>
    </dgm:pt>
    <dgm:pt modelId="{645EE985-5843-4240-9D20-7242A2D00EB4}" type="pres">
      <dgm:prSet presAssocID="{D48B225B-AF14-4BBE-A9A8-6FB064F13F46}" presName="text" presStyleLbl="fgAcc0" presStyleIdx="0" presStyleCnt="2">
        <dgm:presLayoutVars>
          <dgm:chPref val="3"/>
        </dgm:presLayoutVars>
      </dgm:prSet>
      <dgm:spPr/>
    </dgm:pt>
    <dgm:pt modelId="{4AD5F469-8CDC-8046-AF30-31A030DC6A96}" type="pres">
      <dgm:prSet presAssocID="{D48B225B-AF14-4BBE-A9A8-6FB064F13F46}" presName="hierChild2" presStyleCnt="0"/>
      <dgm:spPr/>
    </dgm:pt>
    <dgm:pt modelId="{9EAA6DDD-8FB3-ED46-A2F7-DBCE2977CBC7}" type="pres">
      <dgm:prSet presAssocID="{66A794D1-A0D4-475B-BA02-B20C3B6B60F3}" presName="hierRoot1" presStyleCnt="0"/>
      <dgm:spPr/>
    </dgm:pt>
    <dgm:pt modelId="{16DDA575-D310-E04C-AB5A-A904FFCBBCBF}" type="pres">
      <dgm:prSet presAssocID="{66A794D1-A0D4-475B-BA02-B20C3B6B60F3}" presName="composite" presStyleCnt="0"/>
      <dgm:spPr/>
    </dgm:pt>
    <dgm:pt modelId="{E386CDDD-AF94-194F-B191-61469217D534}" type="pres">
      <dgm:prSet presAssocID="{66A794D1-A0D4-475B-BA02-B20C3B6B60F3}" presName="background" presStyleLbl="node0" presStyleIdx="1" presStyleCnt="2"/>
      <dgm:spPr/>
    </dgm:pt>
    <dgm:pt modelId="{52EF8AF3-E087-1D4A-A31F-029995C0B277}" type="pres">
      <dgm:prSet presAssocID="{66A794D1-A0D4-475B-BA02-B20C3B6B60F3}" presName="text" presStyleLbl="fgAcc0" presStyleIdx="1" presStyleCnt="2">
        <dgm:presLayoutVars>
          <dgm:chPref val="3"/>
        </dgm:presLayoutVars>
      </dgm:prSet>
      <dgm:spPr/>
    </dgm:pt>
    <dgm:pt modelId="{B33B36A2-2E45-7B40-A713-BE36C1D4BD28}" type="pres">
      <dgm:prSet presAssocID="{66A794D1-A0D4-475B-BA02-B20C3B6B60F3}" presName="hierChild2" presStyleCnt="0"/>
      <dgm:spPr/>
    </dgm:pt>
  </dgm:ptLst>
  <dgm:cxnLst>
    <dgm:cxn modelId="{3A92C706-2185-9140-B38D-BEA8CE2FC8D0}" type="presOf" srcId="{66A794D1-A0D4-475B-BA02-B20C3B6B60F3}" destId="{52EF8AF3-E087-1D4A-A31F-029995C0B277}" srcOrd="0" destOrd="0" presId="urn:microsoft.com/office/officeart/2005/8/layout/hierarchy1"/>
    <dgm:cxn modelId="{44725340-4EE3-4E0C-9AAF-355C11C3DF5D}" srcId="{62F61E22-C754-4131-8F22-704642E98737}" destId="{66A794D1-A0D4-475B-BA02-B20C3B6B60F3}" srcOrd="1" destOrd="0" parTransId="{22279D4C-D138-4A03-96E8-2B5ACD9A9FE1}" sibTransId="{F22A6FB5-CD15-4948-A959-8EA7E05F04D0}"/>
    <dgm:cxn modelId="{74BE1746-0086-9742-B72B-1CF794047577}" type="presOf" srcId="{D48B225B-AF14-4BBE-A9A8-6FB064F13F46}" destId="{645EE985-5843-4240-9D20-7242A2D00EB4}" srcOrd="0" destOrd="0" presId="urn:microsoft.com/office/officeart/2005/8/layout/hierarchy1"/>
    <dgm:cxn modelId="{4F8ED16B-B310-754C-BEC2-DFADC779BD77}" type="presOf" srcId="{62F61E22-C754-4131-8F22-704642E98737}" destId="{828BE5E4-EED7-7C49-BAA7-9E61952D40D7}" srcOrd="0" destOrd="0" presId="urn:microsoft.com/office/officeart/2005/8/layout/hierarchy1"/>
    <dgm:cxn modelId="{4775A686-CA4F-42EB-B57C-5B71E9710D6B}" srcId="{62F61E22-C754-4131-8F22-704642E98737}" destId="{D48B225B-AF14-4BBE-A9A8-6FB064F13F46}" srcOrd="0" destOrd="0" parTransId="{1F99BC13-94A2-465D-83CE-194B772C1E1E}" sibTransId="{F3B9508B-4155-4511-9664-B2A7D64528AD}"/>
    <dgm:cxn modelId="{EED0E94D-4651-D24B-90DC-8FE55B051D53}" type="presParOf" srcId="{828BE5E4-EED7-7C49-BAA7-9E61952D40D7}" destId="{65CD614A-7CF8-3D4A-9BB4-367CD6CBD072}" srcOrd="0" destOrd="0" presId="urn:microsoft.com/office/officeart/2005/8/layout/hierarchy1"/>
    <dgm:cxn modelId="{1F59BAB2-95CA-1048-90B9-FEAE40EFEB7C}" type="presParOf" srcId="{65CD614A-7CF8-3D4A-9BB4-367CD6CBD072}" destId="{BDC18210-3937-FF43-952E-70BC291C27A0}" srcOrd="0" destOrd="0" presId="urn:microsoft.com/office/officeart/2005/8/layout/hierarchy1"/>
    <dgm:cxn modelId="{E2A33E27-BEFC-1D47-9375-BDBE49C75FD9}" type="presParOf" srcId="{BDC18210-3937-FF43-952E-70BC291C27A0}" destId="{8D14F531-27F7-8D41-804D-636461957D3C}" srcOrd="0" destOrd="0" presId="urn:microsoft.com/office/officeart/2005/8/layout/hierarchy1"/>
    <dgm:cxn modelId="{D5BDB708-3293-D54B-8E81-E4B912423261}" type="presParOf" srcId="{BDC18210-3937-FF43-952E-70BC291C27A0}" destId="{645EE985-5843-4240-9D20-7242A2D00EB4}" srcOrd="1" destOrd="0" presId="urn:microsoft.com/office/officeart/2005/8/layout/hierarchy1"/>
    <dgm:cxn modelId="{9C0B2F0A-A968-BE42-8F9C-0DA4657843E6}" type="presParOf" srcId="{65CD614A-7CF8-3D4A-9BB4-367CD6CBD072}" destId="{4AD5F469-8CDC-8046-AF30-31A030DC6A96}" srcOrd="1" destOrd="0" presId="urn:microsoft.com/office/officeart/2005/8/layout/hierarchy1"/>
    <dgm:cxn modelId="{581497DA-45CA-174A-872B-20113933EFDD}" type="presParOf" srcId="{828BE5E4-EED7-7C49-BAA7-9E61952D40D7}" destId="{9EAA6DDD-8FB3-ED46-A2F7-DBCE2977CBC7}" srcOrd="1" destOrd="0" presId="urn:microsoft.com/office/officeart/2005/8/layout/hierarchy1"/>
    <dgm:cxn modelId="{CA9B3155-1796-2646-9977-E06182CF7B14}" type="presParOf" srcId="{9EAA6DDD-8FB3-ED46-A2F7-DBCE2977CBC7}" destId="{16DDA575-D310-E04C-AB5A-A904FFCBBCBF}" srcOrd="0" destOrd="0" presId="urn:microsoft.com/office/officeart/2005/8/layout/hierarchy1"/>
    <dgm:cxn modelId="{F156B54B-EA56-0E4D-9D78-363B7021A9E0}" type="presParOf" srcId="{16DDA575-D310-E04C-AB5A-A904FFCBBCBF}" destId="{E386CDDD-AF94-194F-B191-61469217D534}" srcOrd="0" destOrd="0" presId="urn:microsoft.com/office/officeart/2005/8/layout/hierarchy1"/>
    <dgm:cxn modelId="{7A39D7CC-8F42-B943-85AC-A8DFAC090F72}" type="presParOf" srcId="{16DDA575-D310-E04C-AB5A-A904FFCBBCBF}" destId="{52EF8AF3-E087-1D4A-A31F-029995C0B277}" srcOrd="1" destOrd="0" presId="urn:microsoft.com/office/officeart/2005/8/layout/hierarchy1"/>
    <dgm:cxn modelId="{6057303F-078B-EE45-9C9E-5DE2A9B258DC}" type="presParOf" srcId="{9EAA6DDD-8FB3-ED46-A2F7-DBCE2977CBC7}" destId="{B33B36A2-2E45-7B40-A713-BE36C1D4BD2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FE22BDF-CF37-40AA-A9FB-14509049F892}"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9FD032A7-1513-45B5-AE08-D5DCAA933847}">
      <dgm:prSet/>
      <dgm:spPr/>
      <dgm:t>
        <a:bodyPr/>
        <a:lstStyle/>
        <a:p>
          <a:pPr>
            <a:lnSpc>
              <a:spcPct val="100000"/>
            </a:lnSpc>
          </a:pPr>
          <a:r>
            <a:rPr lang="en-GB"/>
            <a:t>Not Automatically Anonymous</a:t>
          </a:r>
          <a:r>
            <a:rPr lang="zh-CN"/>
            <a:t> </a:t>
          </a:r>
          <a:r>
            <a:rPr lang="en-US"/>
            <a:t>–</a:t>
          </a:r>
          <a:r>
            <a:rPr lang="zh-CN"/>
            <a:t> </a:t>
          </a:r>
          <a:r>
            <a:rPr lang="en-US"/>
            <a:t>overfitting problem </a:t>
          </a:r>
        </a:p>
      </dgm:t>
    </dgm:pt>
    <dgm:pt modelId="{24F9818E-E0AD-424F-A846-6AA0AE44AE67}" type="parTrans" cxnId="{BF01DFC0-FB92-4C4D-957B-BE3079A777CA}">
      <dgm:prSet/>
      <dgm:spPr/>
      <dgm:t>
        <a:bodyPr/>
        <a:lstStyle/>
        <a:p>
          <a:endParaRPr lang="en-US"/>
        </a:p>
      </dgm:t>
    </dgm:pt>
    <dgm:pt modelId="{505ADF29-E817-49F2-92E9-B0E8C7774463}" type="sibTrans" cxnId="{BF01DFC0-FB92-4C4D-957B-BE3079A777CA}">
      <dgm:prSet/>
      <dgm:spPr/>
      <dgm:t>
        <a:bodyPr/>
        <a:lstStyle/>
        <a:p>
          <a:pPr>
            <a:lnSpc>
              <a:spcPct val="100000"/>
            </a:lnSpc>
          </a:pPr>
          <a:endParaRPr lang="en-US"/>
        </a:p>
      </dgm:t>
    </dgm:pt>
    <dgm:pt modelId="{1061F93C-9960-4E36-8329-95105B3393F7}">
      <dgm:prSet/>
      <dgm:spPr/>
      <dgm:t>
        <a:bodyPr/>
        <a:lstStyle/>
        <a:p>
          <a:pPr>
            <a:lnSpc>
              <a:spcPct val="100000"/>
            </a:lnSpc>
          </a:pPr>
          <a:r>
            <a:rPr lang="en-GB"/>
            <a:t>Garbage In, Garbage Out &amp; Amplified Biases</a:t>
          </a:r>
          <a:endParaRPr lang="en-US"/>
        </a:p>
      </dgm:t>
    </dgm:pt>
    <dgm:pt modelId="{FE5F8440-8602-4545-AC3F-F9CA50B4EBA9}" type="parTrans" cxnId="{7F522796-D44E-444F-B7DA-6F4C9FFD091E}">
      <dgm:prSet/>
      <dgm:spPr/>
      <dgm:t>
        <a:bodyPr/>
        <a:lstStyle/>
        <a:p>
          <a:endParaRPr lang="en-US"/>
        </a:p>
      </dgm:t>
    </dgm:pt>
    <dgm:pt modelId="{72625D69-43DB-47AF-9F41-2D62C9A45150}" type="sibTrans" cxnId="{7F522796-D44E-444F-B7DA-6F4C9FFD091E}">
      <dgm:prSet/>
      <dgm:spPr/>
      <dgm:t>
        <a:bodyPr/>
        <a:lstStyle/>
        <a:p>
          <a:pPr>
            <a:lnSpc>
              <a:spcPct val="100000"/>
            </a:lnSpc>
          </a:pPr>
          <a:endParaRPr lang="en-US"/>
        </a:p>
      </dgm:t>
    </dgm:pt>
    <dgm:pt modelId="{031E989A-1047-4657-BB18-CA42A47C3B28}">
      <dgm:prSet/>
      <dgm:spPr/>
      <dgm:t>
        <a:bodyPr/>
        <a:lstStyle/>
        <a:p>
          <a:pPr>
            <a:lnSpc>
              <a:spcPct val="100000"/>
            </a:lnSpc>
          </a:pPr>
          <a:r>
            <a:rPr lang="en-GB" dirty="0"/>
            <a:t>Information Loss &amp; The "Ground Truth" Limit</a:t>
          </a:r>
          <a:endParaRPr lang="en-US" dirty="0"/>
        </a:p>
      </dgm:t>
    </dgm:pt>
    <dgm:pt modelId="{C3091977-650D-4B6E-B4EE-196CA3D5AFD2}" type="parTrans" cxnId="{3BA43CC6-FD1E-4E8D-933B-F224CC263BEE}">
      <dgm:prSet/>
      <dgm:spPr/>
      <dgm:t>
        <a:bodyPr/>
        <a:lstStyle/>
        <a:p>
          <a:endParaRPr lang="en-US"/>
        </a:p>
      </dgm:t>
    </dgm:pt>
    <dgm:pt modelId="{2C23E59B-826A-43CE-AF55-5BEF3E59169E}" type="sibTrans" cxnId="{3BA43CC6-FD1E-4E8D-933B-F224CC263BEE}">
      <dgm:prSet/>
      <dgm:spPr/>
      <dgm:t>
        <a:bodyPr/>
        <a:lstStyle/>
        <a:p>
          <a:pPr>
            <a:lnSpc>
              <a:spcPct val="100000"/>
            </a:lnSpc>
          </a:pPr>
          <a:endParaRPr lang="en-US"/>
        </a:p>
      </dgm:t>
    </dgm:pt>
    <dgm:pt modelId="{96082425-57D3-9144-9B72-383FF1CA504C}">
      <dgm:prSet phldrT="[Text]"/>
      <dgm:spPr/>
      <dgm:t>
        <a:bodyPr/>
        <a:lstStyle/>
        <a:p>
          <a:pPr>
            <a:lnSpc>
              <a:spcPct val="100000"/>
            </a:lnSpc>
            <a:buNone/>
          </a:pPr>
          <a:r>
            <a:rPr lang="en-GB" dirty="0"/>
            <a:t>Hallucination - LLM</a:t>
          </a:r>
        </a:p>
      </dgm:t>
    </dgm:pt>
    <dgm:pt modelId="{D923B54A-317F-5D40-B4C3-7E50BED78317}" type="parTrans" cxnId="{00A22C09-D0A1-F34B-9582-EF3C1427ADDA}">
      <dgm:prSet/>
      <dgm:spPr/>
      <dgm:t>
        <a:bodyPr/>
        <a:lstStyle/>
        <a:p>
          <a:endParaRPr lang="en-GB"/>
        </a:p>
      </dgm:t>
    </dgm:pt>
    <dgm:pt modelId="{4589C6CD-2224-B14B-8617-780B425E3CAE}" type="sibTrans" cxnId="{00A22C09-D0A1-F34B-9582-EF3C1427ADDA}">
      <dgm:prSet/>
      <dgm:spPr/>
      <dgm:t>
        <a:bodyPr/>
        <a:lstStyle/>
        <a:p>
          <a:endParaRPr lang="en-GB"/>
        </a:p>
      </dgm:t>
    </dgm:pt>
    <dgm:pt modelId="{5135B71A-8EFA-4E87-B1D7-BB8FD7916661}" type="pres">
      <dgm:prSet presAssocID="{0FE22BDF-CF37-40AA-A9FB-14509049F892}" presName="root" presStyleCnt="0">
        <dgm:presLayoutVars>
          <dgm:dir/>
          <dgm:resizeHandles val="exact"/>
        </dgm:presLayoutVars>
      </dgm:prSet>
      <dgm:spPr/>
    </dgm:pt>
    <dgm:pt modelId="{132D33F6-8B87-4A8B-9C7E-DE7ED7F357BF}" type="pres">
      <dgm:prSet presAssocID="{0FE22BDF-CF37-40AA-A9FB-14509049F892}" presName="container" presStyleCnt="0">
        <dgm:presLayoutVars>
          <dgm:dir/>
          <dgm:resizeHandles val="exact"/>
        </dgm:presLayoutVars>
      </dgm:prSet>
      <dgm:spPr/>
    </dgm:pt>
    <dgm:pt modelId="{F61C3894-A4F6-4818-A8C7-7DB5FA5B3BB2}" type="pres">
      <dgm:prSet presAssocID="{9FD032A7-1513-45B5-AE08-D5DCAA933847}" presName="compNode" presStyleCnt="0"/>
      <dgm:spPr/>
    </dgm:pt>
    <dgm:pt modelId="{4961E9D6-4610-4531-A48B-63595DF2EFDE}" type="pres">
      <dgm:prSet presAssocID="{9FD032A7-1513-45B5-AE08-D5DCAA933847}" presName="iconBgRect" presStyleLbl="bgShp" presStyleIdx="0" presStyleCnt="4"/>
      <dgm:spPr/>
    </dgm:pt>
    <dgm:pt modelId="{BE88FAF5-1D3D-4293-8FE6-A914B9CCB557}" type="pres">
      <dgm:prSet presAssocID="{9FD032A7-1513-45B5-AE08-D5DCAA933847}"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Warning"/>
        </a:ext>
      </dgm:extLst>
    </dgm:pt>
    <dgm:pt modelId="{4515F40E-7222-46CE-9355-493AFD7166E4}" type="pres">
      <dgm:prSet presAssocID="{9FD032A7-1513-45B5-AE08-D5DCAA933847}" presName="spaceRect" presStyleCnt="0"/>
      <dgm:spPr/>
    </dgm:pt>
    <dgm:pt modelId="{A8156209-0442-4C3D-AC26-EF26DF8069CD}" type="pres">
      <dgm:prSet presAssocID="{9FD032A7-1513-45B5-AE08-D5DCAA933847}" presName="textRect" presStyleLbl="revTx" presStyleIdx="0" presStyleCnt="4">
        <dgm:presLayoutVars>
          <dgm:chMax val="1"/>
          <dgm:chPref val="1"/>
        </dgm:presLayoutVars>
      </dgm:prSet>
      <dgm:spPr/>
    </dgm:pt>
    <dgm:pt modelId="{5C9F52B7-77F3-41BD-A0C8-00B2A715A456}" type="pres">
      <dgm:prSet presAssocID="{505ADF29-E817-49F2-92E9-B0E8C7774463}" presName="sibTrans" presStyleLbl="sibTrans2D1" presStyleIdx="0" presStyleCnt="0"/>
      <dgm:spPr/>
    </dgm:pt>
    <dgm:pt modelId="{6FA5A710-13E7-4B6B-891A-235B86218E27}" type="pres">
      <dgm:prSet presAssocID="{1061F93C-9960-4E36-8329-95105B3393F7}" presName="compNode" presStyleCnt="0"/>
      <dgm:spPr/>
    </dgm:pt>
    <dgm:pt modelId="{A603BC1F-2999-44E8-9A47-7C50C3A9F12A}" type="pres">
      <dgm:prSet presAssocID="{1061F93C-9960-4E36-8329-95105B3393F7}" presName="iconBgRect" presStyleLbl="bgShp" presStyleIdx="1" presStyleCnt="4"/>
      <dgm:spPr/>
    </dgm:pt>
    <dgm:pt modelId="{965483FE-FB16-402D-8DD2-8B63447E09B1}" type="pres">
      <dgm:prSet presAssocID="{1061F93C-9960-4E36-8329-95105B3393F7}"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ubbish"/>
        </a:ext>
      </dgm:extLst>
    </dgm:pt>
    <dgm:pt modelId="{C5316A45-2A1A-4099-9C55-F31B4DF570DE}" type="pres">
      <dgm:prSet presAssocID="{1061F93C-9960-4E36-8329-95105B3393F7}" presName="spaceRect" presStyleCnt="0"/>
      <dgm:spPr/>
    </dgm:pt>
    <dgm:pt modelId="{E876352B-50D1-4D84-A77D-260E1F416444}" type="pres">
      <dgm:prSet presAssocID="{1061F93C-9960-4E36-8329-95105B3393F7}" presName="textRect" presStyleLbl="revTx" presStyleIdx="1" presStyleCnt="4">
        <dgm:presLayoutVars>
          <dgm:chMax val="1"/>
          <dgm:chPref val="1"/>
        </dgm:presLayoutVars>
      </dgm:prSet>
      <dgm:spPr/>
    </dgm:pt>
    <dgm:pt modelId="{1F3E17CA-8697-4B69-AED9-79D7E0EA3706}" type="pres">
      <dgm:prSet presAssocID="{72625D69-43DB-47AF-9F41-2D62C9A45150}" presName="sibTrans" presStyleLbl="sibTrans2D1" presStyleIdx="0" presStyleCnt="0"/>
      <dgm:spPr/>
    </dgm:pt>
    <dgm:pt modelId="{70B2E7ED-881B-46F2-99B2-45F2E6A20AB1}" type="pres">
      <dgm:prSet presAssocID="{031E989A-1047-4657-BB18-CA42A47C3B28}" presName="compNode" presStyleCnt="0"/>
      <dgm:spPr/>
    </dgm:pt>
    <dgm:pt modelId="{F9751EB0-460C-4B2D-9A4F-6081BFB0FF2B}" type="pres">
      <dgm:prSet presAssocID="{031E989A-1047-4657-BB18-CA42A47C3B28}" presName="iconBgRect" presStyleLbl="bgShp" presStyleIdx="2" presStyleCnt="4"/>
      <dgm:spPr/>
    </dgm:pt>
    <dgm:pt modelId="{0E76725F-A128-44AB-9C59-EF08963CC35A}" type="pres">
      <dgm:prSet presAssocID="{031E989A-1047-4657-BB18-CA42A47C3B28}"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Target Audience"/>
        </a:ext>
      </dgm:extLst>
    </dgm:pt>
    <dgm:pt modelId="{1E4E1701-BDB8-4734-96AB-66710547D38C}" type="pres">
      <dgm:prSet presAssocID="{031E989A-1047-4657-BB18-CA42A47C3B28}" presName="spaceRect" presStyleCnt="0"/>
      <dgm:spPr/>
    </dgm:pt>
    <dgm:pt modelId="{E8267808-1188-454B-A727-C5D9E01C9971}" type="pres">
      <dgm:prSet presAssocID="{031E989A-1047-4657-BB18-CA42A47C3B28}" presName="textRect" presStyleLbl="revTx" presStyleIdx="2" presStyleCnt="4">
        <dgm:presLayoutVars>
          <dgm:chMax val="1"/>
          <dgm:chPref val="1"/>
        </dgm:presLayoutVars>
      </dgm:prSet>
      <dgm:spPr/>
    </dgm:pt>
    <dgm:pt modelId="{6523BC08-AE1B-2942-99CF-7EC8F7F5E352}" type="pres">
      <dgm:prSet presAssocID="{2C23E59B-826A-43CE-AF55-5BEF3E59169E}" presName="sibTrans" presStyleLbl="sibTrans2D1" presStyleIdx="0" presStyleCnt="0"/>
      <dgm:spPr/>
    </dgm:pt>
    <dgm:pt modelId="{96803EF6-62FA-8944-8F4A-1FB48025C8C8}" type="pres">
      <dgm:prSet presAssocID="{96082425-57D3-9144-9B72-383FF1CA504C}" presName="compNode" presStyleCnt="0"/>
      <dgm:spPr/>
    </dgm:pt>
    <dgm:pt modelId="{D63CA02F-6D5B-7841-BBD0-18BED5F8AF93}" type="pres">
      <dgm:prSet presAssocID="{96082425-57D3-9144-9B72-383FF1CA504C}" presName="iconBgRect" presStyleLbl="bgShp" presStyleIdx="3" presStyleCnt="4"/>
      <dgm:spPr/>
    </dgm:pt>
    <dgm:pt modelId="{D1517F91-E6E0-F84C-B0DB-8AAEC30FC8FE}" type="pres">
      <dgm:prSet presAssocID="{96082425-57D3-9144-9B72-383FF1CA504C}" presName="iconRect" presStyleLbl="node1" presStyleIdx="3" presStyleCnt="4"/>
      <dgm:spPr/>
    </dgm:pt>
    <dgm:pt modelId="{2EE26F67-DFB8-0A48-87B0-3BF779F6EC95}" type="pres">
      <dgm:prSet presAssocID="{96082425-57D3-9144-9B72-383FF1CA504C}" presName="spaceRect" presStyleCnt="0"/>
      <dgm:spPr/>
    </dgm:pt>
    <dgm:pt modelId="{51AA7C18-D840-B741-8C05-5F0D910651E9}" type="pres">
      <dgm:prSet presAssocID="{96082425-57D3-9144-9B72-383FF1CA504C}" presName="textRect" presStyleLbl="revTx" presStyleIdx="3" presStyleCnt="4">
        <dgm:presLayoutVars>
          <dgm:chMax val="1"/>
          <dgm:chPref val="1"/>
        </dgm:presLayoutVars>
      </dgm:prSet>
      <dgm:spPr/>
    </dgm:pt>
  </dgm:ptLst>
  <dgm:cxnLst>
    <dgm:cxn modelId="{00A22C09-D0A1-F34B-9582-EF3C1427ADDA}" srcId="{0FE22BDF-CF37-40AA-A9FB-14509049F892}" destId="{96082425-57D3-9144-9B72-383FF1CA504C}" srcOrd="3" destOrd="0" parTransId="{D923B54A-317F-5D40-B4C3-7E50BED78317}" sibTransId="{4589C6CD-2224-B14B-8617-780B425E3CAE}"/>
    <dgm:cxn modelId="{3521B60A-B6D4-A846-845E-A43CDCF8CC35}" type="presOf" srcId="{96082425-57D3-9144-9B72-383FF1CA504C}" destId="{51AA7C18-D840-B741-8C05-5F0D910651E9}" srcOrd="0" destOrd="0" presId="urn:microsoft.com/office/officeart/2018/2/layout/IconCircleList"/>
    <dgm:cxn modelId="{F59A9A0C-26C3-420C-972A-2703D37FA228}" type="presOf" srcId="{72625D69-43DB-47AF-9F41-2D62C9A45150}" destId="{1F3E17CA-8697-4B69-AED9-79D7E0EA3706}" srcOrd="0" destOrd="0" presId="urn:microsoft.com/office/officeart/2018/2/layout/IconCircleList"/>
    <dgm:cxn modelId="{4BFA6719-AD5E-4165-909F-3943F983E47B}" type="presOf" srcId="{1061F93C-9960-4E36-8329-95105B3393F7}" destId="{E876352B-50D1-4D84-A77D-260E1F416444}" srcOrd="0" destOrd="0" presId="urn:microsoft.com/office/officeart/2018/2/layout/IconCircleList"/>
    <dgm:cxn modelId="{AFD8BF55-BB33-4D43-B248-4D463D1F9863}" type="presOf" srcId="{505ADF29-E817-49F2-92E9-B0E8C7774463}" destId="{5C9F52B7-77F3-41BD-A0C8-00B2A715A456}" srcOrd="0" destOrd="0" presId="urn:microsoft.com/office/officeart/2018/2/layout/IconCircleList"/>
    <dgm:cxn modelId="{7F522796-D44E-444F-B7DA-6F4C9FFD091E}" srcId="{0FE22BDF-CF37-40AA-A9FB-14509049F892}" destId="{1061F93C-9960-4E36-8329-95105B3393F7}" srcOrd="1" destOrd="0" parTransId="{FE5F8440-8602-4545-AC3F-F9CA50B4EBA9}" sibTransId="{72625D69-43DB-47AF-9F41-2D62C9A45150}"/>
    <dgm:cxn modelId="{49DC9798-EA39-4DDE-8FFD-8585A061F72E}" type="presOf" srcId="{0FE22BDF-CF37-40AA-A9FB-14509049F892}" destId="{5135B71A-8EFA-4E87-B1D7-BB8FD7916661}" srcOrd="0" destOrd="0" presId="urn:microsoft.com/office/officeart/2018/2/layout/IconCircleList"/>
    <dgm:cxn modelId="{E075079F-2A87-4562-9B54-0B8D23B734A8}" type="presOf" srcId="{031E989A-1047-4657-BB18-CA42A47C3B28}" destId="{E8267808-1188-454B-A727-C5D9E01C9971}" srcOrd="0" destOrd="0" presId="urn:microsoft.com/office/officeart/2018/2/layout/IconCircleList"/>
    <dgm:cxn modelId="{BF01DFC0-FB92-4C4D-957B-BE3079A777CA}" srcId="{0FE22BDF-CF37-40AA-A9FB-14509049F892}" destId="{9FD032A7-1513-45B5-AE08-D5DCAA933847}" srcOrd="0" destOrd="0" parTransId="{24F9818E-E0AD-424F-A846-6AA0AE44AE67}" sibTransId="{505ADF29-E817-49F2-92E9-B0E8C7774463}"/>
    <dgm:cxn modelId="{3BA43CC6-FD1E-4E8D-933B-F224CC263BEE}" srcId="{0FE22BDF-CF37-40AA-A9FB-14509049F892}" destId="{031E989A-1047-4657-BB18-CA42A47C3B28}" srcOrd="2" destOrd="0" parTransId="{C3091977-650D-4B6E-B4EE-196CA3D5AFD2}" sibTransId="{2C23E59B-826A-43CE-AF55-5BEF3E59169E}"/>
    <dgm:cxn modelId="{8E7735F7-DD6B-493F-8B5E-EA1513166F2A}" type="presOf" srcId="{9FD032A7-1513-45B5-AE08-D5DCAA933847}" destId="{A8156209-0442-4C3D-AC26-EF26DF8069CD}" srcOrd="0" destOrd="0" presId="urn:microsoft.com/office/officeart/2018/2/layout/IconCircleList"/>
    <dgm:cxn modelId="{4D9307FA-D869-6B42-A53E-59CC279287C1}" type="presOf" srcId="{2C23E59B-826A-43CE-AF55-5BEF3E59169E}" destId="{6523BC08-AE1B-2942-99CF-7EC8F7F5E352}" srcOrd="0" destOrd="0" presId="urn:microsoft.com/office/officeart/2018/2/layout/IconCircleList"/>
    <dgm:cxn modelId="{676BB6E7-243A-4EE5-9EB3-DB4EA97E8899}" type="presParOf" srcId="{5135B71A-8EFA-4E87-B1D7-BB8FD7916661}" destId="{132D33F6-8B87-4A8B-9C7E-DE7ED7F357BF}" srcOrd="0" destOrd="0" presId="urn:microsoft.com/office/officeart/2018/2/layout/IconCircleList"/>
    <dgm:cxn modelId="{DD1D392F-65C5-474C-8DAF-A9A99708D672}" type="presParOf" srcId="{132D33F6-8B87-4A8B-9C7E-DE7ED7F357BF}" destId="{F61C3894-A4F6-4818-A8C7-7DB5FA5B3BB2}" srcOrd="0" destOrd="0" presId="urn:microsoft.com/office/officeart/2018/2/layout/IconCircleList"/>
    <dgm:cxn modelId="{41CCDCA4-B51F-439C-8571-C71E17B60A56}" type="presParOf" srcId="{F61C3894-A4F6-4818-A8C7-7DB5FA5B3BB2}" destId="{4961E9D6-4610-4531-A48B-63595DF2EFDE}" srcOrd="0" destOrd="0" presId="urn:microsoft.com/office/officeart/2018/2/layout/IconCircleList"/>
    <dgm:cxn modelId="{53DFEFC5-DF9F-42B1-8E5D-7F757A7D5314}" type="presParOf" srcId="{F61C3894-A4F6-4818-A8C7-7DB5FA5B3BB2}" destId="{BE88FAF5-1D3D-4293-8FE6-A914B9CCB557}" srcOrd="1" destOrd="0" presId="urn:microsoft.com/office/officeart/2018/2/layout/IconCircleList"/>
    <dgm:cxn modelId="{1BC142D3-8E0D-4011-9388-C4289F84A805}" type="presParOf" srcId="{F61C3894-A4F6-4818-A8C7-7DB5FA5B3BB2}" destId="{4515F40E-7222-46CE-9355-493AFD7166E4}" srcOrd="2" destOrd="0" presId="urn:microsoft.com/office/officeart/2018/2/layout/IconCircleList"/>
    <dgm:cxn modelId="{BCBD7FDD-283F-457C-9F2F-B1636D501C2F}" type="presParOf" srcId="{F61C3894-A4F6-4818-A8C7-7DB5FA5B3BB2}" destId="{A8156209-0442-4C3D-AC26-EF26DF8069CD}" srcOrd="3" destOrd="0" presId="urn:microsoft.com/office/officeart/2018/2/layout/IconCircleList"/>
    <dgm:cxn modelId="{E26F3C97-EC03-4C6E-9B34-FB9079DF3978}" type="presParOf" srcId="{132D33F6-8B87-4A8B-9C7E-DE7ED7F357BF}" destId="{5C9F52B7-77F3-41BD-A0C8-00B2A715A456}" srcOrd="1" destOrd="0" presId="urn:microsoft.com/office/officeart/2018/2/layout/IconCircleList"/>
    <dgm:cxn modelId="{B633F7E1-CD48-495B-B668-671FFDA2111E}" type="presParOf" srcId="{132D33F6-8B87-4A8B-9C7E-DE7ED7F357BF}" destId="{6FA5A710-13E7-4B6B-891A-235B86218E27}" srcOrd="2" destOrd="0" presId="urn:microsoft.com/office/officeart/2018/2/layout/IconCircleList"/>
    <dgm:cxn modelId="{C6EE3FE7-EF97-4D02-A80A-5F7676A1EFE4}" type="presParOf" srcId="{6FA5A710-13E7-4B6B-891A-235B86218E27}" destId="{A603BC1F-2999-44E8-9A47-7C50C3A9F12A}" srcOrd="0" destOrd="0" presId="urn:microsoft.com/office/officeart/2018/2/layout/IconCircleList"/>
    <dgm:cxn modelId="{232086B5-42A7-42D3-B542-F6CD6D3DDBA8}" type="presParOf" srcId="{6FA5A710-13E7-4B6B-891A-235B86218E27}" destId="{965483FE-FB16-402D-8DD2-8B63447E09B1}" srcOrd="1" destOrd="0" presId="urn:microsoft.com/office/officeart/2018/2/layout/IconCircleList"/>
    <dgm:cxn modelId="{112C0BA9-4287-4F6B-AB40-990B748818CF}" type="presParOf" srcId="{6FA5A710-13E7-4B6B-891A-235B86218E27}" destId="{C5316A45-2A1A-4099-9C55-F31B4DF570DE}" srcOrd="2" destOrd="0" presId="urn:microsoft.com/office/officeart/2018/2/layout/IconCircleList"/>
    <dgm:cxn modelId="{64000811-E172-4306-8248-A3DBA8845F1F}" type="presParOf" srcId="{6FA5A710-13E7-4B6B-891A-235B86218E27}" destId="{E876352B-50D1-4D84-A77D-260E1F416444}" srcOrd="3" destOrd="0" presId="urn:microsoft.com/office/officeart/2018/2/layout/IconCircleList"/>
    <dgm:cxn modelId="{05E3DD31-97F1-4502-AF8D-5B2026C6B0B9}" type="presParOf" srcId="{132D33F6-8B87-4A8B-9C7E-DE7ED7F357BF}" destId="{1F3E17CA-8697-4B69-AED9-79D7E0EA3706}" srcOrd="3" destOrd="0" presId="urn:microsoft.com/office/officeart/2018/2/layout/IconCircleList"/>
    <dgm:cxn modelId="{2165C8AA-C5D6-4D21-97D5-51A890302F46}" type="presParOf" srcId="{132D33F6-8B87-4A8B-9C7E-DE7ED7F357BF}" destId="{70B2E7ED-881B-46F2-99B2-45F2E6A20AB1}" srcOrd="4" destOrd="0" presId="urn:microsoft.com/office/officeart/2018/2/layout/IconCircleList"/>
    <dgm:cxn modelId="{BDE04AC6-E3F8-41E1-B73D-B006D051D5B4}" type="presParOf" srcId="{70B2E7ED-881B-46F2-99B2-45F2E6A20AB1}" destId="{F9751EB0-460C-4B2D-9A4F-6081BFB0FF2B}" srcOrd="0" destOrd="0" presId="urn:microsoft.com/office/officeart/2018/2/layout/IconCircleList"/>
    <dgm:cxn modelId="{8DE53FD0-8AA1-4F48-AB2A-0BBC1D11033F}" type="presParOf" srcId="{70B2E7ED-881B-46F2-99B2-45F2E6A20AB1}" destId="{0E76725F-A128-44AB-9C59-EF08963CC35A}" srcOrd="1" destOrd="0" presId="urn:microsoft.com/office/officeart/2018/2/layout/IconCircleList"/>
    <dgm:cxn modelId="{5F228062-D20F-48EA-BC39-FCAAC1500119}" type="presParOf" srcId="{70B2E7ED-881B-46F2-99B2-45F2E6A20AB1}" destId="{1E4E1701-BDB8-4734-96AB-66710547D38C}" srcOrd="2" destOrd="0" presId="urn:microsoft.com/office/officeart/2018/2/layout/IconCircleList"/>
    <dgm:cxn modelId="{E215C339-D94B-476C-B16B-915E7306D743}" type="presParOf" srcId="{70B2E7ED-881B-46F2-99B2-45F2E6A20AB1}" destId="{E8267808-1188-454B-A727-C5D9E01C9971}" srcOrd="3" destOrd="0" presId="urn:microsoft.com/office/officeart/2018/2/layout/IconCircleList"/>
    <dgm:cxn modelId="{9740E930-8F13-C24A-91E4-DA2A665EA388}" type="presParOf" srcId="{132D33F6-8B87-4A8B-9C7E-DE7ED7F357BF}" destId="{6523BC08-AE1B-2942-99CF-7EC8F7F5E352}" srcOrd="5" destOrd="0" presId="urn:microsoft.com/office/officeart/2018/2/layout/IconCircleList"/>
    <dgm:cxn modelId="{BDB808E6-330E-2642-B3AF-44A1978EABFC}" type="presParOf" srcId="{132D33F6-8B87-4A8B-9C7E-DE7ED7F357BF}" destId="{96803EF6-62FA-8944-8F4A-1FB48025C8C8}" srcOrd="6" destOrd="0" presId="urn:microsoft.com/office/officeart/2018/2/layout/IconCircleList"/>
    <dgm:cxn modelId="{0BA200BB-FF95-F046-B52D-831048EE954F}" type="presParOf" srcId="{96803EF6-62FA-8944-8F4A-1FB48025C8C8}" destId="{D63CA02F-6D5B-7841-BBD0-18BED5F8AF93}" srcOrd="0" destOrd="0" presId="urn:microsoft.com/office/officeart/2018/2/layout/IconCircleList"/>
    <dgm:cxn modelId="{A68D6308-F321-4E41-926C-209BE4A7915A}" type="presParOf" srcId="{96803EF6-62FA-8944-8F4A-1FB48025C8C8}" destId="{D1517F91-E6E0-F84C-B0DB-8AAEC30FC8FE}" srcOrd="1" destOrd="0" presId="urn:microsoft.com/office/officeart/2018/2/layout/IconCircleList"/>
    <dgm:cxn modelId="{F79BB1A4-BF8B-CD41-9325-29979D18DF27}" type="presParOf" srcId="{96803EF6-62FA-8944-8F4A-1FB48025C8C8}" destId="{2EE26F67-DFB8-0A48-87B0-3BF779F6EC95}" srcOrd="2" destOrd="0" presId="urn:microsoft.com/office/officeart/2018/2/layout/IconCircleList"/>
    <dgm:cxn modelId="{3AF3EBDE-B4F6-9448-8873-C55F52E017DD}" type="presParOf" srcId="{96803EF6-62FA-8944-8F4A-1FB48025C8C8}" destId="{51AA7C18-D840-B741-8C05-5F0D910651E9}"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777D38-6D75-4E43-8700-C6F6E89FBD2C}">
      <dsp:nvSpPr>
        <dsp:cNvPr id="0" name=""/>
        <dsp:cNvSpPr/>
      </dsp:nvSpPr>
      <dsp:spPr>
        <a:xfrm>
          <a:off x="3861342" y="43702"/>
          <a:ext cx="2097721" cy="2097721"/>
        </a:xfrm>
        <a:prstGeom prst="ellipse">
          <a:avLst/>
        </a:prstGeom>
        <a:solidFill>
          <a:schemeClr val="accent4">
            <a:shade val="80000"/>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2200" kern="1200"/>
            <a:t>Cost saving</a:t>
          </a:r>
          <a:endParaRPr lang="en-GB" sz="2200" kern="1200"/>
        </a:p>
      </dsp:txBody>
      <dsp:txXfrm>
        <a:off x="4141038" y="410803"/>
        <a:ext cx="1538329" cy="943974"/>
      </dsp:txXfrm>
    </dsp:sp>
    <dsp:sp modelId="{E4D56AF0-A260-CD41-A5EA-6539EB7216A0}">
      <dsp:nvSpPr>
        <dsp:cNvPr id="0" name=""/>
        <dsp:cNvSpPr/>
      </dsp:nvSpPr>
      <dsp:spPr>
        <a:xfrm>
          <a:off x="4618270" y="1354778"/>
          <a:ext cx="2097721" cy="2097721"/>
        </a:xfrm>
        <a:prstGeom prst="ellipse">
          <a:avLst/>
        </a:prstGeom>
        <a:solidFill>
          <a:schemeClr val="accent4">
            <a:shade val="80000"/>
            <a:alpha val="50000"/>
            <a:hueOff val="-247428"/>
            <a:satOff val="9093"/>
            <a:lumOff val="139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2200" kern="1200" dirty="0"/>
            <a:t>Reduce bias</a:t>
          </a:r>
          <a:endParaRPr lang="en-GB" sz="2200" kern="1200" dirty="0"/>
        </a:p>
      </dsp:txBody>
      <dsp:txXfrm>
        <a:off x="5259823" y="1896690"/>
        <a:ext cx="1258633" cy="1153746"/>
      </dsp:txXfrm>
    </dsp:sp>
    <dsp:sp modelId="{7F93AD8F-6E2B-8442-A042-2730F7B4104D}">
      <dsp:nvSpPr>
        <dsp:cNvPr id="0" name=""/>
        <dsp:cNvSpPr/>
      </dsp:nvSpPr>
      <dsp:spPr>
        <a:xfrm>
          <a:off x="3104414" y="1354778"/>
          <a:ext cx="2097721" cy="2097721"/>
        </a:xfrm>
        <a:prstGeom prst="ellipse">
          <a:avLst/>
        </a:prstGeom>
        <a:solidFill>
          <a:schemeClr val="accent4">
            <a:shade val="80000"/>
            <a:alpha val="50000"/>
            <a:hueOff val="-494856"/>
            <a:satOff val="18185"/>
            <a:lumOff val="2785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r>
            <a:rPr lang="en-US" sz="2200" kern="1200"/>
            <a:t>Privacy protection</a:t>
          </a:r>
          <a:endParaRPr lang="en-GB" sz="2200" kern="1200"/>
        </a:p>
      </dsp:txBody>
      <dsp:txXfrm>
        <a:off x="3301949" y="1896690"/>
        <a:ext cx="1258633" cy="11537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3C78F0-5D04-DC44-99E0-EB7CC476BFEF}">
      <dsp:nvSpPr>
        <dsp:cNvPr id="0" name=""/>
        <dsp:cNvSpPr/>
      </dsp:nvSpPr>
      <dsp:spPr>
        <a:xfrm>
          <a:off x="0" y="0"/>
          <a:ext cx="6057900"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91BE94-93A8-8842-9CE8-EBF3A4359299}">
      <dsp:nvSpPr>
        <dsp:cNvPr id="0" name=""/>
        <dsp:cNvSpPr/>
      </dsp:nvSpPr>
      <dsp:spPr>
        <a:xfrm>
          <a:off x="0" y="0"/>
          <a:ext cx="6057900" cy="1257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Representative algorithms: Gaussian Copulas, Bayesian Networks, Conditional Independent Models.</a:t>
          </a:r>
        </a:p>
      </dsp:txBody>
      <dsp:txXfrm>
        <a:off x="0" y="0"/>
        <a:ext cx="6057900" cy="1257300"/>
      </dsp:txXfrm>
    </dsp:sp>
    <dsp:sp modelId="{773D49FE-77C6-7344-AF84-47A1AF7F2127}">
      <dsp:nvSpPr>
        <dsp:cNvPr id="0" name=""/>
        <dsp:cNvSpPr/>
      </dsp:nvSpPr>
      <dsp:spPr>
        <a:xfrm>
          <a:off x="0" y="1257300"/>
          <a:ext cx="6057900" cy="0"/>
        </a:xfrm>
        <a:prstGeom prst="line">
          <a:avLst/>
        </a:prstGeom>
        <a:solidFill>
          <a:schemeClr val="accent5">
            <a:hueOff val="6153944"/>
            <a:satOff val="-13743"/>
            <a:lumOff val="196"/>
            <a:alphaOff val="0"/>
          </a:schemeClr>
        </a:solidFill>
        <a:ln w="12700" cap="flat" cmpd="sng" algn="ctr">
          <a:solidFill>
            <a:schemeClr val="accent5">
              <a:hueOff val="6153944"/>
              <a:satOff val="-13743"/>
              <a:lumOff val="1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91B328-4D49-4348-A6B2-828CF32E1D10}">
      <dsp:nvSpPr>
        <dsp:cNvPr id="0" name=""/>
        <dsp:cNvSpPr/>
      </dsp:nvSpPr>
      <dsp:spPr>
        <a:xfrm>
          <a:off x="0" y="1257300"/>
          <a:ext cx="6057900" cy="1257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Working principle: Fits the marginal distribution and covariance matrix of the original data, then randomly samples from them.</a:t>
          </a:r>
        </a:p>
      </dsp:txBody>
      <dsp:txXfrm>
        <a:off x="0" y="1257300"/>
        <a:ext cx="6057900" cy="1257300"/>
      </dsp:txXfrm>
    </dsp:sp>
    <dsp:sp modelId="{13823A1C-3FC0-9648-82F1-E6DCA908024E}">
      <dsp:nvSpPr>
        <dsp:cNvPr id="0" name=""/>
        <dsp:cNvSpPr/>
      </dsp:nvSpPr>
      <dsp:spPr>
        <a:xfrm>
          <a:off x="0" y="2514600"/>
          <a:ext cx="6057900" cy="0"/>
        </a:xfrm>
        <a:prstGeom prst="line">
          <a:avLst/>
        </a:prstGeom>
        <a:solidFill>
          <a:schemeClr val="accent5">
            <a:hueOff val="12307888"/>
            <a:satOff val="-27487"/>
            <a:lumOff val="393"/>
            <a:alphaOff val="0"/>
          </a:schemeClr>
        </a:solidFill>
        <a:ln w="12700" cap="flat" cmpd="sng" algn="ctr">
          <a:solidFill>
            <a:schemeClr val="accent5">
              <a:hueOff val="12307888"/>
              <a:satOff val="-27487"/>
              <a:lumOff val="3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74DD2F-D574-254B-8A19-D06EBDFF7C8E}">
      <dsp:nvSpPr>
        <dsp:cNvPr id="0" name=""/>
        <dsp:cNvSpPr/>
      </dsp:nvSpPr>
      <dsp:spPr>
        <a:xfrm>
          <a:off x="0" y="2514600"/>
          <a:ext cx="6057900" cy="1257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Applicable scenarios: tabular data.</a:t>
          </a:r>
        </a:p>
      </dsp:txBody>
      <dsp:txXfrm>
        <a:off x="0" y="2514600"/>
        <a:ext cx="6057900" cy="1257300"/>
      </dsp:txXfrm>
    </dsp:sp>
    <dsp:sp modelId="{7748EB9C-2FF7-564C-88E4-1F24BC09ADB1}">
      <dsp:nvSpPr>
        <dsp:cNvPr id="0" name=""/>
        <dsp:cNvSpPr/>
      </dsp:nvSpPr>
      <dsp:spPr>
        <a:xfrm>
          <a:off x="0" y="3771900"/>
          <a:ext cx="6057900" cy="0"/>
        </a:xfrm>
        <a:prstGeom prst="line">
          <a:avLst/>
        </a:prstGeom>
        <a:solidFill>
          <a:schemeClr val="accent5">
            <a:hueOff val="18461832"/>
            <a:satOff val="-41230"/>
            <a:lumOff val="589"/>
            <a:alphaOff val="0"/>
          </a:schemeClr>
        </a:solidFill>
        <a:ln w="12700" cap="flat" cmpd="sng" algn="ctr">
          <a:solidFill>
            <a:schemeClr val="accent5">
              <a:hueOff val="18461832"/>
              <a:satOff val="-41230"/>
              <a:lumOff val="58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C5954E4-37E3-F94F-8F33-86B11D1C0731}">
      <dsp:nvSpPr>
        <dsp:cNvPr id="0" name=""/>
        <dsp:cNvSpPr/>
      </dsp:nvSpPr>
      <dsp:spPr>
        <a:xfrm>
          <a:off x="0" y="3771900"/>
          <a:ext cx="6057900" cy="1257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kern="1200" dirty="0"/>
            <a:t>Advantages and disadvantages: Extremely high interpretability, extremely fast computation, and easy to prove with differential privacy; however, it cannot capture extremely complex nonlinear relationships or unstructured data.</a:t>
          </a:r>
        </a:p>
      </dsp:txBody>
      <dsp:txXfrm>
        <a:off x="0" y="3771900"/>
        <a:ext cx="6057900" cy="12573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A2E8EA-6D7E-A04A-A0F7-0FEC30053C90}">
      <dsp:nvSpPr>
        <dsp:cNvPr id="0" name=""/>
        <dsp:cNvSpPr/>
      </dsp:nvSpPr>
      <dsp:spPr>
        <a:xfrm>
          <a:off x="0" y="0"/>
          <a:ext cx="60579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73B123-63D1-8C47-B3A6-FCA5A7CC6E88}">
      <dsp:nvSpPr>
        <dsp:cNvPr id="0" name=""/>
        <dsp:cNvSpPr/>
      </dsp:nvSpPr>
      <dsp:spPr>
        <a:xfrm>
          <a:off x="0" y="0"/>
          <a:ext cx="6057900" cy="1257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Representative Algorithms:</a:t>
          </a:r>
        </a:p>
      </dsp:txBody>
      <dsp:txXfrm>
        <a:off x="0" y="0"/>
        <a:ext cx="6057900" cy="1257300"/>
      </dsp:txXfrm>
    </dsp:sp>
    <dsp:sp modelId="{06DF870F-4E02-5642-958A-412D48E9F7B1}">
      <dsp:nvSpPr>
        <dsp:cNvPr id="0" name=""/>
        <dsp:cNvSpPr/>
      </dsp:nvSpPr>
      <dsp:spPr>
        <a:xfrm>
          <a:off x="0" y="1257300"/>
          <a:ext cx="6057900" cy="0"/>
        </a:xfrm>
        <a:prstGeom prst="line">
          <a:avLst/>
        </a:prstGeom>
        <a:solidFill>
          <a:schemeClr val="accent2">
            <a:hueOff val="-3502987"/>
            <a:satOff val="1663"/>
            <a:lumOff val="6732"/>
            <a:alphaOff val="0"/>
          </a:schemeClr>
        </a:solidFill>
        <a:ln w="12700" cap="flat" cmpd="sng" algn="ctr">
          <a:solidFill>
            <a:schemeClr val="accent2">
              <a:hueOff val="-3502987"/>
              <a:satOff val="1663"/>
              <a:lumOff val="673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32C5BE-6F57-AC40-96DC-CCA9D9B0B8E6}">
      <dsp:nvSpPr>
        <dsp:cNvPr id="0" name=""/>
        <dsp:cNvSpPr/>
      </dsp:nvSpPr>
      <dsp:spPr>
        <a:xfrm>
          <a:off x="0" y="1257300"/>
          <a:ext cx="6057900" cy="1257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GANs (Generative Adversarial Networks): such as CTGAN (for tables), TimeGAN (for time series), StyleGAN (for images).</a:t>
          </a:r>
        </a:p>
      </dsp:txBody>
      <dsp:txXfrm>
        <a:off x="0" y="1257300"/>
        <a:ext cx="6057900" cy="1257300"/>
      </dsp:txXfrm>
    </dsp:sp>
    <dsp:sp modelId="{0135BDD9-8630-214C-874B-DA7CB7541F80}">
      <dsp:nvSpPr>
        <dsp:cNvPr id="0" name=""/>
        <dsp:cNvSpPr/>
      </dsp:nvSpPr>
      <dsp:spPr>
        <a:xfrm>
          <a:off x="0" y="2514600"/>
          <a:ext cx="6057900" cy="0"/>
        </a:xfrm>
        <a:prstGeom prst="line">
          <a:avLst/>
        </a:prstGeom>
        <a:solidFill>
          <a:schemeClr val="accent2">
            <a:hueOff val="-7005974"/>
            <a:satOff val="3327"/>
            <a:lumOff val="13464"/>
            <a:alphaOff val="0"/>
          </a:schemeClr>
        </a:solidFill>
        <a:ln w="12700" cap="flat" cmpd="sng" algn="ctr">
          <a:solidFill>
            <a:schemeClr val="accent2">
              <a:hueOff val="-7005974"/>
              <a:satOff val="3327"/>
              <a:lumOff val="1346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3FC4D2-5CF9-6F45-B3EB-4451850AC1EC}">
      <dsp:nvSpPr>
        <dsp:cNvPr id="0" name=""/>
        <dsp:cNvSpPr/>
      </dsp:nvSpPr>
      <dsp:spPr>
        <a:xfrm>
          <a:off x="0" y="2514600"/>
          <a:ext cx="6057900" cy="1257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VAEs (Variational Autoencoders): such as TVAE.</a:t>
          </a:r>
        </a:p>
      </dsp:txBody>
      <dsp:txXfrm>
        <a:off x="0" y="2514600"/>
        <a:ext cx="6057900" cy="1257300"/>
      </dsp:txXfrm>
    </dsp:sp>
    <dsp:sp modelId="{44DB761F-92D4-1A47-87B3-4A51B52B9EB5}">
      <dsp:nvSpPr>
        <dsp:cNvPr id="0" name=""/>
        <dsp:cNvSpPr/>
      </dsp:nvSpPr>
      <dsp:spPr>
        <a:xfrm>
          <a:off x="0" y="3771900"/>
          <a:ext cx="6057900" cy="0"/>
        </a:xfrm>
        <a:prstGeom prst="line">
          <a:avLst/>
        </a:prstGeom>
        <a:solidFill>
          <a:schemeClr val="accent2">
            <a:hueOff val="-10508961"/>
            <a:satOff val="4990"/>
            <a:lumOff val="20196"/>
            <a:alphaOff val="0"/>
          </a:schemeClr>
        </a:solidFill>
        <a:ln w="12700" cap="flat" cmpd="sng" algn="ctr">
          <a:solidFill>
            <a:schemeClr val="accent2">
              <a:hueOff val="-10508961"/>
              <a:satOff val="4990"/>
              <a:lumOff val="201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D9C456-C087-9E4D-876B-814ECFD6A999}">
      <dsp:nvSpPr>
        <dsp:cNvPr id="0" name=""/>
        <dsp:cNvSpPr/>
      </dsp:nvSpPr>
      <dsp:spPr>
        <a:xfrm>
          <a:off x="0" y="3771900"/>
          <a:ext cx="6057900" cy="1257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a:t>Diffusion Models: such as TabDDPM (table diffusion model), Stable Diffusion/FLUX (for images).</a:t>
          </a:r>
        </a:p>
      </dsp:txBody>
      <dsp:txXfrm>
        <a:off x="0" y="3771900"/>
        <a:ext cx="6057900" cy="12573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063D05-A427-324E-AB14-01CC8CD8C43F}">
      <dsp:nvSpPr>
        <dsp:cNvPr id="0" name=""/>
        <dsp:cNvSpPr/>
      </dsp:nvSpPr>
      <dsp:spPr>
        <a:xfrm>
          <a:off x="0" y="2455"/>
          <a:ext cx="60579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A0CFC0-A9B1-BB42-A499-57B231FF5197}">
      <dsp:nvSpPr>
        <dsp:cNvPr id="0" name=""/>
        <dsp:cNvSpPr/>
      </dsp:nvSpPr>
      <dsp:spPr>
        <a:xfrm>
          <a:off x="0" y="2455"/>
          <a:ext cx="6057900" cy="167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Working Principle: Implicitly fits extremely complex real-world data distributions through learning the high-dimensional latent space of a neural network.</a:t>
          </a:r>
        </a:p>
      </dsp:txBody>
      <dsp:txXfrm>
        <a:off x="0" y="2455"/>
        <a:ext cx="6057900" cy="1674762"/>
      </dsp:txXfrm>
    </dsp:sp>
    <dsp:sp modelId="{435B201F-4324-984D-8752-659F044903DE}">
      <dsp:nvSpPr>
        <dsp:cNvPr id="0" name=""/>
        <dsp:cNvSpPr/>
      </dsp:nvSpPr>
      <dsp:spPr>
        <a:xfrm>
          <a:off x="0" y="1677218"/>
          <a:ext cx="6057900" cy="0"/>
        </a:xfrm>
        <a:prstGeom prst="line">
          <a:avLst/>
        </a:prstGeom>
        <a:solidFill>
          <a:schemeClr val="accent2">
            <a:hueOff val="-5254481"/>
            <a:satOff val="2495"/>
            <a:lumOff val="10098"/>
            <a:alphaOff val="0"/>
          </a:schemeClr>
        </a:solidFill>
        <a:ln w="12700" cap="flat" cmpd="sng" algn="ctr">
          <a:solidFill>
            <a:schemeClr val="accent2">
              <a:hueOff val="-5254481"/>
              <a:satOff val="2495"/>
              <a:lumOff val="100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BDF80F-A4DF-9E4F-87D3-9044F52115CD}">
      <dsp:nvSpPr>
        <dsp:cNvPr id="0" name=""/>
        <dsp:cNvSpPr/>
      </dsp:nvSpPr>
      <dsp:spPr>
        <a:xfrm>
          <a:off x="0" y="1677218"/>
          <a:ext cx="6057900" cy="167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a:t>Applicable Scenarios: Complex tables, multidimensional time series, medical images, and visual data for autonomous driving.</a:t>
          </a:r>
        </a:p>
      </dsp:txBody>
      <dsp:txXfrm>
        <a:off x="0" y="1677218"/>
        <a:ext cx="6057900" cy="1674762"/>
      </dsp:txXfrm>
    </dsp:sp>
    <dsp:sp modelId="{23116573-1A34-0B41-8936-E4D1F7F07FF7}">
      <dsp:nvSpPr>
        <dsp:cNvPr id="0" name=""/>
        <dsp:cNvSpPr/>
      </dsp:nvSpPr>
      <dsp:spPr>
        <a:xfrm>
          <a:off x="0" y="3351981"/>
          <a:ext cx="6057900" cy="0"/>
        </a:xfrm>
        <a:prstGeom prst="line">
          <a:avLst/>
        </a:prstGeom>
        <a:solidFill>
          <a:schemeClr val="accent2">
            <a:hueOff val="-10508961"/>
            <a:satOff val="4990"/>
            <a:lumOff val="20196"/>
            <a:alphaOff val="0"/>
          </a:schemeClr>
        </a:solidFill>
        <a:ln w="12700" cap="flat" cmpd="sng" algn="ctr">
          <a:solidFill>
            <a:schemeClr val="accent2">
              <a:hueOff val="-10508961"/>
              <a:satOff val="4990"/>
              <a:lumOff val="201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3D2889-3469-8B46-A595-646E6F229EF4}">
      <dsp:nvSpPr>
        <dsp:cNvPr id="0" name=""/>
        <dsp:cNvSpPr/>
      </dsp:nvSpPr>
      <dsp:spPr>
        <a:xfrm>
          <a:off x="0" y="3351981"/>
          <a:ext cx="6057900" cy="1674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en-US" sz="2100" kern="1200" dirty="0"/>
            <a:t>Advantages and Disadvantages: Extremely strong fitting ability, capable of capturing deep and complex relationships; however, it requires significant computational resources and may be susceptible to </a:t>
          </a:r>
          <a:r>
            <a:rPr lang="en-US" sz="2100" kern="1200" dirty="0">
              <a:solidFill>
                <a:srgbClr val="FF0000"/>
              </a:solidFill>
            </a:rPr>
            <a:t>mode collapse or overfitting</a:t>
          </a:r>
          <a:r>
            <a:rPr lang="en-US" sz="2100" kern="1200" dirty="0"/>
            <a:t>.</a:t>
          </a:r>
        </a:p>
      </dsp:txBody>
      <dsp:txXfrm>
        <a:off x="0" y="3351981"/>
        <a:ext cx="6057900" cy="16747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A550B9-1700-C343-851C-057A243FE6F1}">
      <dsp:nvSpPr>
        <dsp:cNvPr id="0" name=""/>
        <dsp:cNvSpPr/>
      </dsp:nvSpPr>
      <dsp:spPr>
        <a:xfrm>
          <a:off x="0" y="0"/>
          <a:ext cx="6057900"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4AE949-792D-AC4C-88F8-A0E7B6B75682}">
      <dsp:nvSpPr>
        <dsp:cNvPr id="0" name=""/>
        <dsp:cNvSpPr/>
      </dsp:nvSpPr>
      <dsp:spPr>
        <a:xfrm>
          <a:off x="0" y="0"/>
          <a:ext cx="6057900" cy="2514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a:t>Representative Methods: Prompt Engineering (Few-shot example generation), Agentic Workflows, Self-Instruct.</a:t>
          </a:r>
          <a:endParaRPr lang="en-US" sz="2700" kern="1200"/>
        </a:p>
      </dsp:txBody>
      <dsp:txXfrm>
        <a:off x="0" y="0"/>
        <a:ext cx="6057900" cy="2514600"/>
      </dsp:txXfrm>
    </dsp:sp>
    <dsp:sp modelId="{A7ED20F1-C9D9-1444-B2BE-BE688EBC94EF}">
      <dsp:nvSpPr>
        <dsp:cNvPr id="0" name=""/>
        <dsp:cNvSpPr/>
      </dsp:nvSpPr>
      <dsp:spPr>
        <a:xfrm>
          <a:off x="0" y="2514600"/>
          <a:ext cx="6057900" cy="0"/>
        </a:xfrm>
        <a:prstGeom prst="line">
          <a:avLst/>
        </a:prstGeom>
        <a:solidFill>
          <a:schemeClr val="accent2">
            <a:hueOff val="-10508961"/>
            <a:satOff val="4990"/>
            <a:lumOff val="20196"/>
            <a:alphaOff val="0"/>
          </a:schemeClr>
        </a:solidFill>
        <a:ln w="12700" cap="flat" cmpd="sng" algn="ctr">
          <a:solidFill>
            <a:schemeClr val="accent2">
              <a:hueOff val="-10508961"/>
              <a:satOff val="4990"/>
              <a:lumOff val="201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44A60D-AA2D-2A42-A3EE-440106559F9B}">
      <dsp:nvSpPr>
        <dsp:cNvPr id="0" name=""/>
        <dsp:cNvSpPr/>
      </dsp:nvSpPr>
      <dsp:spPr>
        <a:xfrm>
          <a:off x="0" y="2514600"/>
          <a:ext cx="6057900" cy="2514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GB" sz="2700" kern="1200"/>
            <a:t>Working Principle: Leveraging the powerful world knowledge and contextual understanding capabilities of LLM, data is directly "written" based on the Prompt or Agent interaction logic.</a:t>
          </a:r>
          <a:endParaRPr lang="en-US" sz="2700" kern="1200" dirty="0"/>
        </a:p>
      </dsp:txBody>
      <dsp:txXfrm>
        <a:off x="0" y="2514600"/>
        <a:ext cx="6057900" cy="251460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25955B-BC74-854F-88AB-201919D12D00}">
      <dsp:nvSpPr>
        <dsp:cNvPr id="0" name=""/>
        <dsp:cNvSpPr/>
      </dsp:nvSpPr>
      <dsp:spPr>
        <a:xfrm>
          <a:off x="2178810" y="2230386"/>
          <a:ext cx="1804281" cy="1804281"/>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a:t>Evaluation of synthetic data </a:t>
          </a:r>
          <a:endParaRPr lang="en-GB" sz="2100" kern="1200" dirty="0"/>
        </a:p>
      </dsp:txBody>
      <dsp:txXfrm>
        <a:off x="2443041" y="2494617"/>
        <a:ext cx="1275819" cy="1275819"/>
      </dsp:txXfrm>
    </dsp:sp>
    <dsp:sp modelId="{728C5D94-889A-504D-AA18-DBF5C6334E91}">
      <dsp:nvSpPr>
        <dsp:cNvPr id="0" name=""/>
        <dsp:cNvSpPr/>
      </dsp:nvSpPr>
      <dsp:spPr>
        <a:xfrm rot="12900000">
          <a:off x="946254" y="1891150"/>
          <a:ext cx="1458035" cy="514220"/>
        </a:xfrm>
        <a:prstGeom prst="leftArrow">
          <a:avLst>
            <a:gd name="adj1" fmla="val 60000"/>
            <a:gd name="adj2" fmla="val 50000"/>
          </a:avLst>
        </a:prstGeom>
        <a:solidFill>
          <a:schemeClr val="accent5">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E19F80FF-33DB-B444-A7C4-D44AE0C98BEE}">
      <dsp:nvSpPr>
        <dsp:cNvPr id="0" name=""/>
        <dsp:cNvSpPr/>
      </dsp:nvSpPr>
      <dsp:spPr>
        <a:xfrm>
          <a:off x="221061" y="1044485"/>
          <a:ext cx="1714067" cy="1371254"/>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structural similarity to the original data (resemblance)</a:t>
          </a:r>
          <a:endParaRPr lang="en-GB" sz="1700" kern="1200" dirty="0"/>
        </a:p>
      </dsp:txBody>
      <dsp:txXfrm>
        <a:off x="261224" y="1084648"/>
        <a:ext cx="1633741" cy="1290928"/>
      </dsp:txXfrm>
    </dsp:sp>
    <dsp:sp modelId="{031C8B27-BC22-B84F-AB17-A6BD3BC19178}">
      <dsp:nvSpPr>
        <dsp:cNvPr id="0" name=""/>
        <dsp:cNvSpPr/>
      </dsp:nvSpPr>
      <dsp:spPr>
        <a:xfrm rot="16200000">
          <a:off x="2351933" y="1159399"/>
          <a:ext cx="1458035" cy="514220"/>
        </a:xfrm>
        <a:prstGeom prst="leftArrow">
          <a:avLst>
            <a:gd name="adj1" fmla="val 60000"/>
            <a:gd name="adj2" fmla="val 50000"/>
          </a:avLst>
        </a:prstGeom>
        <a:solidFill>
          <a:schemeClr val="accent5">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EEA5732D-C5FB-7840-8A1E-3836029E56D0}">
      <dsp:nvSpPr>
        <dsp:cNvPr id="0" name=""/>
        <dsp:cNvSpPr/>
      </dsp:nvSpPr>
      <dsp:spPr>
        <a:xfrm>
          <a:off x="2223917" y="1865"/>
          <a:ext cx="1714067" cy="1371254"/>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its usage for analysis and predictive modeling (utility)</a:t>
          </a:r>
          <a:endParaRPr lang="en-GB" sz="1700" kern="1200" dirty="0"/>
        </a:p>
      </dsp:txBody>
      <dsp:txXfrm>
        <a:off x="2264080" y="42028"/>
        <a:ext cx="1633741" cy="1290928"/>
      </dsp:txXfrm>
    </dsp:sp>
    <dsp:sp modelId="{E1C79881-5CCF-BB49-B25D-5F1435CACB63}">
      <dsp:nvSpPr>
        <dsp:cNvPr id="0" name=""/>
        <dsp:cNvSpPr/>
      </dsp:nvSpPr>
      <dsp:spPr>
        <a:xfrm rot="19500000">
          <a:off x="3757612" y="1891150"/>
          <a:ext cx="1458035" cy="514220"/>
        </a:xfrm>
        <a:prstGeom prst="leftArrow">
          <a:avLst>
            <a:gd name="adj1" fmla="val 60000"/>
            <a:gd name="adj2" fmla="val 50000"/>
          </a:avLst>
        </a:prstGeom>
        <a:solidFill>
          <a:schemeClr val="accent5">
            <a:tint val="60000"/>
            <a:hueOff val="0"/>
            <a:satOff val="0"/>
            <a:lumOff val="0"/>
            <a:alphaOff val="0"/>
          </a:schemeClr>
        </a:solidFill>
        <a:ln>
          <a:noFill/>
        </a:ln>
        <a:effectLst/>
        <a:scene3d>
          <a:camera prst="orthographicFront"/>
          <a:lightRig rig="threePt" dir="t">
            <a:rot lat="0" lon="0" rev="7500000"/>
          </a:lightRig>
        </a:scene3d>
        <a:sp3d z="-1524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DD1C9295-48AD-704B-B330-873290BB139D}">
      <dsp:nvSpPr>
        <dsp:cNvPr id="0" name=""/>
        <dsp:cNvSpPr/>
      </dsp:nvSpPr>
      <dsp:spPr>
        <a:xfrm>
          <a:off x="4226772" y="1044485"/>
          <a:ext cx="1714067" cy="1371254"/>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2385" tIns="32385" rIns="32385" bIns="32385" numCol="1" spcCol="1270" anchor="ctr" anchorCtr="0">
          <a:noAutofit/>
        </a:bodyPr>
        <a:lstStyle/>
        <a:p>
          <a:pPr marL="0" lvl="0" indent="0" algn="ctr" defTabSz="755650">
            <a:lnSpc>
              <a:spcPct val="90000"/>
            </a:lnSpc>
            <a:spcBef>
              <a:spcPct val="0"/>
            </a:spcBef>
            <a:spcAft>
              <a:spcPct val="35000"/>
            </a:spcAft>
            <a:buNone/>
          </a:pPr>
          <a:r>
            <a:rPr lang="en-US" sz="1700" kern="1200" dirty="0"/>
            <a:t>protection of information stored in the real data (privacy)</a:t>
          </a:r>
          <a:endParaRPr lang="en-GB" sz="1700" kern="1200" dirty="0"/>
        </a:p>
      </dsp:txBody>
      <dsp:txXfrm>
        <a:off x="4266935" y="1084648"/>
        <a:ext cx="1633741" cy="129092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37C1F9-0D9B-F143-8A7E-9A3A6BD5DFDD}">
      <dsp:nvSpPr>
        <dsp:cNvPr id="0" name=""/>
        <dsp:cNvSpPr/>
      </dsp:nvSpPr>
      <dsp:spPr>
        <a:xfrm>
          <a:off x="1329" y="59328"/>
          <a:ext cx="4666790" cy="29634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8BF2D25-C9F7-6941-BE1E-75B4F76F45BD}">
      <dsp:nvSpPr>
        <dsp:cNvPr id="0" name=""/>
        <dsp:cNvSpPr/>
      </dsp:nvSpPr>
      <dsp:spPr>
        <a:xfrm>
          <a:off x="519861" y="551934"/>
          <a:ext cx="4666790" cy="2963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Distance-based privacy:  "Did the model 'memorize' a specific real subject, leading to a privacy leak?”</a:t>
          </a:r>
        </a:p>
      </dsp:txBody>
      <dsp:txXfrm>
        <a:off x="606656" y="638729"/>
        <a:ext cx="4493200" cy="2789821"/>
      </dsp:txXfrm>
    </dsp:sp>
    <dsp:sp modelId="{620CE9A7-19B1-8F49-9D57-7D49D4332C76}">
      <dsp:nvSpPr>
        <dsp:cNvPr id="0" name=""/>
        <dsp:cNvSpPr/>
      </dsp:nvSpPr>
      <dsp:spPr>
        <a:xfrm>
          <a:off x="5705184" y="59328"/>
          <a:ext cx="4666790" cy="29634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6D6783-CAAE-A048-9B06-DCBFC8F82899}">
      <dsp:nvSpPr>
        <dsp:cNvPr id="0" name=""/>
        <dsp:cNvSpPr/>
      </dsp:nvSpPr>
      <dsp:spPr>
        <a:xfrm>
          <a:off x="6223716" y="551934"/>
          <a:ext cx="4666790" cy="2963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a:t>Attack-based privacy: Is the synthetic data model or released synthetic data robust? Let’s do some attacks and try them out</a:t>
          </a:r>
        </a:p>
      </dsp:txBody>
      <dsp:txXfrm>
        <a:off x="6310511" y="638729"/>
        <a:ext cx="4493200" cy="278982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14F531-27F7-8D41-804D-636461957D3C}">
      <dsp:nvSpPr>
        <dsp:cNvPr id="0" name=""/>
        <dsp:cNvSpPr/>
      </dsp:nvSpPr>
      <dsp:spPr>
        <a:xfrm>
          <a:off x="1329" y="59328"/>
          <a:ext cx="4666790" cy="29634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5EE985-5843-4240-9D20-7242A2D00EB4}">
      <dsp:nvSpPr>
        <dsp:cNvPr id="0" name=""/>
        <dsp:cNvSpPr/>
      </dsp:nvSpPr>
      <dsp:spPr>
        <a:xfrm>
          <a:off x="519861" y="551934"/>
          <a:ext cx="4666790" cy="2963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What if AI-generated data accidentally leaks information about a patient?</a:t>
          </a:r>
        </a:p>
      </dsp:txBody>
      <dsp:txXfrm>
        <a:off x="606656" y="638729"/>
        <a:ext cx="4493200" cy="2789821"/>
      </dsp:txXfrm>
    </dsp:sp>
    <dsp:sp modelId="{E386CDDD-AF94-194F-B191-61469217D534}">
      <dsp:nvSpPr>
        <dsp:cNvPr id="0" name=""/>
        <dsp:cNvSpPr/>
      </dsp:nvSpPr>
      <dsp:spPr>
        <a:xfrm>
          <a:off x="5705184" y="59328"/>
          <a:ext cx="4666790" cy="296341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EF8AF3-E087-1D4A-A31F-029995C0B277}">
      <dsp:nvSpPr>
        <dsp:cNvPr id="0" name=""/>
        <dsp:cNvSpPr/>
      </dsp:nvSpPr>
      <dsp:spPr>
        <a:xfrm>
          <a:off x="6223716" y="551934"/>
          <a:ext cx="4666790" cy="296341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What if the data is scattered across 5 different hospitals/institutions, and none of them can send the data to the others?</a:t>
          </a:r>
        </a:p>
      </dsp:txBody>
      <dsp:txXfrm>
        <a:off x="6310511" y="638729"/>
        <a:ext cx="4493200" cy="278982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61E9D6-4610-4531-A48B-63595DF2EFDE}">
      <dsp:nvSpPr>
        <dsp:cNvPr id="0" name=""/>
        <dsp:cNvSpPr/>
      </dsp:nvSpPr>
      <dsp:spPr>
        <a:xfrm>
          <a:off x="230179" y="251836"/>
          <a:ext cx="1345124" cy="134512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88FAF5-1D3D-4293-8FE6-A914B9CCB557}">
      <dsp:nvSpPr>
        <dsp:cNvPr id="0" name=""/>
        <dsp:cNvSpPr/>
      </dsp:nvSpPr>
      <dsp:spPr>
        <a:xfrm>
          <a:off x="512655" y="534312"/>
          <a:ext cx="780172" cy="78017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156209-0442-4C3D-AC26-EF26DF8069CD}">
      <dsp:nvSpPr>
        <dsp:cNvPr id="0" name=""/>
        <dsp:cNvSpPr/>
      </dsp:nvSpPr>
      <dsp:spPr>
        <a:xfrm>
          <a:off x="1863545" y="251836"/>
          <a:ext cx="3170651" cy="1345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kern="1200"/>
            <a:t>Not Automatically Anonymous</a:t>
          </a:r>
          <a:r>
            <a:rPr lang="zh-CN" sz="2400" kern="1200"/>
            <a:t> </a:t>
          </a:r>
          <a:r>
            <a:rPr lang="en-US" sz="2400" kern="1200"/>
            <a:t>–</a:t>
          </a:r>
          <a:r>
            <a:rPr lang="zh-CN" sz="2400" kern="1200"/>
            <a:t> </a:t>
          </a:r>
          <a:r>
            <a:rPr lang="en-US" sz="2400" kern="1200"/>
            <a:t>overfitting problem </a:t>
          </a:r>
        </a:p>
      </dsp:txBody>
      <dsp:txXfrm>
        <a:off x="1863545" y="251836"/>
        <a:ext cx="3170651" cy="1345124"/>
      </dsp:txXfrm>
    </dsp:sp>
    <dsp:sp modelId="{A603BC1F-2999-44E8-9A47-7C50C3A9F12A}">
      <dsp:nvSpPr>
        <dsp:cNvPr id="0" name=""/>
        <dsp:cNvSpPr/>
      </dsp:nvSpPr>
      <dsp:spPr>
        <a:xfrm>
          <a:off x="5586658" y="251836"/>
          <a:ext cx="1345124" cy="134512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5483FE-FB16-402D-8DD2-8B63447E09B1}">
      <dsp:nvSpPr>
        <dsp:cNvPr id="0" name=""/>
        <dsp:cNvSpPr/>
      </dsp:nvSpPr>
      <dsp:spPr>
        <a:xfrm>
          <a:off x="5869134" y="534312"/>
          <a:ext cx="780172" cy="78017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76352B-50D1-4D84-A77D-260E1F416444}">
      <dsp:nvSpPr>
        <dsp:cNvPr id="0" name=""/>
        <dsp:cNvSpPr/>
      </dsp:nvSpPr>
      <dsp:spPr>
        <a:xfrm>
          <a:off x="7220024" y="251836"/>
          <a:ext cx="3170651" cy="1345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kern="1200"/>
            <a:t>Garbage In, Garbage Out &amp; Amplified Biases</a:t>
          </a:r>
          <a:endParaRPr lang="en-US" sz="2400" kern="1200"/>
        </a:p>
      </dsp:txBody>
      <dsp:txXfrm>
        <a:off x="7220024" y="251836"/>
        <a:ext cx="3170651" cy="1345124"/>
      </dsp:txXfrm>
    </dsp:sp>
    <dsp:sp modelId="{F9751EB0-460C-4B2D-9A4F-6081BFB0FF2B}">
      <dsp:nvSpPr>
        <dsp:cNvPr id="0" name=""/>
        <dsp:cNvSpPr/>
      </dsp:nvSpPr>
      <dsp:spPr>
        <a:xfrm>
          <a:off x="230179" y="2251138"/>
          <a:ext cx="1345124" cy="134512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76725F-A128-44AB-9C59-EF08963CC35A}">
      <dsp:nvSpPr>
        <dsp:cNvPr id="0" name=""/>
        <dsp:cNvSpPr/>
      </dsp:nvSpPr>
      <dsp:spPr>
        <a:xfrm>
          <a:off x="512655" y="2533614"/>
          <a:ext cx="780172" cy="78017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267808-1188-454B-A727-C5D9E01C9971}">
      <dsp:nvSpPr>
        <dsp:cNvPr id="0" name=""/>
        <dsp:cNvSpPr/>
      </dsp:nvSpPr>
      <dsp:spPr>
        <a:xfrm>
          <a:off x="1863545" y="2251138"/>
          <a:ext cx="3170651" cy="1345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kern="1200" dirty="0"/>
            <a:t>Information Loss &amp; The "Ground Truth" Limit</a:t>
          </a:r>
          <a:endParaRPr lang="en-US" sz="2400" kern="1200" dirty="0"/>
        </a:p>
      </dsp:txBody>
      <dsp:txXfrm>
        <a:off x="1863545" y="2251138"/>
        <a:ext cx="3170651" cy="1345124"/>
      </dsp:txXfrm>
    </dsp:sp>
    <dsp:sp modelId="{D63CA02F-6D5B-7841-BBD0-18BED5F8AF93}">
      <dsp:nvSpPr>
        <dsp:cNvPr id="0" name=""/>
        <dsp:cNvSpPr/>
      </dsp:nvSpPr>
      <dsp:spPr>
        <a:xfrm>
          <a:off x="5586658" y="2251138"/>
          <a:ext cx="1345124" cy="134512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517F91-E6E0-F84C-B0DB-8AAEC30FC8FE}">
      <dsp:nvSpPr>
        <dsp:cNvPr id="0" name=""/>
        <dsp:cNvSpPr/>
      </dsp:nvSpPr>
      <dsp:spPr>
        <a:xfrm>
          <a:off x="5869134" y="2533614"/>
          <a:ext cx="780172" cy="7801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AA7C18-D840-B741-8C05-5F0D910651E9}">
      <dsp:nvSpPr>
        <dsp:cNvPr id="0" name=""/>
        <dsp:cNvSpPr/>
      </dsp:nvSpPr>
      <dsp:spPr>
        <a:xfrm>
          <a:off x="7220024" y="2251138"/>
          <a:ext cx="3170651" cy="13451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GB" sz="2400" kern="1200" dirty="0"/>
            <a:t>Hallucination - LLM</a:t>
          </a:r>
        </a:p>
      </dsp:txBody>
      <dsp:txXfrm>
        <a:off x="7220024" y="2251138"/>
        <a:ext cx="3170651" cy="1345124"/>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BBFCD8-3547-4E48-BF9A-3A0AD7D696F4}" type="datetimeFigureOut">
              <a:rPr lang="en-US" smtClean="0"/>
              <a:t>9/24/26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B3FAAC-4F33-314D-8C9E-9F7344515FB4}" type="slidenum">
              <a:rPr lang="en-US" smtClean="0"/>
              <a:t>‹#›</a:t>
            </a:fld>
            <a:endParaRPr lang="en-US"/>
          </a:p>
        </p:txBody>
      </p:sp>
    </p:spTree>
    <p:extLst>
      <p:ext uri="{BB962C8B-B14F-4D97-AF65-F5344CB8AC3E}">
        <p14:creationId xmlns:p14="http://schemas.microsoft.com/office/powerpoint/2010/main" val="3329567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Mentioned the other way it’s the same, other people has perfect dataset, but they can’t share it with you.</a:t>
            </a:r>
          </a:p>
        </p:txBody>
      </p:sp>
      <p:sp>
        <p:nvSpPr>
          <p:cNvPr id="4" name="Slide Number Placeholder 3"/>
          <p:cNvSpPr>
            <a:spLocks noGrp="1"/>
          </p:cNvSpPr>
          <p:nvPr>
            <p:ph type="sldNum" sz="quarter" idx="5"/>
          </p:nvPr>
        </p:nvSpPr>
        <p:spPr/>
        <p:txBody>
          <a:bodyPr/>
          <a:lstStyle/>
          <a:p>
            <a:fld id="{C6B3FAAC-4F33-314D-8C9E-9F7344515FB4}" type="slidenum">
              <a:rPr lang="en-US" smtClean="0"/>
              <a:t>5</a:t>
            </a:fld>
            <a:endParaRPr lang="en-US"/>
          </a:p>
        </p:txBody>
      </p:sp>
    </p:spTree>
    <p:extLst>
      <p:ext uri="{BB962C8B-B14F-4D97-AF65-F5344CB8AC3E}">
        <p14:creationId xmlns:p14="http://schemas.microsoft.com/office/powerpoint/2010/main" val="27600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know 'AI-generated data' sounds like a black box. So before we get technical, I want you to keep this mental model in mind. Think of your real, raw dataset as a </a:t>
            </a:r>
            <a:r>
              <a:rPr lang="en-GB" b="1" dirty="0"/>
              <a:t>Photograph</a:t>
            </a:r>
            <a:r>
              <a:rPr lang="en-GB" dirty="0"/>
              <a:t>. A photograph captures exactly what was in front of the lens. It captures a specific, identifiable person. Synthetic data is NOT a blurry photograph. Synthetic data is a </a:t>
            </a:r>
            <a:r>
              <a:rPr lang="en-GB" b="1" dirty="0"/>
              <a:t>Painting</a:t>
            </a:r>
            <a:r>
              <a:rPr lang="en-GB" dirty="0"/>
              <a:t>. It’s created by an AI that has looked at ten thousand photographs. The AI paints a new face. It has two eyes, a nose, human skin texture—it has all the correct </a:t>
            </a:r>
            <a:r>
              <a:rPr lang="en-GB" i="1" dirty="0"/>
              <a:t>statistical properties</a:t>
            </a:r>
            <a:r>
              <a:rPr lang="en-GB" dirty="0"/>
              <a:t> of a human. But that specific person in the painting? They do not exist in the real world. We are sharing the painting, not the photo.</a:t>
            </a:r>
            <a:endParaRPr lang="en-US" dirty="0"/>
          </a:p>
        </p:txBody>
      </p:sp>
      <p:sp>
        <p:nvSpPr>
          <p:cNvPr id="4" name="Slide Number Placeholder 3"/>
          <p:cNvSpPr>
            <a:spLocks noGrp="1"/>
          </p:cNvSpPr>
          <p:nvPr>
            <p:ph type="sldNum" sz="quarter" idx="5"/>
          </p:nvPr>
        </p:nvSpPr>
        <p:spPr/>
        <p:txBody>
          <a:bodyPr/>
          <a:lstStyle/>
          <a:p>
            <a:fld id="{C6B3FAAC-4F33-314D-8C9E-9F7344515FB4}" type="slidenum">
              <a:rPr lang="en-US" smtClean="0"/>
              <a:t>10</a:t>
            </a:fld>
            <a:endParaRPr lang="en-US"/>
          </a:p>
        </p:txBody>
      </p:sp>
    </p:spTree>
    <p:extLst>
      <p:ext uri="{BB962C8B-B14F-4D97-AF65-F5344CB8AC3E}">
        <p14:creationId xmlns:p14="http://schemas.microsoft.com/office/powerpoint/2010/main" val="325470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how does this actually look in a practical Open Science workflow? It’s not about replacing real data; it’s about creating a </a:t>
            </a:r>
            <a:r>
              <a:rPr lang="en-GB" dirty="0" err="1"/>
              <a:t>bridge.</a:t>
            </a:r>
            <a:r>
              <a:rPr lang="en-GB" b="1" dirty="0" err="1"/>
              <a:t>Step</a:t>
            </a:r>
            <a:r>
              <a:rPr lang="en-GB" b="1" dirty="0"/>
              <a:t> 1:</a:t>
            </a:r>
            <a:r>
              <a:rPr lang="en-GB" dirty="0"/>
              <a:t> Your highly sensitive, raw dataset stays exactly where it is—locked in a secure vault at the University of </a:t>
            </a:r>
            <a:r>
              <a:rPr lang="en-GB" dirty="0" err="1"/>
              <a:t>Oslo.</a:t>
            </a:r>
            <a:r>
              <a:rPr lang="en-GB" b="1" dirty="0" err="1"/>
              <a:t>Step</a:t>
            </a:r>
            <a:r>
              <a:rPr lang="en-GB" b="1" dirty="0"/>
              <a:t> 2:</a:t>
            </a:r>
            <a:r>
              <a:rPr lang="en-GB" dirty="0"/>
              <a:t> We bring an AI model into that secure environment to learn the statistical patterns—the correlations between age, diagnosis, and </a:t>
            </a:r>
            <a:r>
              <a:rPr lang="en-GB" dirty="0" err="1"/>
              <a:t>outcomes.</a:t>
            </a:r>
            <a:r>
              <a:rPr lang="en-GB" b="1" dirty="0" err="1"/>
              <a:t>Step</a:t>
            </a:r>
            <a:r>
              <a:rPr lang="en-GB" b="1" dirty="0"/>
              <a:t> 3:</a:t>
            </a:r>
            <a:r>
              <a:rPr lang="en-GB" dirty="0"/>
              <a:t> The AI outputs the synthetic 'painting'. </a:t>
            </a:r>
            <a:r>
              <a:rPr lang="en-GB" b="1" dirty="0"/>
              <a:t>This</a:t>
            </a:r>
            <a:r>
              <a:rPr lang="en-GB" dirty="0"/>
              <a:t> is the dataset you publish openly on GitHub or </a:t>
            </a:r>
            <a:r>
              <a:rPr lang="en-GB" dirty="0" err="1"/>
              <a:t>Zenodo</a:t>
            </a:r>
            <a:r>
              <a:rPr lang="en-GB" dirty="0"/>
              <a:t>. Now, researchers in Tokyo or Boston can download your synthetic data, write their Python or R scripts, test their hypotheses, and verify their code runs perfectly. If they find something promising, they can email you their finished code, and </a:t>
            </a:r>
            <a:r>
              <a:rPr lang="en-GB" i="1" dirty="0"/>
              <a:t>you</a:t>
            </a:r>
            <a:r>
              <a:rPr lang="en-GB" dirty="0"/>
              <a:t> run it on the real data in the vault. We achieve global collaboration without ever moving the sensitive data.</a:t>
            </a:r>
            <a:endParaRPr lang="en-US" dirty="0"/>
          </a:p>
        </p:txBody>
      </p:sp>
      <p:sp>
        <p:nvSpPr>
          <p:cNvPr id="4" name="Slide Number Placeholder 3"/>
          <p:cNvSpPr>
            <a:spLocks noGrp="1"/>
          </p:cNvSpPr>
          <p:nvPr>
            <p:ph type="sldNum" sz="quarter" idx="5"/>
          </p:nvPr>
        </p:nvSpPr>
        <p:spPr/>
        <p:txBody>
          <a:bodyPr/>
          <a:lstStyle/>
          <a:p>
            <a:fld id="{C6B3FAAC-4F33-314D-8C9E-9F7344515FB4}" type="slidenum">
              <a:rPr lang="en-US" smtClean="0"/>
              <a:t>11</a:t>
            </a:fld>
            <a:endParaRPr lang="en-US"/>
          </a:p>
        </p:txBody>
      </p:sp>
    </p:spTree>
    <p:extLst>
      <p:ext uri="{BB962C8B-B14F-4D97-AF65-F5344CB8AC3E}">
        <p14:creationId xmlns:p14="http://schemas.microsoft.com/office/powerpoint/2010/main" val="35158527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beauty of synthetic data is that it adapts to your specific research medium. It generally falls into four main categories, and depending on your discipline, you’ll interact with different ones.</a:t>
            </a:r>
          </a:p>
          <a:p>
            <a:r>
              <a:rPr lang="en-GB" dirty="0"/>
              <a:t>First, </a:t>
            </a:r>
            <a:r>
              <a:rPr lang="en-GB" b="1" dirty="0"/>
              <a:t>Tabular Data</a:t>
            </a:r>
            <a:r>
              <a:rPr lang="en-GB" dirty="0"/>
              <a:t>. This is the bread and butter for social scientists and epidemiologists. We are talking about spreadsheets, census data, clinical trials. You generate a synthetic CSV file that preserves all the complex correlations between variables, but contains zero real humans. You can attach this directly to your paper as supplementary material.</a:t>
            </a:r>
          </a:p>
          <a:p>
            <a:r>
              <a:rPr lang="en-GB" dirty="0"/>
              <a:t>Second, </a:t>
            </a:r>
            <a:r>
              <a:rPr lang="en-GB" b="1" dirty="0"/>
              <a:t>Time-Series Data</a:t>
            </a:r>
            <a:r>
              <a:rPr lang="en-GB" dirty="0"/>
              <a:t>. If you study climate sensors, financial markets, or wearable tech, your data changes over time. We can synthesize dynamic trajectories, like a fake 24-hour heart rate monitor (ECG) that maintains the correct physiological rhythms.</a:t>
            </a:r>
          </a:p>
          <a:p>
            <a:r>
              <a:rPr lang="en-GB" dirty="0"/>
              <a:t>Third, </a:t>
            </a:r>
            <a:r>
              <a:rPr lang="en-GB" b="1" dirty="0"/>
              <a:t>Text</a:t>
            </a:r>
            <a:r>
              <a:rPr lang="en-GB" dirty="0"/>
              <a:t>. For the humanities and NLP researchers. Think of doctor’s clinical notes or transcripts of sensitive interviews about mental health. We can generate synthetic transcripts that maintain the same linguistic structures and psychological markers, allowing you to share qualitative datasets without violating ethics.</a:t>
            </a:r>
          </a:p>
          <a:p>
            <a:r>
              <a:rPr lang="en-GB" dirty="0"/>
              <a:t>And finally, </a:t>
            </a:r>
            <a:r>
              <a:rPr lang="en-GB" b="1" dirty="0"/>
              <a:t>Images and Video</a:t>
            </a:r>
            <a:r>
              <a:rPr lang="en-GB" dirty="0"/>
              <a:t>. This is huge in computer vision. It's used for privacy—like generating synthetic MRI brains—but it's also used for something else: </a:t>
            </a:r>
            <a:r>
              <a:rPr lang="en-GB" b="1" dirty="0"/>
              <a:t>simulating the rare and the dangerous</a:t>
            </a:r>
            <a:r>
              <a:rPr lang="en-GB" dirty="0"/>
              <a:t>. Take autonomous driving. If you want to train an AI to avoid a moose jumping onto an icy road in a blizzard at night, you don't want to collect that data in real life—it's too dangerous and too rare. Instead, you synthesize thousands of these 'edge cases' to train your models safely.</a:t>
            </a:r>
          </a:p>
          <a:p>
            <a:endParaRPr lang="en-US" dirty="0"/>
          </a:p>
        </p:txBody>
      </p:sp>
      <p:sp>
        <p:nvSpPr>
          <p:cNvPr id="4" name="Slide Number Placeholder 3"/>
          <p:cNvSpPr>
            <a:spLocks noGrp="1"/>
          </p:cNvSpPr>
          <p:nvPr>
            <p:ph type="sldNum" sz="quarter" idx="5"/>
          </p:nvPr>
        </p:nvSpPr>
        <p:spPr/>
        <p:txBody>
          <a:bodyPr/>
          <a:lstStyle/>
          <a:p>
            <a:fld id="{C6B3FAAC-4F33-314D-8C9E-9F7344515FB4}" type="slidenum">
              <a:rPr lang="en-US" smtClean="0"/>
              <a:t>12</a:t>
            </a:fld>
            <a:endParaRPr lang="en-US"/>
          </a:p>
        </p:txBody>
      </p:sp>
    </p:spTree>
    <p:extLst>
      <p:ext uri="{BB962C8B-B14F-4D97-AF65-F5344CB8AC3E}">
        <p14:creationId xmlns:p14="http://schemas.microsoft.com/office/powerpoint/2010/main" val="1550197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First, </a:t>
            </a:r>
            <a:r>
              <a:rPr lang="en-GB" b="1" dirty="0"/>
              <a:t>Seed-based Generation</a:t>
            </a:r>
            <a:r>
              <a:rPr lang="en-GB" dirty="0"/>
              <a:t>, where we provide an LLM with a few anonymized clinical notes, and it writes thousands of new, grammatically rich, yet completely artificial patient stories. Second, </a:t>
            </a:r>
            <a:r>
              <a:rPr lang="en-GB" b="1" dirty="0"/>
              <a:t>Agentic Persona Simulation</a:t>
            </a:r>
            <a:r>
              <a:rPr lang="en-GB" dirty="0"/>
              <a:t>, where we program agents with distinct demographic backgrounds to simulate qualitative interviews. Third, </a:t>
            </a:r>
            <a:r>
              <a:rPr lang="en-GB" b="1" dirty="0"/>
              <a:t>Schema-constrained Synthesis</a:t>
            </a:r>
            <a:r>
              <a:rPr lang="en-GB" dirty="0"/>
              <a:t>, forcing models to output structured JSON with natural language fields. And fourth, </a:t>
            </a:r>
            <a:r>
              <a:rPr lang="en-GB" b="1" dirty="0"/>
              <a:t>Model Distillation</a:t>
            </a:r>
            <a:r>
              <a:rPr lang="en-GB" dirty="0"/>
              <a:t>, using frontier models to synthesize reasoning datasets for training smaller, open-source local LLMs like Llama 3.</a:t>
            </a:r>
            <a:endParaRPr lang="en-US" dirty="0"/>
          </a:p>
        </p:txBody>
      </p:sp>
      <p:sp>
        <p:nvSpPr>
          <p:cNvPr id="4" name="Slide Number Placeholder 3"/>
          <p:cNvSpPr>
            <a:spLocks noGrp="1"/>
          </p:cNvSpPr>
          <p:nvPr>
            <p:ph type="sldNum" sz="quarter" idx="5"/>
          </p:nvPr>
        </p:nvSpPr>
        <p:spPr/>
        <p:txBody>
          <a:bodyPr/>
          <a:lstStyle/>
          <a:p>
            <a:fld id="{C6B3FAAC-4F33-314D-8C9E-9F7344515FB4}" type="slidenum">
              <a:rPr lang="en-US" smtClean="0"/>
              <a:t>22</a:t>
            </a:fld>
            <a:endParaRPr lang="en-US"/>
          </a:p>
        </p:txBody>
      </p:sp>
    </p:spTree>
    <p:extLst>
      <p:ext uri="{BB962C8B-B14F-4D97-AF65-F5344CB8AC3E}">
        <p14:creationId xmlns:p14="http://schemas.microsoft.com/office/powerpoint/2010/main" val="30330586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Researchers with programming experience (such as Python/R users) can overcome their fear of the AI ​​barrier with just 5-8 lines of extremely concise code.</a:t>
            </a:r>
          </a:p>
        </p:txBody>
      </p:sp>
      <p:sp>
        <p:nvSpPr>
          <p:cNvPr id="4" name="Slide Number Placeholder 3"/>
          <p:cNvSpPr>
            <a:spLocks noGrp="1"/>
          </p:cNvSpPr>
          <p:nvPr>
            <p:ph type="sldNum" sz="quarter" idx="5"/>
          </p:nvPr>
        </p:nvSpPr>
        <p:spPr/>
        <p:txBody>
          <a:bodyPr/>
          <a:lstStyle/>
          <a:p>
            <a:fld id="{C6B3FAAC-4F33-314D-8C9E-9F7344515FB4}" type="slidenum">
              <a:rPr lang="en-US" smtClean="0"/>
              <a:t>23</a:t>
            </a:fld>
            <a:endParaRPr lang="en-US"/>
          </a:p>
        </p:txBody>
      </p:sp>
    </p:spTree>
    <p:extLst>
      <p:ext uri="{BB962C8B-B14F-4D97-AF65-F5344CB8AC3E}">
        <p14:creationId xmlns:p14="http://schemas.microsoft.com/office/powerpoint/2010/main" val="16932464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Perplexity</a:t>
            </a:r>
          </a:p>
          <a:p>
            <a:endParaRPr lang="en-US" dirty="0"/>
          </a:p>
          <a:p>
            <a:r>
              <a:rPr lang="en-US" dirty="0"/>
              <a:t>Measures the "surprise" a language model has of text.</a:t>
            </a:r>
          </a:p>
          <a:p>
            <a:endParaRPr lang="en-US" dirty="0"/>
          </a:p>
          <a:p>
            <a:r>
              <a:rPr lang="en-US" dirty="0"/>
              <a:t>A lower value indicates a better ability to predict the next word, resulting in more fluent and natural-sounding text.</a:t>
            </a:r>
          </a:p>
          <a:p>
            <a:endParaRPr lang="en-US" dirty="0"/>
          </a:p>
          <a:p>
            <a:r>
              <a:rPr lang="en-US" dirty="0"/>
              <a:t>In other words, low perplexity equals a less confused model and more natural, fluent language.</a:t>
            </a:r>
          </a:p>
          <a:p>
            <a:endParaRPr lang="en-US" dirty="0"/>
          </a:p>
          <a:p>
            <a:r>
              <a:rPr lang="en-US" dirty="0"/>
              <a:t>2. Embedding Overlap in High-Dimensional Space</a:t>
            </a:r>
          </a:p>
          <a:p>
            <a:endParaRPr lang="en-US" dirty="0"/>
          </a:p>
          <a:p>
            <a:r>
              <a:rPr lang="en-US" dirty="0"/>
              <a:t>After converting text into semantic vectors (Embeddings), this measure compares the vector distribution of the generated text with that of the original text.</a:t>
            </a:r>
          </a:p>
          <a:p>
            <a:endParaRPr lang="en-US" dirty="0"/>
          </a:p>
          <a:p>
            <a:r>
              <a:rPr lang="en-US" dirty="0"/>
              <a:t>Higher overlap indicates a closer semantic relationship and more "reliable" generated content.</a:t>
            </a:r>
          </a:p>
          <a:p>
            <a:endParaRPr lang="en-US" dirty="0"/>
          </a:p>
          <a:p>
            <a:r>
              <a:rPr lang="en-US" dirty="0"/>
              <a:t>Common metrics include the text version of FID and MMD.</a:t>
            </a:r>
          </a:p>
          <a:p>
            <a:endParaRPr lang="en-US" dirty="0"/>
          </a:p>
          <a:p>
            <a:r>
              <a:rPr lang="en-US" dirty="0"/>
              <a:t>In short:</a:t>
            </a:r>
          </a:p>
          <a:p>
            <a:endParaRPr lang="en-US" dirty="0"/>
          </a:p>
          <a:p>
            <a:r>
              <a:rPr lang="en-US" dirty="0"/>
              <a:t>Perplexity measures "how fluent and natural the language is," while embedding overlap measures "how authentic the meaning is."</a:t>
            </a:r>
          </a:p>
        </p:txBody>
      </p:sp>
      <p:sp>
        <p:nvSpPr>
          <p:cNvPr id="4" name="Slide Number Placeholder 3"/>
          <p:cNvSpPr>
            <a:spLocks noGrp="1"/>
          </p:cNvSpPr>
          <p:nvPr>
            <p:ph type="sldNum" sz="quarter" idx="5"/>
          </p:nvPr>
        </p:nvSpPr>
        <p:spPr/>
        <p:txBody>
          <a:bodyPr/>
          <a:lstStyle/>
          <a:p>
            <a:fld id="{C6B3FAAC-4F33-314D-8C9E-9F7344515FB4}" type="slidenum">
              <a:rPr lang="en-US" smtClean="0"/>
              <a:t>31</a:t>
            </a:fld>
            <a:endParaRPr lang="en-US"/>
          </a:p>
        </p:txBody>
      </p:sp>
    </p:spTree>
    <p:extLst>
      <p:ext uri="{BB962C8B-B14F-4D97-AF65-F5344CB8AC3E}">
        <p14:creationId xmlns:p14="http://schemas.microsoft.com/office/powerpoint/2010/main" val="18173397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also cases synthetic data’s utility is higher, mostly because data argumentation </a:t>
            </a:r>
          </a:p>
        </p:txBody>
      </p:sp>
      <p:sp>
        <p:nvSpPr>
          <p:cNvPr id="4" name="Slide Number Placeholder 3"/>
          <p:cNvSpPr>
            <a:spLocks noGrp="1"/>
          </p:cNvSpPr>
          <p:nvPr>
            <p:ph type="sldNum" sz="quarter" idx="5"/>
          </p:nvPr>
        </p:nvSpPr>
        <p:spPr/>
        <p:txBody>
          <a:bodyPr/>
          <a:lstStyle/>
          <a:p>
            <a:fld id="{C6B3FAAC-4F33-314D-8C9E-9F7344515FB4}" type="slidenum">
              <a:rPr lang="en-US" smtClean="0"/>
              <a:t>33</a:t>
            </a:fld>
            <a:endParaRPr lang="en-US"/>
          </a:p>
        </p:txBody>
      </p:sp>
    </p:spTree>
    <p:extLst>
      <p:ext uri="{BB962C8B-B14F-4D97-AF65-F5344CB8AC3E}">
        <p14:creationId xmlns:p14="http://schemas.microsoft.com/office/powerpoint/2010/main" val="29097315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FAAC-4F33-314D-8C9E-9F7344515FB4}" type="slidenum">
              <a:rPr lang="en-US" smtClean="0"/>
              <a:t>38</a:t>
            </a:fld>
            <a:endParaRPr lang="en-US"/>
          </a:p>
        </p:txBody>
      </p:sp>
    </p:spTree>
    <p:extLst>
      <p:ext uri="{BB962C8B-B14F-4D97-AF65-F5344CB8AC3E}">
        <p14:creationId xmlns:p14="http://schemas.microsoft.com/office/powerpoint/2010/main" val="2739779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6B3FAAC-4F33-314D-8C9E-9F7344515FB4}" type="slidenum">
              <a:rPr lang="en-US" smtClean="0"/>
              <a:t>43</a:t>
            </a:fld>
            <a:endParaRPr lang="en-US"/>
          </a:p>
        </p:txBody>
      </p:sp>
    </p:spTree>
    <p:extLst>
      <p:ext uri="{BB962C8B-B14F-4D97-AF65-F5344CB8AC3E}">
        <p14:creationId xmlns:p14="http://schemas.microsoft.com/office/powerpoint/2010/main" val="2747793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0C4F9-5EE7-47B7-B965-368EB53A4352}"/>
              </a:ext>
            </a:extLst>
          </p:cNvPr>
          <p:cNvSpPr>
            <a:spLocks noGrp="1"/>
          </p:cNvSpPr>
          <p:nvPr>
            <p:ph type="ctrTitle"/>
          </p:nvPr>
        </p:nvSpPr>
        <p:spPr>
          <a:xfrm>
            <a:off x="647700" y="1181099"/>
            <a:ext cx="6864724" cy="3581399"/>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7A4A1F1-374F-4FC8-89F7-83065EA4F5DD}"/>
              </a:ext>
            </a:extLst>
          </p:cNvPr>
          <p:cNvSpPr>
            <a:spLocks noGrp="1"/>
          </p:cNvSpPr>
          <p:nvPr>
            <p:ph type="subTitle" idx="1"/>
          </p:nvPr>
        </p:nvSpPr>
        <p:spPr>
          <a:xfrm>
            <a:off x="647700" y="5075227"/>
            <a:ext cx="6864724" cy="868374"/>
          </a:xfrm>
        </p:spPr>
        <p:txBody>
          <a:bodyPr>
            <a:normAutofit/>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FB5CB5F-AE9B-4C02-B16F-C462CAFC1963}"/>
              </a:ext>
            </a:extLst>
          </p:cNvPr>
          <p:cNvSpPr>
            <a:spLocks noGrp="1"/>
          </p:cNvSpPr>
          <p:nvPr>
            <p:ph type="dt" sz="half" idx="10"/>
          </p:nvPr>
        </p:nvSpPr>
        <p:spPr/>
        <p:txBody>
          <a:bodyPr/>
          <a:lstStyle/>
          <a:p>
            <a:fld id="{D341B595-366B-43E2-A22E-EA6A78C03F06}" type="datetimeFigureOut">
              <a:rPr lang="en-US" smtClean="0"/>
              <a:t>9/24/26</a:t>
            </a:fld>
            <a:endParaRPr lang="en-US"/>
          </a:p>
        </p:txBody>
      </p:sp>
      <p:sp>
        <p:nvSpPr>
          <p:cNvPr id="5" name="Footer Placeholder 4">
            <a:extLst>
              <a:ext uri="{FF2B5EF4-FFF2-40B4-BE49-F238E27FC236}">
                <a16:creationId xmlns:a16="http://schemas.microsoft.com/office/drawing/2014/main" id="{4114B1CC-830B-4695-B174-D9E9100A86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DCD43F-E516-4123-A6D8-DB72C3CC50B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999619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C81FA8-039D-4BAF-8AAB-7B6616AFEE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D341B595-366B-43E2-A22E-EA6A78C03F06}" type="datetimeFigureOut">
              <a:rPr lang="en-US" smtClean="0"/>
              <a:t>9/24/26</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482861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96BE-9AF9-4E97-9204-5B672D797384}"/>
              </a:ext>
            </a:extLst>
          </p:cNvPr>
          <p:cNvSpPr>
            <a:spLocks noGrp="1"/>
          </p:cNvSpPr>
          <p:nvPr>
            <p:ph type="title"/>
          </p:nvPr>
        </p:nvSpPr>
        <p:spPr>
          <a:xfrm>
            <a:off x="1981200" y="2362200"/>
            <a:ext cx="7696200" cy="24003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5EDF98A-E8AE-4443-9A8C-CB35DEB2CE60}"/>
              </a:ext>
            </a:extLst>
          </p:cNvPr>
          <p:cNvSpPr>
            <a:spLocks noGrp="1"/>
          </p:cNvSpPr>
          <p:nvPr>
            <p:ph type="body" idx="1"/>
          </p:nvPr>
        </p:nvSpPr>
        <p:spPr>
          <a:xfrm>
            <a:off x="1981200" y="5067300"/>
            <a:ext cx="7696200" cy="876300"/>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7114B-35CB-40C5-BCC8-C5039524FFC1}"/>
              </a:ext>
            </a:extLst>
          </p:cNvPr>
          <p:cNvSpPr>
            <a:spLocks noGrp="1"/>
          </p:cNvSpPr>
          <p:nvPr>
            <p:ph type="dt" sz="half" idx="10"/>
          </p:nvPr>
        </p:nvSpPr>
        <p:spPr/>
        <p:txBody>
          <a:bodyPr/>
          <a:lstStyle/>
          <a:p>
            <a:fld id="{D341B595-366B-43E2-A22E-EA6A78C03F06}" type="datetimeFigureOut">
              <a:rPr lang="en-US" smtClean="0"/>
              <a:t>9/24/26</a:t>
            </a:fld>
            <a:endParaRPr lang="en-US"/>
          </a:p>
        </p:txBody>
      </p:sp>
      <p:sp>
        <p:nvSpPr>
          <p:cNvPr id="5" name="Footer Placeholder 4">
            <a:extLst>
              <a:ext uri="{FF2B5EF4-FFF2-40B4-BE49-F238E27FC236}">
                <a16:creationId xmlns:a16="http://schemas.microsoft.com/office/drawing/2014/main" id="{7A1AA324-982E-42C4-8002-5F236877C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01596-9353-4C1A-972E-6522F2B4204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5254244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F0BC9-7469-437A-B92B-0A2627E4B9B4}"/>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1B7D887-595C-4649-AF8E-E78307000D4A}"/>
              </a:ext>
            </a:extLst>
          </p:cNvPr>
          <p:cNvSpPr>
            <a:spLocks noGrp="1"/>
          </p:cNvSpPr>
          <p:nvPr>
            <p:ph sz="half" idx="1"/>
          </p:nvPr>
        </p:nvSpPr>
        <p:spPr>
          <a:xfrm>
            <a:off x="914400" y="1825625"/>
            <a:ext cx="49911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39FE29C-ED37-4DD9-949F-0024342619E1}"/>
              </a:ext>
            </a:extLst>
          </p:cNvPr>
          <p:cNvSpPr>
            <a:spLocks noGrp="1"/>
          </p:cNvSpPr>
          <p:nvPr>
            <p:ph sz="half" idx="2"/>
          </p:nvPr>
        </p:nvSpPr>
        <p:spPr>
          <a:xfrm>
            <a:off x="6248400" y="1825625"/>
            <a:ext cx="5029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A6F6AA34-8CC0-4E5B-8396-0AC75633142B}"/>
              </a:ext>
            </a:extLst>
          </p:cNvPr>
          <p:cNvSpPr>
            <a:spLocks noGrp="1"/>
          </p:cNvSpPr>
          <p:nvPr>
            <p:ph type="dt" sz="half" idx="10"/>
          </p:nvPr>
        </p:nvSpPr>
        <p:spPr/>
        <p:txBody>
          <a:bodyPr/>
          <a:lstStyle/>
          <a:p>
            <a:fld id="{D341B595-366B-43E2-A22E-EA6A78C03F06}" type="datetimeFigureOut">
              <a:rPr lang="en-US" smtClean="0"/>
              <a:t>9/24/26</a:t>
            </a:fld>
            <a:endParaRPr lang="en-US"/>
          </a:p>
        </p:txBody>
      </p:sp>
      <p:sp>
        <p:nvSpPr>
          <p:cNvPr id="6" name="Footer Placeholder 5">
            <a:extLst>
              <a:ext uri="{FF2B5EF4-FFF2-40B4-BE49-F238E27FC236}">
                <a16:creationId xmlns:a16="http://schemas.microsoft.com/office/drawing/2014/main" id="{28DF7398-73FE-4D27-AFF9-91BEBFED32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00880-10EE-4115-8BBB-13DDF270DBD1}"/>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005054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F3C9B-D20D-43FA-BA18-D50F86A9127E}"/>
              </a:ext>
            </a:extLst>
          </p:cNvPr>
          <p:cNvSpPr>
            <a:spLocks noGrp="1"/>
          </p:cNvSpPr>
          <p:nvPr>
            <p:ph type="title"/>
          </p:nvPr>
        </p:nvSpPr>
        <p:spPr>
          <a:xfrm>
            <a:off x="652371" y="647699"/>
            <a:ext cx="10625229" cy="115062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52F00A-F4EE-40FC-9325-373840422D52}"/>
              </a:ext>
            </a:extLst>
          </p:cNvPr>
          <p:cNvSpPr>
            <a:spLocks noGrp="1"/>
          </p:cNvSpPr>
          <p:nvPr>
            <p:ph type="body" idx="1"/>
          </p:nvPr>
        </p:nvSpPr>
        <p:spPr>
          <a:xfrm>
            <a:off x="655863" y="1879599"/>
            <a:ext cx="5157787"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75DD90-A306-4A8B-A54C-8033B7F7F0E9}"/>
              </a:ext>
            </a:extLst>
          </p:cNvPr>
          <p:cNvSpPr>
            <a:spLocks noGrp="1"/>
          </p:cNvSpPr>
          <p:nvPr>
            <p:ph sz="half" idx="2"/>
          </p:nvPr>
        </p:nvSpPr>
        <p:spPr>
          <a:xfrm>
            <a:off x="655863" y="2560955"/>
            <a:ext cx="5157787"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040E0AA-F8F8-4862-B27B-50FAF2F34DE0}"/>
              </a:ext>
            </a:extLst>
          </p:cNvPr>
          <p:cNvSpPr>
            <a:spLocks noGrp="1"/>
          </p:cNvSpPr>
          <p:nvPr>
            <p:ph type="body" sz="quarter" idx="3"/>
          </p:nvPr>
        </p:nvSpPr>
        <p:spPr>
          <a:xfrm>
            <a:off x="6094412" y="1879599"/>
            <a:ext cx="5183188"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EBDD6-EDA1-4CE7-9DDC-9D977E12DDAB}"/>
              </a:ext>
            </a:extLst>
          </p:cNvPr>
          <p:cNvSpPr>
            <a:spLocks noGrp="1"/>
          </p:cNvSpPr>
          <p:nvPr>
            <p:ph sz="quarter" idx="4"/>
          </p:nvPr>
        </p:nvSpPr>
        <p:spPr>
          <a:xfrm>
            <a:off x="6094412" y="2560955"/>
            <a:ext cx="5183188"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E0044487-D350-4434-A5C7-A96942FFC95E}"/>
              </a:ext>
            </a:extLst>
          </p:cNvPr>
          <p:cNvSpPr>
            <a:spLocks noGrp="1"/>
          </p:cNvSpPr>
          <p:nvPr>
            <p:ph type="dt" sz="half" idx="10"/>
          </p:nvPr>
        </p:nvSpPr>
        <p:spPr/>
        <p:txBody>
          <a:bodyPr/>
          <a:lstStyle/>
          <a:p>
            <a:fld id="{D341B595-366B-43E2-A22E-EA6A78C03F06}" type="datetimeFigureOut">
              <a:rPr lang="en-US" smtClean="0"/>
              <a:t>9/24/26</a:t>
            </a:fld>
            <a:endParaRPr lang="en-US"/>
          </a:p>
        </p:txBody>
      </p:sp>
      <p:sp>
        <p:nvSpPr>
          <p:cNvPr id="8" name="Footer Placeholder 7">
            <a:extLst>
              <a:ext uri="{FF2B5EF4-FFF2-40B4-BE49-F238E27FC236}">
                <a16:creationId xmlns:a16="http://schemas.microsoft.com/office/drawing/2014/main" id="{3389DC43-E591-42BF-82EE-E4887E4BC5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8CD421-2D00-41DD-A393-4739E389D95E}"/>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150939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39A8B-0FAF-431C-9657-9003FA0373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BBA2A1-331D-40F8-867B-CE15011360A1}"/>
              </a:ext>
            </a:extLst>
          </p:cNvPr>
          <p:cNvSpPr>
            <a:spLocks noGrp="1"/>
          </p:cNvSpPr>
          <p:nvPr>
            <p:ph type="dt" sz="half" idx="10"/>
          </p:nvPr>
        </p:nvSpPr>
        <p:spPr/>
        <p:txBody>
          <a:bodyPr/>
          <a:lstStyle/>
          <a:p>
            <a:fld id="{D341B595-366B-43E2-A22E-EA6A78C03F06}" type="datetimeFigureOut">
              <a:rPr lang="en-US" smtClean="0"/>
              <a:t>9/24/26</a:t>
            </a:fld>
            <a:endParaRPr lang="en-US"/>
          </a:p>
        </p:txBody>
      </p:sp>
      <p:sp>
        <p:nvSpPr>
          <p:cNvPr id="4" name="Footer Placeholder 3">
            <a:extLst>
              <a:ext uri="{FF2B5EF4-FFF2-40B4-BE49-F238E27FC236}">
                <a16:creationId xmlns:a16="http://schemas.microsoft.com/office/drawing/2014/main" id="{850995C1-5121-47B6-AC6D-F60C0FF663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BE022-9B54-431C-80D5-5D8F2AFCB92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499591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15B6E5-6347-41F6-85FC-3BF3652D1BC3}"/>
              </a:ext>
            </a:extLst>
          </p:cNvPr>
          <p:cNvSpPr>
            <a:spLocks noGrp="1"/>
          </p:cNvSpPr>
          <p:nvPr>
            <p:ph type="dt" sz="half" idx="10"/>
          </p:nvPr>
        </p:nvSpPr>
        <p:spPr/>
        <p:txBody>
          <a:bodyPr/>
          <a:lstStyle/>
          <a:p>
            <a:fld id="{D341B595-366B-43E2-A22E-EA6A78C03F06}" type="datetimeFigureOut">
              <a:rPr lang="en-US" smtClean="0"/>
              <a:t>9/24/26</a:t>
            </a:fld>
            <a:endParaRPr lang="en-US"/>
          </a:p>
        </p:txBody>
      </p:sp>
      <p:sp>
        <p:nvSpPr>
          <p:cNvPr id="3" name="Footer Placeholder 2">
            <a:extLst>
              <a:ext uri="{FF2B5EF4-FFF2-40B4-BE49-F238E27FC236}">
                <a16:creationId xmlns:a16="http://schemas.microsoft.com/office/drawing/2014/main" id="{1C6A93F6-45F8-4453-B5DC-B2F3D5D0B5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E364E1-213B-4AF0-80D7-8101EFD5E41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781986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0B5D-E76D-4797-AD77-15625D675F3A}"/>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9744D8D-C9CF-43B2-905D-2368B17A539A}"/>
              </a:ext>
            </a:extLst>
          </p:cNvPr>
          <p:cNvSpPr>
            <a:spLocks noGrp="1"/>
          </p:cNvSpPr>
          <p:nvPr>
            <p:ph idx="1"/>
          </p:nvPr>
        </p:nvSpPr>
        <p:spPr>
          <a:xfrm>
            <a:off x="5540188" y="914400"/>
            <a:ext cx="5737412" cy="50291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1B4BF0C-D14C-46D7-ACDD-1885DDD883F1}"/>
              </a:ext>
            </a:extLst>
          </p:cNvPr>
          <p:cNvSpPr>
            <a:spLocks noGrp="1"/>
          </p:cNvSpPr>
          <p:nvPr>
            <p:ph type="body" sz="half" idx="2"/>
          </p:nvPr>
        </p:nvSpPr>
        <p:spPr>
          <a:xfrm>
            <a:off x="652372" y="2697479"/>
            <a:ext cx="4119654" cy="32461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FD7D8D-72E7-4ABD-BB87-80BB49003104}"/>
              </a:ext>
            </a:extLst>
          </p:cNvPr>
          <p:cNvSpPr>
            <a:spLocks noGrp="1"/>
          </p:cNvSpPr>
          <p:nvPr>
            <p:ph type="dt" sz="half" idx="10"/>
          </p:nvPr>
        </p:nvSpPr>
        <p:spPr/>
        <p:txBody>
          <a:bodyPr/>
          <a:lstStyle/>
          <a:p>
            <a:fld id="{D341B595-366B-43E2-A22E-EA6A78C03F06}" type="datetimeFigureOut">
              <a:rPr lang="en-US" smtClean="0"/>
              <a:t>9/24/26</a:t>
            </a:fld>
            <a:endParaRPr lang="en-US"/>
          </a:p>
        </p:txBody>
      </p:sp>
      <p:sp>
        <p:nvSpPr>
          <p:cNvPr id="6" name="Footer Placeholder 5">
            <a:extLst>
              <a:ext uri="{FF2B5EF4-FFF2-40B4-BE49-F238E27FC236}">
                <a16:creationId xmlns:a16="http://schemas.microsoft.com/office/drawing/2014/main" id="{A9D9C1CE-C8CE-4364-A021-ADC2D64726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E6FA33-09EF-495A-853E-63750CA37AC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360342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F023E-952E-40DF-A101-74D22789D534}"/>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1E98DD-BF5D-4CCA-8C66-F2A6CE11271C}"/>
              </a:ext>
            </a:extLst>
          </p:cNvPr>
          <p:cNvSpPr>
            <a:spLocks noGrp="1"/>
          </p:cNvSpPr>
          <p:nvPr>
            <p:ph type="pic" idx="1"/>
          </p:nvPr>
        </p:nvSpPr>
        <p:spPr>
          <a:xfrm>
            <a:off x="5486400" y="914400"/>
            <a:ext cx="5791200" cy="50291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0EC22A6-F2C2-4A88-BEE5-2D6CEB520EB9}"/>
              </a:ext>
            </a:extLst>
          </p:cNvPr>
          <p:cNvSpPr>
            <a:spLocks noGrp="1"/>
          </p:cNvSpPr>
          <p:nvPr>
            <p:ph type="body" sz="half" idx="2"/>
          </p:nvPr>
        </p:nvSpPr>
        <p:spPr>
          <a:xfrm>
            <a:off x="652372" y="2697480"/>
            <a:ext cx="4119654" cy="31715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A1F755-C7AF-4C50-8CA8-828612A767B0}"/>
              </a:ext>
            </a:extLst>
          </p:cNvPr>
          <p:cNvSpPr>
            <a:spLocks noGrp="1"/>
          </p:cNvSpPr>
          <p:nvPr>
            <p:ph type="dt" sz="half" idx="10"/>
          </p:nvPr>
        </p:nvSpPr>
        <p:spPr/>
        <p:txBody>
          <a:bodyPr/>
          <a:lstStyle/>
          <a:p>
            <a:fld id="{D341B595-366B-43E2-A22E-EA6A78C03F06}" type="datetimeFigureOut">
              <a:rPr lang="en-US" smtClean="0"/>
              <a:t>9/24/26</a:t>
            </a:fld>
            <a:endParaRPr lang="en-US"/>
          </a:p>
        </p:txBody>
      </p:sp>
      <p:sp>
        <p:nvSpPr>
          <p:cNvPr id="6" name="Footer Placeholder 5">
            <a:extLst>
              <a:ext uri="{FF2B5EF4-FFF2-40B4-BE49-F238E27FC236}">
                <a16:creationId xmlns:a16="http://schemas.microsoft.com/office/drawing/2014/main" id="{C1EDE175-E818-477C-A3F6-7DD65C1268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D0B8E3-DB91-440B-818F-71E4248BB10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937508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8C0AF-44D0-4830-AF13-49B8522BE6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1B4D8C-6045-47B3-9A0C-F2215A904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9A9F1-F398-416A-A8C0-0A36D838DD15}"/>
              </a:ext>
            </a:extLst>
          </p:cNvPr>
          <p:cNvSpPr>
            <a:spLocks noGrp="1"/>
          </p:cNvSpPr>
          <p:nvPr>
            <p:ph type="dt" sz="half" idx="10"/>
          </p:nvPr>
        </p:nvSpPr>
        <p:spPr/>
        <p:txBody>
          <a:bodyPr/>
          <a:lstStyle/>
          <a:p>
            <a:fld id="{D341B595-366B-43E2-A22E-EA6A78C03F06}" type="datetimeFigureOut">
              <a:rPr lang="en-US" smtClean="0"/>
              <a:t>9/24/26</a:t>
            </a:fld>
            <a:endParaRPr lang="en-US"/>
          </a:p>
        </p:txBody>
      </p:sp>
      <p:sp>
        <p:nvSpPr>
          <p:cNvPr id="5" name="Footer Placeholder 4">
            <a:extLst>
              <a:ext uri="{FF2B5EF4-FFF2-40B4-BE49-F238E27FC236}">
                <a16:creationId xmlns:a16="http://schemas.microsoft.com/office/drawing/2014/main" id="{6E37F801-C9FB-4A34-8386-BA9FBACCB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05176-F6E9-4997-8355-74F2A4560A65}"/>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922515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EBC807-13E1-4F3F-83FA-FD9BD24F3B1F}"/>
              </a:ext>
            </a:extLst>
          </p:cNvPr>
          <p:cNvSpPr>
            <a:spLocks noGrp="1"/>
          </p:cNvSpPr>
          <p:nvPr>
            <p:ph type="title" orient="vert"/>
          </p:nvPr>
        </p:nvSpPr>
        <p:spPr>
          <a:xfrm>
            <a:off x="8986520" y="647699"/>
            <a:ext cx="2291080" cy="52959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9B7E2EAA-155E-482E-A2B8-547653B253EE}"/>
              </a:ext>
            </a:extLst>
          </p:cNvPr>
          <p:cNvSpPr>
            <a:spLocks noGrp="1"/>
          </p:cNvSpPr>
          <p:nvPr>
            <p:ph type="body" orient="vert" idx="1"/>
          </p:nvPr>
        </p:nvSpPr>
        <p:spPr>
          <a:xfrm>
            <a:off x="652371" y="647699"/>
            <a:ext cx="8120789" cy="52959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4A4BDC-BDD0-417D-AF7C-516EE556D7E4}"/>
              </a:ext>
            </a:extLst>
          </p:cNvPr>
          <p:cNvSpPr>
            <a:spLocks noGrp="1"/>
          </p:cNvSpPr>
          <p:nvPr>
            <p:ph type="dt" sz="half" idx="10"/>
          </p:nvPr>
        </p:nvSpPr>
        <p:spPr/>
        <p:txBody>
          <a:bodyPr/>
          <a:lstStyle/>
          <a:p>
            <a:fld id="{D341B595-366B-43E2-A22E-EA6A78C03F06}" type="datetimeFigureOut">
              <a:rPr lang="en-US" smtClean="0"/>
              <a:t>9/24/26</a:t>
            </a:fld>
            <a:endParaRPr lang="en-US"/>
          </a:p>
        </p:txBody>
      </p:sp>
      <p:sp>
        <p:nvSpPr>
          <p:cNvPr id="5" name="Footer Placeholder 4">
            <a:extLst>
              <a:ext uri="{FF2B5EF4-FFF2-40B4-BE49-F238E27FC236}">
                <a16:creationId xmlns:a16="http://schemas.microsoft.com/office/drawing/2014/main" id="{0EF663EC-23F9-4202-80F3-F8E550884F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8402D-7367-485B-AEA6-5AB2B8209D1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0642535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5EB7D6-B8CB-49E3-874F-2255BEE82473}"/>
              </a:ext>
            </a:extLst>
          </p:cNvPr>
          <p:cNvSpPr>
            <a:spLocks noGrp="1"/>
          </p:cNvSpPr>
          <p:nvPr>
            <p:ph type="title"/>
          </p:nvPr>
        </p:nvSpPr>
        <p:spPr>
          <a:xfrm>
            <a:off x="652371" y="647700"/>
            <a:ext cx="10625229" cy="114705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BEEAC5-A8AB-4FE8-A270-D70F7DED4A50}"/>
              </a:ext>
            </a:extLst>
          </p:cNvPr>
          <p:cNvSpPr>
            <a:spLocks noGrp="1"/>
          </p:cNvSpPr>
          <p:nvPr>
            <p:ph type="body" idx="1"/>
          </p:nvPr>
        </p:nvSpPr>
        <p:spPr>
          <a:xfrm>
            <a:off x="652371" y="2095500"/>
            <a:ext cx="10620855" cy="3848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7B6506C-52BF-4C05-AD31-7C08B80151CB}"/>
              </a:ext>
            </a:extLst>
          </p:cNvPr>
          <p:cNvSpPr>
            <a:spLocks noGrp="1"/>
          </p:cNvSpPr>
          <p:nvPr>
            <p:ph type="dt" sz="half" idx="2"/>
          </p:nvPr>
        </p:nvSpPr>
        <p:spPr>
          <a:xfrm>
            <a:off x="652371" y="6332538"/>
            <a:ext cx="3006492" cy="365125"/>
          </a:xfrm>
          <a:prstGeom prst="rect">
            <a:avLst/>
          </a:prstGeom>
        </p:spPr>
        <p:txBody>
          <a:bodyPr vert="horz" lIns="91440" tIns="45720" rIns="91440" bIns="45720" rtlCol="0" anchor="ctr"/>
          <a:lstStyle>
            <a:lvl1pPr algn="l">
              <a:defRPr sz="900" b="1" spc="100" baseline="0">
                <a:solidFill>
                  <a:schemeClr val="tx1"/>
                </a:solidFill>
              </a:defRPr>
            </a:lvl1pPr>
          </a:lstStyle>
          <a:p>
            <a:fld id="{D341B595-366B-43E2-A22E-EA6A78C03F06}" type="datetimeFigureOut">
              <a:rPr lang="en-US" smtClean="0"/>
              <a:t>9/24/26</a:t>
            </a:fld>
            <a:endParaRPr lang="en-US"/>
          </a:p>
        </p:txBody>
      </p:sp>
      <p:sp>
        <p:nvSpPr>
          <p:cNvPr id="5" name="Footer Placeholder 4">
            <a:extLst>
              <a:ext uri="{FF2B5EF4-FFF2-40B4-BE49-F238E27FC236}">
                <a16:creationId xmlns:a16="http://schemas.microsoft.com/office/drawing/2014/main" id="{F2534630-6C67-4A40-A499-CB025B2438CE}"/>
              </a:ext>
            </a:extLst>
          </p:cNvPr>
          <p:cNvSpPr>
            <a:spLocks noGrp="1"/>
          </p:cNvSpPr>
          <p:nvPr>
            <p:ph type="ftr" sz="quarter" idx="3"/>
          </p:nvPr>
        </p:nvSpPr>
        <p:spPr>
          <a:xfrm>
            <a:off x="8034169" y="6332538"/>
            <a:ext cx="3505459" cy="365125"/>
          </a:xfrm>
          <a:prstGeom prst="rect">
            <a:avLst/>
          </a:prstGeom>
        </p:spPr>
        <p:txBody>
          <a:bodyPr vert="horz" lIns="91440" tIns="45720" rIns="91440" bIns="45720" rtlCol="0" anchor="ctr"/>
          <a:lstStyle>
            <a:lvl1pPr algn="r">
              <a:defRPr sz="900" b="1" spc="1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E964E14B-0EE8-4015-809C-DD36B5459B82}"/>
              </a:ext>
            </a:extLst>
          </p:cNvPr>
          <p:cNvSpPr>
            <a:spLocks noGrp="1"/>
          </p:cNvSpPr>
          <p:nvPr>
            <p:ph type="sldNum" sz="quarter" idx="4"/>
          </p:nvPr>
        </p:nvSpPr>
        <p:spPr>
          <a:xfrm>
            <a:off x="11444747" y="6332538"/>
            <a:ext cx="539808" cy="365125"/>
          </a:xfrm>
          <a:prstGeom prst="rect">
            <a:avLst/>
          </a:prstGeom>
        </p:spPr>
        <p:txBody>
          <a:bodyPr vert="horz" lIns="91440" tIns="45720" rIns="91440" bIns="45720" rtlCol="0" anchor="ctr"/>
          <a:lstStyle>
            <a:lvl1pPr algn="r">
              <a:defRPr sz="900" b="1" spc="100" baseline="0">
                <a:solidFill>
                  <a:schemeClr val="tx1"/>
                </a:solidFill>
              </a:defRPr>
            </a:lvl1pPr>
          </a:lstStyle>
          <a:p>
            <a:fld id="{4BA915EE-10CB-4CF1-8569-6154455DA573}" type="slidenum">
              <a:rPr lang="en-US" smtClean="0"/>
              <a:t>‹#›</a:t>
            </a:fld>
            <a:endParaRPr lang="en-US"/>
          </a:p>
        </p:txBody>
      </p:sp>
    </p:spTree>
    <p:extLst>
      <p:ext uri="{BB962C8B-B14F-4D97-AF65-F5344CB8AC3E}">
        <p14:creationId xmlns:p14="http://schemas.microsoft.com/office/powerpoint/2010/main" val="2980853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50" r:id="rId6"/>
    <p:sldLayoutId id="2147483745" r:id="rId7"/>
    <p:sldLayoutId id="2147483746" r:id="rId8"/>
    <p:sldLayoutId id="2147483747" r:id="rId9"/>
    <p:sldLayoutId id="2147483749" r:id="rId10"/>
    <p:sldLayoutId id="2147483748" r:id="rId11"/>
  </p:sldLayoutIdLst>
  <p:txStyles>
    <p:title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google.com/url?sa=t&amp;source=web&amp;rct=j&amp;url=https://pvml.com/glossary/synthetic-data/&amp;ved=2ahUKEwj4rdfCl4aXAxVVEBAIHYtGGikQjhx6BAgEEBk&amp;opi=89978449&amp;usg=AOvVaw3H-W11Aao7Rg6-P9II4JrS" TargetMode="External"/><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3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www.google.com.hk/url?sa=t&amp;source=web&amp;rct=j&amp;url=https%3A%2F%2Fdifferentialprivacy.org%2Fsynth-data-1%2F&amp;ved=0CBkQjhxqGAoTCIjV54GlhpcDFQAAAAAdAAAAABC5AQ&amp;opi=89978449"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hyperlink" Target="https://github.com/vanderschaarlab/synthcity" TargetMode="External"/><Relationship Id="rId2" Type="http://schemas.openxmlformats.org/officeDocument/2006/relationships/hyperlink" Target="https://github.com/Data-Centric-AI-Community/fg-data-synthetic" TargetMode="External"/><Relationship Id="rId1" Type="http://schemas.openxmlformats.org/officeDocument/2006/relationships/slideLayout" Target="../slideLayouts/slideLayout2.xml"/><Relationship Id="rId5" Type="http://schemas.openxmlformats.org/officeDocument/2006/relationships/hyperlink" Target="https://docs.synthetic.ydata.ai/latest/ydata_fabric_app/" TargetMode="External"/><Relationship Id="rId4" Type="http://schemas.openxmlformats.org/officeDocument/2006/relationships/hyperlink" Target="https://github.com/sdv-dev/sdv" TargetMode="External"/></Relationships>
</file>

<file path=ppt/slides/_rels/slide46.xml.rels><?xml version="1.0" encoding="UTF-8" standalone="yes"?>
<Relationships xmlns="http://schemas.openxmlformats.org/package/2006/relationships"><Relationship Id="rId2" Type="http://schemas.openxmlformats.org/officeDocument/2006/relationships/hyperlink" Target="mailto:qyliu@cityu.edu.mo"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CB3D98-012D-4B56-80F4-A2EF4FA70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9950DD72-6FD5-CA46-9745-1F4A803D7E01}"/>
              </a:ext>
            </a:extLst>
          </p:cNvPr>
          <p:cNvPicPr>
            <a:picLocks noChangeAspect="1"/>
          </p:cNvPicPr>
          <p:nvPr/>
        </p:nvPicPr>
        <p:blipFill>
          <a:blip r:embed="rId2"/>
          <a:srcRect t="15697" b="10915"/>
          <a:stretch>
            <a:fillRect/>
          </a:stretch>
        </p:blipFill>
        <p:spPr>
          <a:xfrm>
            <a:off x="20" y="1294327"/>
            <a:ext cx="12191979" cy="5569810"/>
          </a:xfrm>
          <a:prstGeom prst="rect">
            <a:avLst/>
          </a:prstGeom>
        </p:spPr>
      </p:pic>
      <p:sp>
        <p:nvSpPr>
          <p:cNvPr id="2" name="Title 1">
            <a:extLst>
              <a:ext uri="{FF2B5EF4-FFF2-40B4-BE49-F238E27FC236}">
                <a16:creationId xmlns:a16="http://schemas.microsoft.com/office/drawing/2014/main" id="{54C2749C-8406-22C8-38F4-335D7BB91AF2}"/>
              </a:ext>
            </a:extLst>
          </p:cNvPr>
          <p:cNvSpPr>
            <a:spLocks noGrp="1"/>
          </p:cNvSpPr>
          <p:nvPr>
            <p:ph type="ctrTitle"/>
          </p:nvPr>
        </p:nvSpPr>
        <p:spPr>
          <a:xfrm>
            <a:off x="6700520" y="3248024"/>
            <a:ext cx="4839108" cy="2695576"/>
          </a:xfrm>
        </p:spPr>
        <p:txBody>
          <a:bodyPr anchor="b">
            <a:normAutofit/>
          </a:bodyPr>
          <a:lstStyle/>
          <a:p>
            <a:pPr algn="r">
              <a:lnSpc>
                <a:spcPct val="110000"/>
              </a:lnSpc>
            </a:pPr>
            <a:r>
              <a:rPr lang="en-GB" sz="2500" dirty="0"/>
              <a:t>Can Synthetic Data Make Research Data More Open? Opportunities and Privacy Risks in the Age of AI</a:t>
            </a:r>
            <a:endParaRPr lang="en-US" sz="2500" dirty="0"/>
          </a:p>
        </p:txBody>
      </p:sp>
      <p:sp>
        <p:nvSpPr>
          <p:cNvPr id="3" name="Subtitle 2">
            <a:extLst>
              <a:ext uri="{FF2B5EF4-FFF2-40B4-BE49-F238E27FC236}">
                <a16:creationId xmlns:a16="http://schemas.microsoft.com/office/drawing/2014/main" id="{ACF75680-FB68-563D-3DA2-5A5A12DB73B2}"/>
              </a:ext>
            </a:extLst>
          </p:cNvPr>
          <p:cNvSpPr>
            <a:spLocks noGrp="1"/>
          </p:cNvSpPr>
          <p:nvPr>
            <p:ph type="subTitle" idx="1"/>
          </p:nvPr>
        </p:nvSpPr>
        <p:spPr>
          <a:xfrm>
            <a:off x="6096001" y="351707"/>
            <a:ext cx="5448300" cy="668883"/>
          </a:xfrm>
        </p:spPr>
        <p:txBody>
          <a:bodyPr anchor="ctr">
            <a:normAutofit fontScale="85000" lnSpcReduction="20000"/>
          </a:bodyPr>
          <a:lstStyle/>
          <a:p>
            <a:pPr algn="r"/>
            <a:r>
              <a:rPr lang="en-US" dirty="0"/>
              <a:t>Qinyi </a:t>
            </a:r>
            <a:r>
              <a:rPr lang="en-US" dirty="0" err="1"/>
              <a:t>liu</a:t>
            </a:r>
            <a:r>
              <a:rPr lang="en-US" dirty="0"/>
              <a:t> </a:t>
            </a:r>
          </a:p>
          <a:p>
            <a:pPr algn="r"/>
            <a:r>
              <a:rPr lang="en-US" dirty="0"/>
              <a:t>City university of Macau</a:t>
            </a:r>
          </a:p>
        </p:txBody>
      </p:sp>
    </p:spTree>
    <p:extLst>
      <p:ext uri="{BB962C8B-B14F-4D97-AF65-F5344CB8AC3E}">
        <p14:creationId xmlns:p14="http://schemas.microsoft.com/office/powerpoint/2010/main" val="1245658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53DA9B-2163-B90F-8150-2E6AD1908B60}"/>
              </a:ext>
            </a:extLst>
          </p:cNvPr>
          <p:cNvSpPr>
            <a:spLocks noGrp="1"/>
          </p:cNvSpPr>
          <p:nvPr>
            <p:ph type="title"/>
          </p:nvPr>
        </p:nvSpPr>
        <p:spPr>
          <a:xfrm>
            <a:off x="3384356" y="84846"/>
            <a:ext cx="10625229" cy="1147053"/>
          </a:xfrm>
        </p:spPr>
        <p:txBody>
          <a:bodyPr/>
          <a:lstStyle/>
          <a:p>
            <a:r>
              <a:rPr lang="en-US" dirty="0"/>
              <a:t>What I have been working on</a:t>
            </a:r>
          </a:p>
        </p:txBody>
      </p:sp>
      <p:sp>
        <p:nvSpPr>
          <p:cNvPr id="3" name="Content Placeholder 2">
            <a:extLst>
              <a:ext uri="{FF2B5EF4-FFF2-40B4-BE49-F238E27FC236}">
                <a16:creationId xmlns:a16="http://schemas.microsoft.com/office/drawing/2014/main" id="{19FDEF81-BEBD-C7C4-589F-AFCC9EB6928B}"/>
              </a:ext>
            </a:extLst>
          </p:cNvPr>
          <p:cNvSpPr>
            <a:spLocks noGrp="1"/>
          </p:cNvSpPr>
          <p:nvPr>
            <p:ph idx="1"/>
          </p:nvPr>
        </p:nvSpPr>
        <p:spPr>
          <a:xfrm>
            <a:off x="3474508" y="1756923"/>
            <a:ext cx="7034653" cy="3848100"/>
          </a:xfrm>
        </p:spPr>
        <p:txBody>
          <a:bodyPr/>
          <a:lstStyle/>
          <a:p>
            <a:r>
              <a:rPr lang="en-US" dirty="0"/>
              <a:t>Qinyi Liu, Assistant Professor at City University of Macau</a:t>
            </a:r>
          </a:p>
          <a:p>
            <a:r>
              <a:rPr lang="en-US" dirty="0"/>
              <a:t>Ph.D. in Centre for the Science of Learning and Technology (SLATE), University of Bergen, Norway</a:t>
            </a:r>
          </a:p>
          <a:p>
            <a:r>
              <a:rPr lang="en-US" dirty="0"/>
              <a:t>My PhD is about using privacy-enhancing techniques like synthetic data generation to address privacy issues in datasets</a:t>
            </a:r>
          </a:p>
        </p:txBody>
      </p:sp>
      <p:pic>
        <p:nvPicPr>
          <p:cNvPr id="4" name="Picture 2" descr="avatar">
            <a:extLst>
              <a:ext uri="{FF2B5EF4-FFF2-40B4-BE49-F238E27FC236}">
                <a16:creationId xmlns:a16="http://schemas.microsoft.com/office/drawing/2014/main" id="{FC189857-90CC-AEEC-16E2-8C290A96E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745" y="658373"/>
            <a:ext cx="2004854" cy="21971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F809FF8-D818-04D9-CAEA-DD7402EF1398}"/>
              </a:ext>
            </a:extLst>
          </p:cNvPr>
          <p:cNvSpPr txBox="1"/>
          <p:nvPr/>
        </p:nvSpPr>
        <p:spPr>
          <a:xfrm>
            <a:off x="8265015" y="6313670"/>
            <a:ext cx="6098146" cy="369332"/>
          </a:xfrm>
          <a:prstGeom prst="rect">
            <a:avLst/>
          </a:prstGeom>
          <a:noFill/>
        </p:spPr>
        <p:txBody>
          <a:bodyPr wrap="square">
            <a:spAutoFit/>
          </a:bodyPr>
          <a:lstStyle/>
          <a:p>
            <a:pPr>
              <a:buNone/>
            </a:pPr>
            <a:r>
              <a:rPr lang="en-GB" dirty="0">
                <a:solidFill>
                  <a:schemeClr val="accent2">
                    <a:lumMod val="75000"/>
                  </a:schemeClr>
                </a:solidFill>
                <a:effectLst/>
              </a:rPr>
              <a:t>See more here! Website: </a:t>
            </a:r>
            <a:r>
              <a:rPr lang="en-GB" dirty="0" err="1">
                <a:solidFill>
                  <a:schemeClr val="accent2">
                    <a:lumMod val="75000"/>
                  </a:schemeClr>
                </a:solidFill>
                <a:effectLst/>
              </a:rPr>
              <a:t>qinyiliu.site</a:t>
            </a:r>
            <a:endParaRPr lang="en-GB" dirty="0">
              <a:solidFill>
                <a:schemeClr val="accent2">
                  <a:lumMod val="75000"/>
                </a:schemeClr>
              </a:solidFill>
              <a:effectLst/>
            </a:endParaRPr>
          </a:p>
        </p:txBody>
      </p:sp>
      <p:pic>
        <p:nvPicPr>
          <p:cNvPr id="7" name="Picture 6">
            <a:extLst>
              <a:ext uri="{FF2B5EF4-FFF2-40B4-BE49-F238E27FC236}">
                <a16:creationId xmlns:a16="http://schemas.microsoft.com/office/drawing/2014/main" id="{01C2DD75-7CB0-A514-91BA-5452E7C26594}"/>
              </a:ext>
            </a:extLst>
          </p:cNvPr>
          <p:cNvPicPr>
            <a:picLocks noChangeAspect="1"/>
          </p:cNvPicPr>
          <p:nvPr/>
        </p:nvPicPr>
        <p:blipFill>
          <a:blip r:embed="rId3"/>
          <a:stretch>
            <a:fillRect/>
          </a:stretch>
        </p:blipFill>
        <p:spPr>
          <a:xfrm>
            <a:off x="40786" y="4468539"/>
            <a:ext cx="7772400" cy="791722"/>
          </a:xfrm>
          <a:prstGeom prst="rect">
            <a:avLst/>
          </a:prstGeom>
        </p:spPr>
      </p:pic>
      <p:pic>
        <p:nvPicPr>
          <p:cNvPr id="9" name="Picture 8">
            <a:extLst>
              <a:ext uri="{FF2B5EF4-FFF2-40B4-BE49-F238E27FC236}">
                <a16:creationId xmlns:a16="http://schemas.microsoft.com/office/drawing/2014/main" id="{4B499A14-894F-86FB-543F-555DB3CF9A54}"/>
              </a:ext>
            </a:extLst>
          </p:cNvPr>
          <p:cNvPicPr>
            <a:picLocks noChangeAspect="1"/>
          </p:cNvPicPr>
          <p:nvPr/>
        </p:nvPicPr>
        <p:blipFill>
          <a:blip r:embed="rId4"/>
          <a:stretch>
            <a:fillRect/>
          </a:stretch>
        </p:blipFill>
        <p:spPr>
          <a:xfrm>
            <a:off x="0" y="5242552"/>
            <a:ext cx="7772400" cy="845652"/>
          </a:xfrm>
          <a:prstGeom prst="rect">
            <a:avLst/>
          </a:prstGeom>
        </p:spPr>
      </p:pic>
      <p:pic>
        <p:nvPicPr>
          <p:cNvPr id="11" name="Picture 10">
            <a:extLst>
              <a:ext uri="{FF2B5EF4-FFF2-40B4-BE49-F238E27FC236}">
                <a16:creationId xmlns:a16="http://schemas.microsoft.com/office/drawing/2014/main" id="{D169F13E-B0FF-F9CC-2ABF-CD764D6A02D0}"/>
              </a:ext>
            </a:extLst>
          </p:cNvPr>
          <p:cNvPicPr>
            <a:picLocks noChangeAspect="1"/>
          </p:cNvPicPr>
          <p:nvPr/>
        </p:nvPicPr>
        <p:blipFill>
          <a:blip r:embed="rId5"/>
          <a:stretch>
            <a:fillRect/>
          </a:stretch>
        </p:blipFill>
        <p:spPr>
          <a:xfrm>
            <a:off x="40786" y="6158084"/>
            <a:ext cx="7772400" cy="652497"/>
          </a:xfrm>
          <a:prstGeom prst="rect">
            <a:avLst/>
          </a:prstGeom>
        </p:spPr>
      </p:pic>
    </p:spTree>
    <p:extLst>
      <p:ext uri="{BB962C8B-B14F-4D97-AF65-F5344CB8AC3E}">
        <p14:creationId xmlns:p14="http://schemas.microsoft.com/office/powerpoint/2010/main" val="1612021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6121-9C4B-4088-30A7-17C68F1A6E83}"/>
              </a:ext>
            </a:extLst>
          </p:cNvPr>
          <p:cNvSpPr>
            <a:spLocks noGrp="1"/>
          </p:cNvSpPr>
          <p:nvPr>
            <p:ph type="title"/>
          </p:nvPr>
        </p:nvSpPr>
        <p:spPr/>
        <p:txBody>
          <a:bodyPr>
            <a:normAutofit fontScale="90000"/>
          </a:bodyPr>
          <a:lstStyle/>
          <a:p>
            <a:r>
              <a:rPr lang="en-US" dirty="0"/>
              <a:t>Huge attention has been given to synthetic data</a:t>
            </a:r>
          </a:p>
        </p:txBody>
      </p:sp>
      <p:sp>
        <p:nvSpPr>
          <p:cNvPr id="3" name="Content Placeholder 2">
            <a:extLst>
              <a:ext uri="{FF2B5EF4-FFF2-40B4-BE49-F238E27FC236}">
                <a16:creationId xmlns:a16="http://schemas.microsoft.com/office/drawing/2014/main" id="{35B0F3C7-5758-2BDF-1F17-617312E33089}"/>
              </a:ext>
            </a:extLst>
          </p:cNvPr>
          <p:cNvSpPr>
            <a:spLocks noGrp="1"/>
          </p:cNvSpPr>
          <p:nvPr>
            <p:ph idx="1"/>
          </p:nvPr>
        </p:nvSpPr>
        <p:spPr/>
        <p:txBody>
          <a:bodyPr/>
          <a:lstStyle/>
          <a:p>
            <a:r>
              <a:rPr lang="en-GB" i="1" dirty="0"/>
              <a:t>"Right now we have exhausted practically the entirety of human knowledge for training AI... The only way to augment real-world information is synthetic data.” </a:t>
            </a:r>
            <a:r>
              <a:rPr lang="en-GB" dirty="0"/>
              <a:t>—— </a:t>
            </a:r>
            <a:r>
              <a:rPr lang="en-GB" b="1" dirty="0"/>
              <a:t>Elon Musk</a:t>
            </a:r>
            <a:r>
              <a:rPr lang="en-GB" dirty="0"/>
              <a:t> </a:t>
            </a:r>
          </a:p>
          <a:p>
            <a:r>
              <a:rPr lang="en-GB" i="1" dirty="0"/>
              <a:t>"Today, human-generated knowledge is 99%. In 10 years, it will probably be 1%. The vast majority of knowledge will be generated by AI—it's going to be synthetic generated intelligence.” </a:t>
            </a:r>
            <a:r>
              <a:rPr lang="en-GB" dirty="0"/>
              <a:t>—— </a:t>
            </a:r>
            <a:r>
              <a:rPr lang="en-GB" b="1" dirty="0"/>
              <a:t>Jensen Huang</a:t>
            </a:r>
            <a:endParaRPr lang="en-US" dirty="0"/>
          </a:p>
        </p:txBody>
      </p:sp>
      <p:pic>
        <p:nvPicPr>
          <p:cNvPr id="4" name="Picture 3" descr="Gretel Announces General Availability of Gretel Navigator,">
            <a:extLst>
              <a:ext uri="{FF2B5EF4-FFF2-40B4-BE49-F238E27FC236}">
                <a16:creationId xmlns:a16="http://schemas.microsoft.com/office/drawing/2014/main" id="{20791742-7DFD-09E8-2240-7728C8523920}"/>
              </a:ext>
            </a:extLst>
          </p:cNvPr>
          <p:cNvPicPr>
            <a:picLocks noChangeAspect="1"/>
          </p:cNvPicPr>
          <p:nvPr/>
        </p:nvPicPr>
        <p:blipFill>
          <a:blip r:embed="rId2"/>
          <a:stretch>
            <a:fillRect/>
          </a:stretch>
        </p:blipFill>
        <p:spPr>
          <a:xfrm>
            <a:off x="1072096" y="4756564"/>
            <a:ext cx="3649806" cy="1453736"/>
          </a:xfrm>
          <a:prstGeom prst="rect">
            <a:avLst/>
          </a:prstGeom>
        </p:spPr>
      </p:pic>
      <p:pic>
        <p:nvPicPr>
          <p:cNvPr id="5" name="Picture 4" descr="Nvidia - Wikipedia">
            <a:extLst>
              <a:ext uri="{FF2B5EF4-FFF2-40B4-BE49-F238E27FC236}">
                <a16:creationId xmlns:a16="http://schemas.microsoft.com/office/drawing/2014/main" id="{02C0E6E7-119D-D874-9CC2-5DE5C37D738E}"/>
              </a:ext>
            </a:extLst>
          </p:cNvPr>
          <p:cNvPicPr>
            <a:picLocks noChangeAspect="1"/>
          </p:cNvPicPr>
          <p:nvPr/>
        </p:nvPicPr>
        <p:blipFill>
          <a:blip r:embed="rId3"/>
          <a:stretch>
            <a:fillRect/>
          </a:stretch>
        </p:blipFill>
        <p:spPr>
          <a:xfrm>
            <a:off x="6607458" y="4664282"/>
            <a:ext cx="2222500" cy="1638300"/>
          </a:xfrm>
          <a:prstGeom prst="rect">
            <a:avLst/>
          </a:prstGeom>
        </p:spPr>
      </p:pic>
    </p:spTree>
    <p:extLst>
      <p:ext uri="{BB962C8B-B14F-4D97-AF65-F5344CB8AC3E}">
        <p14:creationId xmlns:p14="http://schemas.microsoft.com/office/powerpoint/2010/main" val="2206655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943600" y="1962150"/>
            <a:ext cx="5638800" cy="5638800"/>
          </a:xfrm>
          <a:prstGeom prst="rect">
            <a:avLst/>
          </a:prstGeom>
        </p:spPr>
      </p:pic>
      <p:pic>
        <p:nvPicPr>
          <p:cNvPr id="3" name="Picture 2" descr="image.png"/>
          <p:cNvPicPr>
            <a:picLocks noChangeAspect="1"/>
          </p:cNvPicPr>
          <p:nvPr/>
        </p:nvPicPr>
        <p:blipFill>
          <a:blip r:embed="rId3"/>
          <a:stretch>
            <a:fillRect/>
          </a:stretch>
        </p:blipFill>
        <p:spPr>
          <a:xfrm>
            <a:off x="6248400" y="2266950"/>
            <a:ext cx="5029200" cy="5029200"/>
          </a:xfrm>
          <a:prstGeom prst="rect">
            <a:avLst/>
          </a:prstGeom>
        </p:spPr>
      </p:pic>
      <p:pic>
        <p:nvPicPr>
          <p:cNvPr id="4" name="Picture 3" descr="image.png"/>
          <p:cNvPicPr>
            <a:picLocks noChangeAspect="1"/>
          </p:cNvPicPr>
          <p:nvPr/>
        </p:nvPicPr>
        <p:blipFill>
          <a:blip r:embed="rId4"/>
          <a:stretch>
            <a:fillRect/>
          </a:stretch>
        </p:blipFill>
        <p:spPr>
          <a:xfrm>
            <a:off x="609600" y="4095750"/>
            <a:ext cx="304800" cy="304800"/>
          </a:xfrm>
          <a:prstGeom prst="rect">
            <a:avLst/>
          </a:prstGeom>
        </p:spPr>
      </p:pic>
      <p:pic>
        <p:nvPicPr>
          <p:cNvPr id="5" name="Picture 4" descr="image.png"/>
          <p:cNvPicPr>
            <a:picLocks noChangeAspect="1"/>
          </p:cNvPicPr>
          <p:nvPr/>
        </p:nvPicPr>
        <p:blipFill>
          <a:blip r:embed="rId4"/>
          <a:stretch>
            <a:fillRect/>
          </a:stretch>
        </p:blipFill>
        <p:spPr>
          <a:xfrm>
            <a:off x="609600" y="4629150"/>
            <a:ext cx="304800" cy="304800"/>
          </a:xfrm>
          <a:prstGeom prst="rect">
            <a:avLst/>
          </a:prstGeom>
        </p:spPr>
      </p:pic>
      <p:pic>
        <p:nvPicPr>
          <p:cNvPr id="6" name="Picture 5" descr="image.png"/>
          <p:cNvPicPr>
            <a:picLocks noChangeAspect="1"/>
          </p:cNvPicPr>
          <p:nvPr/>
        </p:nvPicPr>
        <p:blipFill>
          <a:blip r:embed="rId4"/>
          <a:stretch>
            <a:fillRect/>
          </a:stretch>
        </p:blipFill>
        <p:spPr>
          <a:xfrm>
            <a:off x="609600" y="5162550"/>
            <a:ext cx="304800" cy="304800"/>
          </a:xfrm>
          <a:prstGeom prst="rect">
            <a:avLst/>
          </a:prstGeom>
        </p:spPr>
      </p:pic>
      <p:sp>
        <p:nvSpPr>
          <p:cNvPr id="7" name="TextBox 6"/>
          <p:cNvSpPr txBox="1"/>
          <p:nvPr/>
        </p:nvSpPr>
        <p:spPr>
          <a:xfrm>
            <a:off x="609600" y="609600"/>
            <a:ext cx="11582400" cy="161925"/>
          </a:xfrm>
          <a:prstGeom prst="rect">
            <a:avLst/>
          </a:prstGeom>
          <a:noFill/>
        </p:spPr>
        <p:txBody>
          <a:bodyPr wrap="none" lIns="0" tIns="0" rIns="0" bIns="0" anchor="t">
            <a:spAutoFit/>
          </a:bodyPr>
          <a:lstStyle/>
          <a:p>
            <a:pPr algn="l"/>
            <a:r>
              <a:rPr sz="1050" b="1" i="0" u="none">
                <a:solidFill>
                  <a:srgbClr val="3B82F6"/>
                </a:solidFill>
                <a:latin typeface="Inter"/>
              </a:rPr>
              <a:t>THE OPEN SCIENCE DREAM</a:t>
            </a:r>
          </a:p>
        </p:txBody>
      </p:sp>
      <p:sp>
        <p:nvSpPr>
          <p:cNvPr id="8" name="TextBox 7"/>
          <p:cNvSpPr txBox="1"/>
          <p:nvPr/>
        </p:nvSpPr>
        <p:spPr>
          <a:xfrm>
            <a:off x="609600" y="923925"/>
            <a:ext cx="11582400" cy="581025"/>
          </a:xfrm>
          <a:prstGeom prst="rect">
            <a:avLst/>
          </a:prstGeom>
          <a:noFill/>
        </p:spPr>
        <p:txBody>
          <a:bodyPr wrap="none" lIns="0" tIns="0" rIns="0" bIns="0" anchor="t">
            <a:spAutoFit/>
          </a:bodyPr>
          <a:lstStyle/>
          <a:p>
            <a:pPr algn="l"/>
            <a:r>
              <a:rPr sz="3600" b="1" i="0" u="none">
                <a:solidFill>
                  <a:srgbClr val="0A0A0A"/>
                </a:solidFill>
                <a:latin typeface="Space Grotesk"/>
              </a:rPr>
              <a:t>You collected the perfect dataset.</a:t>
            </a:r>
          </a:p>
        </p:txBody>
      </p:sp>
      <p:sp>
        <p:nvSpPr>
          <p:cNvPr id="9" name="TextBox 8"/>
          <p:cNvSpPr txBox="1"/>
          <p:nvPr/>
        </p:nvSpPr>
        <p:spPr>
          <a:xfrm>
            <a:off x="1066800" y="4110037"/>
            <a:ext cx="4667250" cy="276225"/>
          </a:xfrm>
          <a:prstGeom prst="rect">
            <a:avLst/>
          </a:prstGeom>
          <a:noFill/>
        </p:spPr>
        <p:txBody>
          <a:bodyPr wrap="none" lIns="0" tIns="0" rIns="0" bIns="0" anchor="t">
            <a:spAutoFit/>
          </a:bodyPr>
          <a:lstStyle/>
          <a:p>
            <a:pPr algn="l"/>
            <a:r>
              <a:rPr sz="1800" b="0" i="0" u="none">
                <a:solidFill>
                  <a:srgbClr val="171717"/>
                </a:solidFill>
                <a:latin typeface="Inter"/>
              </a:rPr>
              <a:t>Rich, longitudinal patient histories.</a:t>
            </a:r>
          </a:p>
        </p:txBody>
      </p:sp>
      <p:sp>
        <p:nvSpPr>
          <p:cNvPr id="10" name="TextBox 9"/>
          <p:cNvSpPr txBox="1"/>
          <p:nvPr/>
        </p:nvSpPr>
        <p:spPr>
          <a:xfrm>
            <a:off x="1066800" y="4643437"/>
            <a:ext cx="3024187" cy="276225"/>
          </a:xfrm>
          <a:prstGeom prst="rect">
            <a:avLst/>
          </a:prstGeom>
          <a:noFill/>
        </p:spPr>
        <p:txBody>
          <a:bodyPr wrap="none" lIns="0" tIns="0" rIns="0" bIns="0" anchor="t">
            <a:spAutoFit/>
          </a:bodyPr>
          <a:lstStyle/>
          <a:p>
            <a:pPr algn="l"/>
            <a:r>
              <a:rPr sz="1800" b="0" i="0" u="none">
                <a:solidFill>
                  <a:srgbClr val="171717"/>
                </a:solidFill>
                <a:latin typeface="Inter"/>
              </a:rPr>
              <a:t>High statistical power.</a:t>
            </a:r>
          </a:p>
        </p:txBody>
      </p:sp>
      <p:sp>
        <p:nvSpPr>
          <p:cNvPr id="11" name="TextBox 10"/>
          <p:cNvSpPr txBox="1"/>
          <p:nvPr/>
        </p:nvSpPr>
        <p:spPr>
          <a:xfrm>
            <a:off x="1066800" y="5176837"/>
            <a:ext cx="4191000" cy="276225"/>
          </a:xfrm>
          <a:prstGeom prst="rect">
            <a:avLst/>
          </a:prstGeom>
          <a:noFill/>
        </p:spPr>
        <p:txBody>
          <a:bodyPr wrap="none" lIns="0" tIns="0" rIns="0" bIns="0" anchor="t">
            <a:spAutoFit/>
          </a:bodyPr>
          <a:lstStyle/>
          <a:p>
            <a:pPr algn="l"/>
            <a:r>
              <a:rPr sz="1800" b="0" i="0" u="none">
                <a:solidFill>
                  <a:srgbClr val="171717"/>
                </a:solidFill>
                <a:latin typeface="Inter"/>
              </a:rPr>
              <a:t>Ready for global collaboration.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600200" y="2333625"/>
            <a:ext cx="4572000" cy="3381375"/>
          </a:xfrm>
          <a:prstGeom prst="roundRect">
            <a:avLst>
              <a:gd name="adj" fmla="val 225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600200" y="2333625"/>
            <a:ext cx="4572000" cy="5715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905000" y="3057525"/>
            <a:ext cx="3962400" cy="1905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905000" y="4981575"/>
            <a:ext cx="3962400" cy="428625"/>
          </a:xfrm>
          <a:prstGeom prst="rect">
            <a:avLst/>
          </a:prstGeom>
          <a:solidFill>
            <a:srgbClr val="FE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895600" y="2695575"/>
            <a:ext cx="1133475" cy="247650"/>
          </a:xfrm>
          <a:prstGeom prst="rect">
            <a:avLst/>
          </a:prstGeom>
          <a:solidFill>
            <a:srgbClr val="171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33925" y="3267075"/>
            <a:ext cx="1133475" cy="200025"/>
          </a:xfrm>
          <a:prstGeom prst="rect">
            <a:avLst/>
          </a:prstGeom>
          <a:solidFill>
            <a:srgbClr val="171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686300" y="3657600"/>
            <a:ext cx="1181100" cy="200025"/>
          </a:xfrm>
          <a:prstGeom prst="rect">
            <a:avLst/>
          </a:prstGeom>
          <a:solidFill>
            <a:srgbClr val="171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457700" y="4048125"/>
            <a:ext cx="1409700" cy="200025"/>
          </a:xfrm>
          <a:prstGeom prst="rect">
            <a:avLst/>
          </a:prstGeom>
          <a:solidFill>
            <a:srgbClr val="171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619625" y="4438650"/>
            <a:ext cx="1247775" cy="200025"/>
          </a:xfrm>
          <a:prstGeom prst="rect">
            <a:avLst/>
          </a:prstGeom>
          <a:solidFill>
            <a:srgbClr val="1717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81000" y="609600"/>
            <a:ext cx="12954000" cy="581025"/>
          </a:xfrm>
          <a:prstGeom prst="rect">
            <a:avLst/>
          </a:prstGeom>
          <a:noFill/>
        </p:spPr>
        <p:txBody>
          <a:bodyPr wrap="none" lIns="0" tIns="0" rIns="0" bIns="0" anchor="t">
            <a:spAutoFit/>
          </a:bodyPr>
          <a:lstStyle/>
          <a:p>
            <a:pPr algn="ctr"/>
            <a:r>
              <a:rPr sz="3600" b="1" i="0" u="none">
                <a:solidFill>
                  <a:srgbClr val="0A0A0A"/>
                </a:solidFill>
                <a:latin typeface="Space Grotesk"/>
              </a:rPr>
              <a:t>But you cannot share it.</a:t>
            </a:r>
          </a:p>
        </p:txBody>
      </p:sp>
      <p:sp>
        <p:nvSpPr>
          <p:cNvPr id="12" name="TextBox 11"/>
          <p:cNvSpPr txBox="1"/>
          <p:nvPr/>
        </p:nvSpPr>
        <p:spPr>
          <a:xfrm>
            <a:off x="1905000" y="2695575"/>
            <a:ext cx="4260532" cy="266700"/>
          </a:xfrm>
          <a:prstGeom prst="rect">
            <a:avLst/>
          </a:prstGeom>
          <a:noFill/>
        </p:spPr>
        <p:txBody>
          <a:bodyPr wrap="square" lIns="0" tIns="0" rIns="0" bIns="0" anchor="t">
            <a:spAutoFit/>
          </a:bodyPr>
          <a:lstStyle/>
          <a:p>
            <a:pPr algn="l"/>
            <a:r>
              <a:rPr sz="1500" b="1" i="0" u="none">
                <a:solidFill>
                  <a:srgbClr val="000000"/>
                </a:solidFill>
                <a:latin typeface="Space Grotesk"/>
              </a:rPr>
              <a:t>Record ID:</a:t>
            </a:r>
          </a:p>
        </p:txBody>
      </p:sp>
      <p:sp>
        <p:nvSpPr>
          <p:cNvPr id="13" name="TextBox 12"/>
          <p:cNvSpPr txBox="1"/>
          <p:nvPr/>
        </p:nvSpPr>
        <p:spPr>
          <a:xfrm>
            <a:off x="1524000" y="5095875"/>
            <a:ext cx="4724400" cy="200025"/>
          </a:xfrm>
          <a:prstGeom prst="rect">
            <a:avLst/>
          </a:prstGeom>
          <a:noFill/>
        </p:spPr>
        <p:txBody>
          <a:bodyPr wrap="square" lIns="0" tIns="0" rIns="0" bIns="0" anchor="t">
            <a:spAutoFit/>
          </a:bodyPr>
          <a:lstStyle/>
          <a:p>
            <a:pPr algn="ctr"/>
            <a:r>
              <a:rPr sz="1050" b="1" i="0" u="none">
                <a:solidFill>
                  <a:srgbClr val="EF4444"/>
                </a:solidFill>
                <a:latin typeface="Inter"/>
              </a:rPr>
              <a:t>GDPR PRIVACY BLOCK</a:t>
            </a:r>
          </a:p>
        </p:txBody>
      </p:sp>
      <p:sp>
        <p:nvSpPr>
          <p:cNvPr id="14" name="TextBox 13"/>
          <p:cNvSpPr txBox="1"/>
          <p:nvPr/>
        </p:nvSpPr>
        <p:spPr>
          <a:xfrm>
            <a:off x="6781800" y="2919412"/>
            <a:ext cx="5000625" cy="381000"/>
          </a:xfrm>
          <a:prstGeom prst="rect">
            <a:avLst/>
          </a:prstGeom>
          <a:noFill/>
        </p:spPr>
        <p:txBody>
          <a:bodyPr wrap="none" lIns="0" tIns="0" rIns="0" bIns="0" anchor="t">
            <a:spAutoFit/>
          </a:bodyPr>
          <a:lstStyle/>
          <a:p>
            <a:pPr algn="l"/>
            <a:r>
              <a:rPr sz="2400" b="1" i="0" u="none">
                <a:solidFill>
                  <a:srgbClr val="171717"/>
                </a:solidFill>
                <a:latin typeface="Space Grotesk"/>
              </a:rPr>
              <a:t>The Reality</a:t>
            </a:r>
          </a:p>
        </p:txBody>
      </p:sp>
      <p:sp>
        <p:nvSpPr>
          <p:cNvPr id="15" name="TextBox 14"/>
          <p:cNvSpPr txBox="1"/>
          <p:nvPr/>
        </p:nvSpPr>
        <p:spPr>
          <a:xfrm>
            <a:off x="6781800" y="3529012"/>
            <a:ext cx="3905250" cy="457200"/>
          </a:xfrm>
          <a:prstGeom prst="rect">
            <a:avLst/>
          </a:prstGeom>
          <a:noFill/>
        </p:spPr>
        <p:txBody>
          <a:bodyPr wrap="square" lIns="0" tIns="0" rIns="0" bIns="0" anchor="t">
            <a:spAutoFit/>
          </a:bodyPr>
          <a:lstStyle/>
          <a:p>
            <a:pPr algn="l"/>
            <a:r>
              <a:rPr sz="1500" b="0" i="0" u="none">
                <a:solidFill>
                  <a:srgbClr val="525252"/>
                </a:solidFill>
                <a:latin typeface="Inter"/>
              </a:rPr>
              <a:t>Direct records contain sensitive personal identifiers.</a:t>
            </a:r>
          </a:p>
        </p:txBody>
      </p:sp>
      <p:sp>
        <p:nvSpPr>
          <p:cNvPr id="16" name="TextBox 15"/>
          <p:cNvSpPr txBox="1"/>
          <p:nvPr/>
        </p:nvSpPr>
        <p:spPr>
          <a:xfrm>
            <a:off x="6781800" y="4214812"/>
            <a:ext cx="3905250" cy="457200"/>
          </a:xfrm>
          <a:prstGeom prst="rect">
            <a:avLst/>
          </a:prstGeom>
          <a:noFill/>
        </p:spPr>
        <p:txBody>
          <a:bodyPr wrap="square" lIns="0" tIns="0" rIns="0" bIns="0" anchor="t">
            <a:spAutoFit/>
          </a:bodyPr>
          <a:lstStyle/>
          <a:p>
            <a:pPr algn="l"/>
            <a:r>
              <a:rPr sz="1500" b="0" i="0" u="none">
                <a:solidFill>
                  <a:srgbClr val="525252"/>
                </a:solidFill>
                <a:latin typeface="Inter"/>
              </a:rPr>
              <a:t>Strict ethical constraints prevent raw data release.</a:t>
            </a:r>
          </a:p>
        </p:txBody>
      </p:sp>
      <p:sp>
        <p:nvSpPr>
          <p:cNvPr id="17" name="TextBox 16"/>
          <p:cNvSpPr txBox="1"/>
          <p:nvPr/>
        </p:nvSpPr>
        <p:spPr>
          <a:xfrm>
            <a:off x="6781800" y="4900612"/>
            <a:ext cx="4762500" cy="228600"/>
          </a:xfrm>
          <a:prstGeom prst="rect">
            <a:avLst/>
          </a:prstGeom>
          <a:noFill/>
        </p:spPr>
        <p:txBody>
          <a:bodyPr wrap="none" lIns="0" tIns="0" rIns="0" bIns="0" anchor="t">
            <a:spAutoFit/>
          </a:bodyPr>
          <a:lstStyle/>
          <a:p>
            <a:pPr algn="l"/>
            <a:r>
              <a:rPr sz="1500" b="1" i="0" u="none">
                <a:solidFill>
                  <a:srgbClr val="EF4444"/>
                </a:solidFill>
                <a:latin typeface="Inter"/>
              </a:rPr>
              <a:t>Progress halts completely.</a:t>
            </a:r>
          </a:p>
        </p:txBody>
      </p:sp>
      <p:sp>
        <p:nvSpPr>
          <p:cNvPr id="18" name="TextBox 17"/>
          <p:cNvSpPr txBox="1"/>
          <p:nvPr/>
        </p:nvSpPr>
        <p:spPr>
          <a:xfrm>
            <a:off x="2933700" y="2695575"/>
            <a:ext cx="1343025" cy="247650"/>
          </a:xfrm>
          <a:prstGeom prst="rect">
            <a:avLst/>
          </a:prstGeom>
          <a:noFill/>
        </p:spPr>
        <p:txBody>
          <a:bodyPr wrap="none" lIns="0" tIns="0" rIns="0" bIns="0" anchor="t">
            <a:spAutoFit/>
          </a:bodyPr>
          <a:lstStyle/>
          <a:p>
            <a:pPr algn="l"/>
            <a:r>
              <a:rPr sz="1500" b="1" i="0" u="none">
                <a:solidFill>
                  <a:srgbClr val="F8FAFC"/>
                </a:solidFill>
                <a:latin typeface="Space Grotesk"/>
              </a:rPr>
              <a:t>UIO-992-8A</a:t>
            </a:r>
          </a:p>
        </p:txBody>
      </p:sp>
      <p:sp>
        <p:nvSpPr>
          <p:cNvPr id="19" name="TextBox 18"/>
          <p:cNvSpPr txBox="1"/>
          <p:nvPr/>
        </p:nvSpPr>
        <p:spPr>
          <a:xfrm>
            <a:off x="1905000" y="3267075"/>
            <a:ext cx="1276350" cy="200025"/>
          </a:xfrm>
          <a:prstGeom prst="rect">
            <a:avLst/>
          </a:prstGeom>
          <a:noFill/>
        </p:spPr>
        <p:txBody>
          <a:bodyPr wrap="none" lIns="0" tIns="0" rIns="0" bIns="0" anchor="t">
            <a:spAutoFit/>
          </a:bodyPr>
          <a:lstStyle/>
          <a:p>
            <a:pPr algn="l"/>
            <a:r>
              <a:rPr sz="1350" b="0" i="0" u="none">
                <a:solidFill>
                  <a:srgbClr val="525252"/>
                </a:solidFill>
                <a:latin typeface="Inter"/>
              </a:rPr>
              <a:t>Patient Age:</a:t>
            </a:r>
          </a:p>
        </p:txBody>
      </p:sp>
      <p:sp>
        <p:nvSpPr>
          <p:cNvPr id="20" name="TextBox 19"/>
          <p:cNvSpPr txBox="1"/>
          <p:nvPr/>
        </p:nvSpPr>
        <p:spPr>
          <a:xfrm>
            <a:off x="4772025" y="3267075"/>
            <a:ext cx="1343025" cy="200025"/>
          </a:xfrm>
          <a:prstGeom prst="rect">
            <a:avLst/>
          </a:prstGeom>
          <a:noFill/>
        </p:spPr>
        <p:txBody>
          <a:bodyPr wrap="none" lIns="0" tIns="0" rIns="0" bIns="0" anchor="t">
            <a:spAutoFit/>
          </a:bodyPr>
          <a:lstStyle/>
          <a:p>
            <a:pPr algn="l"/>
            <a:r>
              <a:rPr sz="1350" b="0" i="0" u="none">
                <a:solidFill>
                  <a:srgbClr val="F8FAFC"/>
                </a:solidFill>
                <a:latin typeface="Inter"/>
              </a:rPr>
              <a:t>42 Years Old</a:t>
            </a:r>
          </a:p>
        </p:txBody>
      </p:sp>
      <p:sp>
        <p:nvSpPr>
          <p:cNvPr id="21" name="TextBox 20"/>
          <p:cNvSpPr txBox="1"/>
          <p:nvPr/>
        </p:nvSpPr>
        <p:spPr>
          <a:xfrm>
            <a:off x="1905000" y="3657600"/>
            <a:ext cx="1028700" cy="200025"/>
          </a:xfrm>
          <a:prstGeom prst="rect">
            <a:avLst/>
          </a:prstGeom>
          <a:noFill/>
        </p:spPr>
        <p:txBody>
          <a:bodyPr wrap="none" lIns="0" tIns="0" rIns="0" bIns="0" anchor="t">
            <a:spAutoFit/>
          </a:bodyPr>
          <a:lstStyle/>
          <a:p>
            <a:pPr algn="l"/>
            <a:r>
              <a:rPr sz="1350" b="0" i="0" u="none">
                <a:solidFill>
                  <a:srgbClr val="525252"/>
                </a:solidFill>
                <a:latin typeface="Inter"/>
              </a:rPr>
              <a:t>Location:</a:t>
            </a:r>
          </a:p>
        </p:txBody>
      </p:sp>
      <p:sp>
        <p:nvSpPr>
          <p:cNvPr id="22" name="TextBox 21"/>
          <p:cNvSpPr txBox="1"/>
          <p:nvPr/>
        </p:nvSpPr>
        <p:spPr>
          <a:xfrm>
            <a:off x="4724400" y="3657600"/>
            <a:ext cx="1400175" cy="200025"/>
          </a:xfrm>
          <a:prstGeom prst="rect">
            <a:avLst/>
          </a:prstGeom>
          <a:noFill/>
        </p:spPr>
        <p:txBody>
          <a:bodyPr wrap="none" lIns="0" tIns="0" rIns="0" bIns="0" anchor="t">
            <a:spAutoFit/>
          </a:bodyPr>
          <a:lstStyle/>
          <a:p>
            <a:pPr algn="l"/>
            <a:r>
              <a:rPr sz="1350" b="0" i="0" u="none">
                <a:solidFill>
                  <a:srgbClr val="F8FAFC"/>
                </a:solidFill>
                <a:latin typeface="Inter"/>
              </a:rPr>
              <a:t>Oslo, Norway</a:t>
            </a:r>
          </a:p>
        </p:txBody>
      </p:sp>
      <p:sp>
        <p:nvSpPr>
          <p:cNvPr id="23" name="TextBox 22"/>
          <p:cNvSpPr txBox="1"/>
          <p:nvPr/>
        </p:nvSpPr>
        <p:spPr>
          <a:xfrm>
            <a:off x="1905000" y="4048125"/>
            <a:ext cx="1133475" cy="200025"/>
          </a:xfrm>
          <a:prstGeom prst="rect">
            <a:avLst/>
          </a:prstGeom>
          <a:noFill/>
        </p:spPr>
        <p:txBody>
          <a:bodyPr wrap="none" lIns="0" tIns="0" rIns="0" bIns="0" anchor="t">
            <a:spAutoFit/>
          </a:bodyPr>
          <a:lstStyle/>
          <a:p>
            <a:pPr algn="l"/>
            <a:r>
              <a:rPr sz="1350" b="0" i="0" u="none">
                <a:solidFill>
                  <a:srgbClr val="525252"/>
                </a:solidFill>
                <a:latin typeface="Inter"/>
              </a:rPr>
              <a:t>Diagnosis:</a:t>
            </a:r>
          </a:p>
        </p:txBody>
      </p:sp>
      <p:sp>
        <p:nvSpPr>
          <p:cNvPr id="24" name="TextBox 23"/>
          <p:cNvSpPr txBox="1"/>
          <p:nvPr/>
        </p:nvSpPr>
        <p:spPr>
          <a:xfrm>
            <a:off x="4495800" y="4048125"/>
            <a:ext cx="1685925" cy="200025"/>
          </a:xfrm>
          <a:prstGeom prst="rect">
            <a:avLst/>
          </a:prstGeom>
          <a:noFill/>
        </p:spPr>
        <p:txBody>
          <a:bodyPr wrap="none" lIns="0" tIns="0" rIns="0" bIns="0" anchor="t">
            <a:spAutoFit/>
          </a:bodyPr>
          <a:lstStyle/>
          <a:p>
            <a:pPr algn="l"/>
            <a:r>
              <a:rPr sz="1350" b="0" i="0" u="none">
                <a:solidFill>
                  <a:srgbClr val="F8FAFC"/>
                </a:solidFill>
                <a:latin typeface="Inter"/>
              </a:rPr>
              <a:t>Type 2 Diabetes</a:t>
            </a:r>
          </a:p>
        </p:txBody>
      </p:sp>
      <p:sp>
        <p:nvSpPr>
          <p:cNvPr id="25" name="TextBox 24"/>
          <p:cNvSpPr txBox="1"/>
          <p:nvPr/>
        </p:nvSpPr>
        <p:spPr>
          <a:xfrm>
            <a:off x="1905000" y="4438650"/>
            <a:ext cx="1085850" cy="200025"/>
          </a:xfrm>
          <a:prstGeom prst="rect">
            <a:avLst/>
          </a:prstGeom>
          <a:noFill/>
        </p:spPr>
        <p:txBody>
          <a:bodyPr wrap="none" lIns="0" tIns="0" rIns="0" bIns="0" anchor="t">
            <a:spAutoFit/>
          </a:bodyPr>
          <a:lstStyle/>
          <a:p>
            <a:pPr algn="l"/>
            <a:r>
              <a:rPr sz="1350" b="0" i="0" u="none">
                <a:solidFill>
                  <a:srgbClr val="525252"/>
                </a:solidFill>
                <a:latin typeface="Inter"/>
              </a:rPr>
              <a:t>Outcome:</a:t>
            </a:r>
          </a:p>
        </p:txBody>
      </p:sp>
      <p:sp>
        <p:nvSpPr>
          <p:cNvPr id="26" name="TextBox 25"/>
          <p:cNvSpPr txBox="1"/>
          <p:nvPr/>
        </p:nvSpPr>
        <p:spPr>
          <a:xfrm>
            <a:off x="4657725" y="4438650"/>
            <a:ext cx="1483518" cy="200025"/>
          </a:xfrm>
          <a:prstGeom prst="rect">
            <a:avLst/>
          </a:prstGeom>
          <a:noFill/>
        </p:spPr>
        <p:txBody>
          <a:bodyPr wrap="none" lIns="0" tIns="0" rIns="0" bIns="0" anchor="t">
            <a:spAutoFit/>
          </a:bodyPr>
          <a:lstStyle/>
          <a:p>
            <a:pPr algn="l"/>
            <a:r>
              <a:rPr sz="1350" b="0" i="0" u="none">
                <a:solidFill>
                  <a:srgbClr val="F8FAFC"/>
                </a:solidFill>
                <a:latin typeface="Inter"/>
              </a:rPr>
              <a:t>Full Remission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581275" y="2619375"/>
            <a:ext cx="3362325" cy="2876550"/>
          </a:xfrm>
          <a:prstGeom prst="roundRect">
            <a:avLst>
              <a:gd name="adj" fmla="val 5298"/>
            </a:avLst>
          </a:prstGeom>
          <a:solidFill>
            <a:srgbClr val="F9FAF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2447925"/>
            <a:ext cx="3362325" cy="3219450"/>
          </a:xfrm>
          <a:prstGeom prst="roundRect">
            <a:avLst>
              <a:gd name="adj" fmla="val 4733"/>
            </a:avLst>
          </a:prstGeom>
          <a:solidFill>
            <a:srgbClr val="F9FAFB"/>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10037" y="4267200"/>
            <a:ext cx="304800" cy="19050"/>
          </a:xfrm>
          <a:prstGeom prst="rect">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77162" y="4438650"/>
            <a:ext cx="304800" cy="19050"/>
          </a:xfrm>
          <a:prstGeom prst="rect">
            <a:avLst/>
          </a:prstGeom>
          <a:solidFill>
            <a:srgbClr val="D4D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4062412" y="3086100"/>
            <a:ext cx="400050" cy="457200"/>
          </a:xfrm>
          <a:prstGeom prst="rect">
            <a:avLst/>
          </a:prstGeom>
        </p:spPr>
      </p:pic>
      <p:pic>
        <p:nvPicPr>
          <p:cNvPr id="7" name="Picture 6" descr="image.png"/>
          <p:cNvPicPr>
            <a:picLocks noChangeAspect="1"/>
          </p:cNvPicPr>
          <p:nvPr/>
        </p:nvPicPr>
        <p:blipFill>
          <a:blip r:embed="rId3"/>
          <a:stretch>
            <a:fillRect/>
          </a:stretch>
        </p:blipFill>
        <p:spPr>
          <a:xfrm>
            <a:off x="7672387" y="2914650"/>
            <a:ext cx="514350" cy="457200"/>
          </a:xfrm>
          <a:prstGeom prst="rect">
            <a:avLst/>
          </a:prstGeom>
        </p:spPr>
      </p:pic>
      <p:sp>
        <p:nvSpPr>
          <p:cNvPr id="8" name="TextBox 7"/>
          <p:cNvSpPr txBox="1"/>
          <p:nvPr/>
        </p:nvSpPr>
        <p:spPr>
          <a:xfrm>
            <a:off x="-381000" y="609600"/>
            <a:ext cx="12954000" cy="161925"/>
          </a:xfrm>
          <a:prstGeom prst="rect">
            <a:avLst/>
          </a:prstGeom>
          <a:noFill/>
        </p:spPr>
        <p:txBody>
          <a:bodyPr wrap="none" lIns="0" tIns="0" rIns="0" bIns="0" anchor="t">
            <a:spAutoFit/>
          </a:bodyPr>
          <a:lstStyle/>
          <a:p>
            <a:pPr algn="ctr"/>
            <a:r>
              <a:rPr sz="1050" b="1" i="0" u="none">
                <a:solidFill>
                  <a:srgbClr val="525252"/>
                </a:solidFill>
                <a:latin typeface="Inter"/>
              </a:rPr>
              <a:t>THE CURRENT IMPASSE</a:t>
            </a:r>
          </a:p>
        </p:txBody>
      </p:sp>
      <p:sp>
        <p:nvSpPr>
          <p:cNvPr id="9" name="TextBox 8"/>
          <p:cNvSpPr txBox="1"/>
          <p:nvPr/>
        </p:nvSpPr>
        <p:spPr>
          <a:xfrm>
            <a:off x="-381000" y="923925"/>
            <a:ext cx="12954000" cy="485775"/>
          </a:xfrm>
          <a:prstGeom prst="rect">
            <a:avLst/>
          </a:prstGeom>
          <a:noFill/>
        </p:spPr>
        <p:txBody>
          <a:bodyPr wrap="none" lIns="0" tIns="0" rIns="0" bIns="0" anchor="t">
            <a:spAutoFit/>
          </a:bodyPr>
          <a:lstStyle/>
          <a:p>
            <a:pPr algn="ctr"/>
            <a:r>
              <a:rPr sz="3000" b="1" i="0" u="none">
                <a:solidFill>
                  <a:srgbClr val="0A0A0A"/>
                </a:solidFill>
                <a:latin typeface="Space Grotesk"/>
              </a:rPr>
              <a:t>Two broken options.</a:t>
            </a:r>
          </a:p>
        </p:txBody>
      </p:sp>
      <p:sp>
        <p:nvSpPr>
          <p:cNvPr id="10" name="TextBox 9"/>
          <p:cNvSpPr txBox="1"/>
          <p:nvPr/>
        </p:nvSpPr>
        <p:spPr>
          <a:xfrm>
            <a:off x="3174801" y="3771900"/>
            <a:ext cx="2175271" cy="342900"/>
          </a:xfrm>
          <a:prstGeom prst="rect">
            <a:avLst/>
          </a:prstGeom>
          <a:noFill/>
        </p:spPr>
        <p:txBody>
          <a:bodyPr wrap="none" lIns="0" tIns="0" rIns="0" bIns="0" anchor="t">
            <a:spAutoFit/>
          </a:bodyPr>
          <a:lstStyle/>
          <a:p>
            <a:pPr algn="ctr"/>
            <a:r>
              <a:rPr sz="2100" b="1" i="0" u="none">
                <a:solidFill>
                  <a:srgbClr val="171717"/>
                </a:solidFill>
                <a:latin typeface="Space Grotesk"/>
              </a:rPr>
              <a:t>The Data Silo</a:t>
            </a:r>
          </a:p>
        </p:txBody>
      </p:sp>
      <p:sp>
        <p:nvSpPr>
          <p:cNvPr id="11" name="TextBox 10"/>
          <p:cNvSpPr txBox="1"/>
          <p:nvPr/>
        </p:nvSpPr>
        <p:spPr>
          <a:xfrm>
            <a:off x="3095625" y="4514850"/>
            <a:ext cx="2333625" cy="200025"/>
          </a:xfrm>
          <a:prstGeom prst="rect">
            <a:avLst/>
          </a:prstGeom>
          <a:noFill/>
        </p:spPr>
        <p:txBody>
          <a:bodyPr wrap="none" lIns="0" tIns="0" rIns="0" bIns="0" anchor="t">
            <a:spAutoFit/>
          </a:bodyPr>
          <a:lstStyle/>
          <a:p>
            <a:pPr algn="ctr"/>
            <a:r>
              <a:rPr sz="1350" b="0" i="0" u="none">
                <a:solidFill>
                  <a:srgbClr val="525252"/>
                </a:solidFill>
                <a:latin typeface="Inter"/>
              </a:rPr>
              <a:t>Locked away securely.</a:t>
            </a:r>
          </a:p>
        </p:txBody>
      </p:sp>
      <p:sp>
        <p:nvSpPr>
          <p:cNvPr id="12" name="TextBox 11"/>
          <p:cNvSpPr txBox="1"/>
          <p:nvPr/>
        </p:nvSpPr>
        <p:spPr>
          <a:xfrm>
            <a:off x="2756296" y="4829175"/>
            <a:ext cx="3012281" cy="200025"/>
          </a:xfrm>
          <a:prstGeom prst="rect">
            <a:avLst/>
          </a:prstGeom>
          <a:noFill/>
        </p:spPr>
        <p:txBody>
          <a:bodyPr wrap="none" lIns="0" tIns="0" rIns="0" bIns="0" anchor="t">
            <a:spAutoFit/>
          </a:bodyPr>
          <a:lstStyle/>
          <a:p>
            <a:pPr algn="ctr"/>
            <a:r>
              <a:rPr sz="1350" b="0" i="0" u="none">
                <a:solidFill>
                  <a:srgbClr val="525252"/>
                </a:solidFill>
                <a:latin typeface="Inter"/>
              </a:rPr>
              <a:t>Zero scientific reproducibility.</a:t>
            </a:r>
          </a:p>
        </p:txBody>
      </p:sp>
      <p:sp>
        <p:nvSpPr>
          <p:cNvPr id="13" name="TextBox 12"/>
          <p:cNvSpPr txBox="1"/>
          <p:nvPr/>
        </p:nvSpPr>
        <p:spPr>
          <a:xfrm>
            <a:off x="6235600" y="3600450"/>
            <a:ext cx="3387923" cy="685800"/>
          </a:xfrm>
          <a:prstGeom prst="rect">
            <a:avLst/>
          </a:prstGeom>
          <a:noFill/>
        </p:spPr>
        <p:txBody>
          <a:bodyPr wrap="square" lIns="0" tIns="0" rIns="0" bIns="0" anchor="t">
            <a:spAutoFit/>
          </a:bodyPr>
          <a:lstStyle/>
          <a:p>
            <a:pPr algn="ctr"/>
            <a:r>
              <a:rPr sz="2100" b="1" i="0" u="none">
                <a:solidFill>
                  <a:srgbClr val="171717"/>
                </a:solidFill>
                <a:latin typeface="Space Grotesk"/>
              </a:rPr>
              <a:t>Heavy Anonymization</a:t>
            </a:r>
          </a:p>
        </p:txBody>
      </p:sp>
      <p:sp>
        <p:nvSpPr>
          <p:cNvPr id="14" name="TextBox 13"/>
          <p:cNvSpPr txBox="1"/>
          <p:nvPr/>
        </p:nvSpPr>
        <p:spPr>
          <a:xfrm>
            <a:off x="6322218" y="4686300"/>
            <a:ext cx="3214687" cy="200025"/>
          </a:xfrm>
          <a:prstGeom prst="rect">
            <a:avLst/>
          </a:prstGeom>
          <a:noFill/>
        </p:spPr>
        <p:txBody>
          <a:bodyPr wrap="none" lIns="0" tIns="0" rIns="0" bIns="0" anchor="t">
            <a:spAutoFit/>
          </a:bodyPr>
          <a:lstStyle/>
          <a:p>
            <a:pPr algn="ctr"/>
            <a:r>
              <a:rPr sz="1350" b="0" i="0" u="none">
                <a:solidFill>
                  <a:srgbClr val="525252"/>
                </a:solidFill>
                <a:latin typeface="Inter"/>
              </a:rPr>
              <a:t>Information deeply aggregated.</a:t>
            </a:r>
          </a:p>
        </p:txBody>
      </p:sp>
      <p:sp>
        <p:nvSpPr>
          <p:cNvPr id="15" name="TextBox 14"/>
          <p:cNvSpPr txBox="1"/>
          <p:nvPr/>
        </p:nvSpPr>
        <p:spPr>
          <a:xfrm>
            <a:off x="6572250" y="5000625"/>
            <a:ext cx="2714625" cy="200025"/>
          </a:xfrm>
          <a:prstGeom prst="rect">
            <a:avLst/>
          </a:prstGeom>
          <a:noFill/>
        </p:spPr>
        <p:txBody>
          <a:bodyPr wrap="none" lIns="0" tIns="0" rIns="0" bIns="0" anchor="t">
            <a:spAutoFit/>
          </a:bodyPr>
          <a:lstStyle/>
          <a:p>
            <a:pPr algn="ctr"/>
            <a:r>
              <a:rPr sz="1350" b="0" i="0" u="none">
                <a:solidFill>
                  <a:srgbClr val="525252"/>
                </a:solidFill>
                <a:latin typeface="Inter"/>
              </a:rPr>
              <a:t>Destroyed analytical utility.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6705600" cy="6858000"/>
          </a:xfrm>
          <a:prstGeom prst="rect">
            <a:avLst/>
          </a:prstGeom>
          <a:solidFill>
            <a:srgbClr val="F9FA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6705600" y="0"/>
            <a:ext cx="5486400" cy="6858000"/>
          </a:xfrm>
          <a:prstGeom prst="rect">
            <a:avLst/>
          </a:prstGeom>
        </p:spPr>
      </p:pic>
      <p:pic>
        <p:nvPicPr>
          <p:cNvPr id="4" name="Picture 3" descr="image.png"/>
          <p:cNvPicPr>
            <a:picLocks noChangeAspect="1"/>
          </p:cNvPicPr>
          <p:nvPr/>
        </p:nvPicPr>
        <p:blipFill>
          <a:blip r:embed="rId3"/>
          <a:stretch>
            <a:fillRect/>
          </a:stretch>
        </p:blipFill>
        <p:spPr>
          <a:xfrm>
            <a:off x="6705600" y="0"/>
            <a:ext cx="5486400" cy="6858000"/>
          </a:xfrm>
          <a:prstGeom prst="rect">
            <a:avLst/>
          </a:prstGeom>
        </p:spPr>
      </p:pic>
      <p:sp>
        <p:nvSpPr>
          <p:cNvPr id="5" name="TextBox 4"/>
          <p:cNvSpPr txBox="1"/>
          <p:nvPr/>
        </p:nvSpPr>
        <p:spPr>
          <a:xfrm>
            <a:off x="609600" y="2242244"/>
            <a:ext cx="6858000" cy="161925"/>
          </a:xfrm>
          <a:prstGeom prst="rect">
            <a:avLst/>
          </a:prstGeom>
          <a:noFill/>
        </p:spPr>
        <p:txBody>
          <a:bodyPr wrap="none" lIns="0" tIns="0" rIns="0" bIns="0" anchor="t">
            <a:spAutoFit/>
          </a:bodyPr>
          <a:lstStyle/>
          <a:p>
            <a:pPr algn="l"/>
            <a:r>
              <a:rPr sz="1050" b="1" i="0" u="none">
                <a:solidFill>
                  <a:srgbClr val="3B82F6"/>
                </a:solidFill>
                <a:latin typeface="Inter"/>
              </a:rPr>
              <a:t>A NEW PARADIGM</a:t>
            </a:r>
          </a:p>
        </p:txBody>
      </p:sp>
      <p:sp>
        <p:nvSpPr>
          <p:cNvPr id="6" name="TextBox 5"/>
          <p:cNvSpPr txBox="1"/>
          <p:nvPr/>
        </p:nvSpPr>
        <p:spPr>
          <a:xfrm>
            <a:off x="609600" y="2556569"/>
            <a:ext cx="5860732" cy="1097160"/>
          </a:xfrm>
          <a:prstGeom prst="rect">
            <a:avLst/>
          </a:prstGeom>
          <a:noFill/>
        </p:spPr>
        <p:txBody>
          <a:bodyPr wrap="square" lIns="0" tIns="0" rIns="0" bIns="0" anchor="t">
            <a:spAutoFit/>
          </a:bodyPr>
          <a:lstStyle/>
          <a:p>
            <a:pPr algn="l">
              <a:lnSpc>
                <a:spcPts val="4320"/>
              </a:lnSpc>
            </a:pPr>
            <a:r>
              <a:rPr sz="3600" b="1" i="0" u="none" dirty="0">
                <a:solidFill>
                  <a:srgbClr val="0A0A0A"/>
                </a:solidFill>
                <a:latin typeface="Space Grotesk"/>
              </a:rPr>
              <a:t>What if we share the pattern, not the </a:t>
            </a:r>
            <a:r>
              <a:rPr lang="en-GB" sz="3600" b="1" dirty="0">
                <a:solidFill>
                  <a:srgbClr val="0A0A0A"/>
                </a:solidFill>
                <a:latin typeface="Space Grotesk"/>
              </a:rPr>
              <a:t>actual data</a:t>
            </a:r>
            <a:r>
              <a:rPr sz="3600" b="1" i="0" u="none" dirty="0">
                <a:solidFill>
                  <a:srgbClr val="0A0A0A"/>
                </a:solidFill>
                <a:latin typeface="Space Grotesk"/>
              </a:rPr>
              <a:t>?</a:t>
            </a:r>
          </a:p>
        </p:txBody>
      </p:sp>
      <p:sp>
        <p:nvSpPr>
          <p:cNvPr id="7" name="TextBox 6"/>
          <p:cNvSpPr txBox="1"/>
          <p:nvPr/>
        </p:nvSpPr>
        <p:spPr>
          <a:xfrm>
            <a:off x="609600" y="3958530"/>
            <a:ext cx="6858000" cy="276225"/>
          </a:xfrm>
          <a:prstGeom prst="rect">
            <a:avLst/>
          </a:prstGeom>
          <a:noFill/>
        </p:spPr>
        <p:txBody>
          <a:bodyPr wrap="none" lIns="0" tIns="0" rIns="0" bIns="0" anchor="t">
            <a:spAutoFit/>
          </a:bodyPr>
          <a:lstStyle/>
          <a:p>
            <a:pPr algn="l"/>
            <a:r>
              <a:rPr sz="1800" b="0" i="0" u="none">
                <a:solidFill>
                  <a:srgbClr val="525252"/>
                </a:solidFill>
                <a:latin typeface="Inter"/>
              </a:rPr>
              <a:t>Enter AI-generated synthetic data.</a:t>
            </a:r>
          </a:p>
        </p:txBody>
      </p:sp>
      <p:sp>
        <p:nvSpPr>
          <p:cNvPr id="8" name="TextBox 7"/>
          <p:cNvSpPr txBox="1"/>
          <p:nvPr/>
        </p:nvSpPr>
        <p:spPr>
          <a:xfrm>
            <a:off x="609600" y="4387155"/>
            <a:ext cx="6858000" cy="228600"/>
          </a:xfrm>
          <a:prstGeom prst="rect">
            <a:avLst/>
          </a:prstGeom>
          <a:noFill/>
        </p:spPr>
        <p:txBody>
          <a:bodyPr wrap="none" lIns="0" tIns="0" rIns="0" bIns="0" anchor="t">
            <a:spAutoFit/>
          </a:bodyPr>
          <a:lstStyle/>
          <a:p>
            <a:pPr algn="l"/>
            <a:r>
              <a:rPr sz="1500" b="0" i="0" u="none">
                <a:solidFill>
                  <a:srgbClr val="737373"/>
                </a:solidFill>
                <a:latin typeface="Inter"/>
              </a:rPr>
              <a:t>Statistical fidelity maintained. Privacy preserved.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468E9-63FB-4743-F1DA-12494DBF22B1}"/>
              </a:ext>
            </a:extLst>
          </p:cNvPr>
          <p:cNvSpPr>
            <a:spLocks noGrp="1"/>
          </p:cNvSpPr>
          <p:nvPr>
            <p:ph type="title"/>
          </p:nvPr>
        </p:nvSpPr>
        <p:spPr/>
        <p:txBody>
          <a:bodyPr/>
          <a:lstStyle/>
          <a:p>
            <a:r>
              <a:rPr lang="en-US" dirty="0"/>
              <a:t>Today’s plan</a:t>
            </a:r>
          </a:p>
        </p:txBody>
      </p:sp>
      <p:sp>
        <p:nvSpPr>
          <p:cNvPr id="3" name="Content Placeholder 2">
            <a:extLst>
              <a:ext uri="{FF2B5EF4-FFF2-40B4-BE49-F238E27FC236}">
                <a16:creationId xmlns:a16="http://schemas.microsoft.com/office/drawing/2014/main" id="{B77CC381-3023-FA31-EF41-D0CFB4F5991A}"/>
              </a:ext>
            </a:extLst>
          </p:cNvPr>
          <p:cNvSpPr>
            <a:spLocks noGrp="1"/>
          </p:cNvSpPr>
          <p:nvPr>
            <p:ph idx="1"/>
          </p:nvPr>
        </p:nvSpPr>
        <p:spPr/>
        <p:txBody>
          <a:bodyPr/>
          <a:lstStyle/>
          <a:p>
            <a:r>
              <a:rPr lang="en-US" dirty="0"/>
              <a:t>What is Synthetic data</a:t>
            </a:r>
            <a:r>
              <a:rPr lang="en-GB" dirty="0"/>
              <a:t>,</a:t>
            </a:r>
            <a:r>
              <a:rPr lang="en-US" dirty="0"/>
              <a:t> </a:t>
            </a:r>
            <a:r>
              <a:rPr lang="en-GB" dirty="0"/>
              <a:t>and what opportunities can it bring?</a:t>
            </a:r>
          </a:p>
          <a:p>
            <a:r>
              <a:rPr lang="en-GB" dirty="0"/>
              <a:t>How to generate synthetic data</a:t>
            </a:r>
          </a:p>
          <a:p>
            <a:r>
              <a:rPr lang="en-GB" dirty="0"/>
              <a:t>How to evaluate synthetic data</a:t>
            </a:r>
          </a:p>
          <a:p>
            <a:r>
              <a:rPr lang="en-GB" dirty="0"/>
              <a:t>One example of using synthetic data for open science</a:t>
            </a:r>
          </a:p>
          <a:p>
            <a:r>
              <a:rPr lang="en-GB" dirty="0"/>
              <a:t>Limitation of synthetic data</a:t>
            </a:r>
            <a:endParaRPr lang="en-US" dirty="0"/>
          </a:p>
        </p:txBody>
      </p:sp>
    </p:spTree>
    <p:extLst>
      <p:ext uri="{BB962C8B-B14F-4D97-AF65-F5344CB8AC3E}">
        <p14:creationId xmlns:p14="http://schemas.microsoft.com/office/powerpoint/2010/main" val="25397738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75418-CAC2-0ED6-D7C6-505A84357030}"/>
              </a:ext>
            </a:extLst>
          </p:cNvPr>
          <p:cNvSpPr>
            <a:spLocks noGrp="1"/>
          </p:cNvSpPr>
          <p:nvPr>
            <p:ph type="title"/>
          </p:nvPr>
        </p:nvSpPr>
        <p:spPr/>
        <p:txBody>
          <a:bodyPr/>
          <a:lstStyle/>
          <a:p>
            <a:r>
              <a:rPr lang="en-US" dirty="0"/>
              <a:t>What is synthetic data?</a:t>
            </a:r>
          </a:p>
        </p:txBody>
      </p:sp>
      <p:sp>
        <p:nvSpPr>
          <p:cNvPr id="3" name="Content Placeholder 2">
            <a:extLst>
              <a:ext uri="{FF2B5EF4-FFF2-40B4-BE49-F238E27FC236}">
                <a16:creationId xmlns:a16="http://schemas.microsoft.com/office/drawing/2014/main" id="{1B777D0C-3672-68D0-E202-79255437BE6C}"/>
              </a:ext>
            </a:extLst>
          </p:cNvPr>
          <p:cNvSpPr>
            <a:spLocks noGrp="1"/>
          </p:cNvSpPr>
          <p:nvPr>
            <p:ph idx="1"/>
          </p:nvPr>
        </p:nvSpPr>
        <p:spPr/>
        <p:txBody>
          <a:bodyPr/>
          <a:lstStyle/>
          <a:p>
            <a:r>
              <a:rPr lang="en-US" dirty="0"/>
              <a:t>“Generally, synthetic data is defined as the artificially annotated information generated by computer algorithms or simulations” [1].</a:t>
            </a:r>
          </a:p>
          <a:p>
            <a:endParaRPr lang="en-US" dirty="0"/>
          </a:p>
          <a:p>
            <a:r>
              <a:rPr lang="en-US" dirty="0"/>
              <a:t>Synthetic data can</a:t>
            </a:r>
          </a:p>
          <a:p>
            <a:endParaRPr lang="en-US" dirty="0"/>
          </a:p>
          <a:p>
            <a:endParaRPr lang="en-US" dirty="0"/>
          </a:p>
          <a:p>
            <a:endParaRPr lang="en-US" dirty="0"/>
          </a:p>
        </p:txBody>
      </p:sp>
      <p:graphicFrame>
        <p:nvGraphicFramePr>
          <p:cNvPr id="5" name="Diagram 4">
            <a:extLst>
              <a:ext uri="{FF2B5EF4-FFF2-40B4-BE49-F238E27FC236}">
                <a16:creationId xmlns:a16="http://schemas.microsoft.com/office/drawing/2014/main" id="{1603F30F-2864-05BF-4A60-75F0BECC8360}"/>
              </a:ext>
            </a:extLst>
          </p:cNvPr>
          <p:cNvGraphicFramePr/>
          <p:nvPr/>
        </p:nvGraphicFramePr>
        <p:xfrm>
          <a:off x="100208" y="3093929"/>
          <a:ext cx="9820406" cy="34962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98164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7ED8913-0295-4A95-B0E8-D143E80D7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85AE696-B445-09B8-CF23-7B7138062F68}"/>
              </a:ext>
            </a:extLst>
          </p:cNvPr>
          <p:cNvPicPr>
            <a:picLocks noGrp="1" noChangeAspect="1"/>
          </p:cNvPicPr>
          <p:nvPr>
            <p:ph idx="1"/>
          </p:nvPr>
        </p:nvPicPr>
        <p:blipFill>
          <a:blip r:embed="rId3"/>
          <a:srcRect t="1316"/>
          <a:stretch>
            <a:fillRect/>
          </a:stretch>
        </p:blipFill>
        <p:spPr>
          <a:xfrm>
            <a:off x="20" y="10"/>
            <a:ext cx="12191980" cy="6857990"/>
          </a:xfrm>
          <a:prstGeom prst="rect">
            <a:avLst/>
          </a:prstGeom>
        </p:spPr>
      </p:pic>
    </p:spTree>
    <p:extLst>
      <p:ext uri="{BB962C8B-B14F-4D97-AF65-F5344CB8AC3E}">
        <p14:creationId xmlns:p14="http://schemas.microsoft.com/office/powerpoint/2010/main" val="1799442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5000" y="4133850"/>
            <a:ext cx="8382000" cy="1905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600" y="609600"/>
            <a:ext cx="11582400" cy="161925"/>
          </a:xfrm>
          <a:prstGeom prst="rect">
            <a:avLst/>
          </a:prstGeom>
          <a:noFill/>
        </p:spPr>
        <p:txBody>
          <a:bodyPr wrap="none" lIns="0" tIns="0" rIns="0" bIns="0" anchor="t">
            <a:spAutoFit/>
          </a:bodyPr>
          <a:lstStyle/>
          <a:p>
            <a:pPr algn="l"/>
            <a:r>
              <a:rPr sz="1050" b="1" i="0" u="none">
                <a:solidFill>
                  <a:srgbClr val="525252"/>
                </a:solidFill>
                <a:latin typeface="Inter"/>
              </a:rPr>
              <a:t>THE WORKFLOW</a:t>
            </a:r>
          </a:p>
        </p:txBody>
      </p:sp>
      <p:sp>
        <p:nvSpPr>
          <p:cNvPr id="4" name="TextBox 3"/>
          <p:cNvSpPr txBox="1"/>
          <p:nvPr/>
        </p:nvSpPr>
        <p:spPr>
          <a:xfrm>
            <a:off x="609600" y="923925"/>
            <a:ext cx="11582400" cy="485775"/>
          </a:xfrm>
          <a:prstGeom prst="rect">
            <a:avLst/>
          </a:prstGeom>
          <a:noFill/>
        </p:spPr>
        <p:txBody>
          <a:bodyPr wrap="none" lIns="0" tIns="0" rIns="0" bIns="0" anchor="t">
            <a:spAutoFit/>
          </a:bodyPr>
          <a:lstStyle/>
          <a:p>
            <a:pPr algn="l"/>
            <a:r>
              <a:rPr sz="3000" b="1" i="0" u="none">
                <a:solidFill>
                  <a:srgbClr val="0A0A0A"/>
                </a:solidFill>
                <a:latin typeface="Space Grotesk"/>
              </a:rPr>
              <a:t>How this enables Open Science.</a:t>
            </a:r>
          </a:p>
        </p:txBody>
      </p:sp>
      <p:sp>
        <p:nvSpPr>
          <p:cNvPr id="5" name="Rectangle 4"/>
          <p:cNvSpPr/>
          <p:nvPr/>
        </p:nvSpPr>
        <p:spPr>
          <a:xfrm>
            <a:off x="857250" y="3262312"/>
            <a:ext cx="2286000" cy="17430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953000" y="3262312"/>
            <a:ext cx="2286000" cy="17430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9048750" y="3262312"/>
            <a:ext cx="2286000" cy="17430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3"/>
          <a:stretch>
            <a:fillRect/>
          </a:stretch>
        </p:blipFill>
        <p:spPr>
          <a:xfrm>
            <a:off x="3976687" y="4019550"/>
            <a:ext cx="142875" cy="228600"/>
          </a:xfrm>
          <a:prstGeom prst="rect">
            <a:avLst/>
          </a:prstGeom>
        </p:spPr>
      </p:pic>
      <p:pic>
        <p:nvPicPr>
          <p:cNvPr id="9" name="Picture 8" descr="image.png"/>
          <p:cNvPicPr>
            <a:picLocks noChangeAspect="1"/>
          </p:cNvPicPr>
          <p:nvPr/>
        </p:nvPicPr>
        <p:blipFill>
          <a:blip r:embed="rId3"/>
          <a:stretch>
            <a:fillRect/>
          </a:stretch>
        </p:blipFill>
        <p:spPr>
          <a:xfrm>
            <a:off x="8072437" y="4019550"/>
            <a:ext cx="142875" cy="228600"/>
          </a:xfrm>
          <a:prstGeom prst="rect">
            <a:avLst/>
          </a:prstGeom>
        </p:spPr>
      </p:pic>
      <p:pic>
        <p:nvPicPr>
          <p:cNvPr id="10" name="Picture 9" descr="image.png"/>
          <p:cNvPicPr>
            <a:picLocks noChangeAspect="1"/>
          </p:cNvPicPr>
          <p:nvPr/>
        </p:nvPicPr>
        <p:blipFill>
          <a:blip r:embed="rId4"/>
          <a:stretch>
            <a:fillRect/>
          </a:stretch>
        </p:blipFill>
        <p:spPr>
          <a:xfrm>
            <a:off x="1619250" y="3262312"/>
            <a:ext cx="762000" cy="762000"/>
          </a:xfrm>
          <a:prstGeom prst="rect">
            <a:avLst/>
          </a:prstGeom>
        </p:spPr>
      </p:pic>
      <p:pic>
        <p:nvPicPr>
          <p:cNvPr id="11" name="Picture 10" descr="image.png"/>
          <p:cNvPicPr>
            <a:picLocks noChangeAspect="1"/>
          </p:cNvPicPr>
          <p:nvPr/>
        </p:nvPicPr>
        <p:blipFill>
          <a:blip r:embed="rId5"/>
          <a:stretch>
            <a:fillRect/>
          </a:stretch>
        </p:blipFill>
        <p:spPr>
          <a:xfrm>
            <a:off x="5715000" y="3262312"/>
            <a:ext cx="762000" cy="762000"/>
          </a:xfrm>
          <a:prstGeom prst="rect">
            <a:avLst/>
          </a:prstGeom>
        </p:spPr>
      </p:pic>
      <p:pic>
        <p:nvPicPr>
          <p:cNvPr id="12" name="Picture 11" descr="image.png"/>
          <p:cNvPicPr>
            <a:picLocks noChangeAspect="1"/>
          </p:cNvPicPr>
          <p:nvPr/>
        </p:nvPicPr>
        <p:blipFill>
          <a:blip r:embed="rId6"/>
          <a:stretch>
            <a:fillRect/>
          </a:stretch>
        </p:blipFill>
        <p:spPr>
          <a:xfrm>
            <a:off x="9810750" y="3262312"/>
            <a:ext cx="762000" cy="762000"/>
          </a:xfrm>
          <a:prstGeom prst="rect">
            <a:avLst/>
          </a:prstGeom>
        </p:spPr>
      </p:pic>
      <p:pic>
        <p:nvPicPr>
          <p:cNvPr id="13" name="Picture 12" descr="image.png"/>
          <p:cNvPicPr>
            <a:picLocks noChangeAspect="1"/>
          </p:cNvPicPr>
          <p:nvPr/>
        </p:nvPicPr>
        <p:blipFill>
          <a:blip r:embed="rId7"/>
          <a:stretch>
            <a:fillRect/>
          </a:stretch>
        </p:blipFill>
        <p:spPr>
          <a:xfrm>
            <a:off x="1866900" y="3490912"/>
            <a:ext cx="266700" cy="304800"/>
          </a:xfrm>
          <a:prstGeom prst="rect">
            <a:avLst/>
          </a:prstGeom>
        </p:spPr>
      </p:pic>
      <p:pic>
        <p:nvPicPr>
          <p:cNvPr id="14" name="Picture 13" descr="image.png"/>
          <p:cNvPicPr>
            <a:picLocks noChangeAspect="1"/>
          </p:cNvPicPr>
          <p:nvPr/>
        </p:nvPicPr>
        <p:blipFill>
          <a:blip r:embed="rId8"/>
          <a:stretch>
            <a:fillRect/>
          </a:stretch>
        </p:blipFill>
        <p:spPr>
          <a:xfrm>
            <a:off x="5943600" y="3490912"/>
            <a:ext cx="304800" cy="304800"/>
          </a:xfrm>
          <a:prstGeom prst="rect">
            <a:avLst/>
          </a:prstGeom>
        </p:spPr>
      </p:pic>
      <p:pic>
        <p:nvPicPr>
          <p:cNvPr id="15" name="Picture 14" descr="image.png"/>
          <p:cNvPicPr>
            <a:picLocks noChangeAspect="1"/>
          </p:cNvPicPr>
          <p:nvPr/>
        </p:nvPicPr>
        <p:blipFill>
          <a:blip r:embed="rId9"/>
          <a:stretch>
            <a:fillRect/>
          </a:stretch>
        </p:blipFill>
        <p:spPr>
          <a:xfrm>
            <a:off x="10044112" y="3490912"/>
            <a:ext cx="295275" cy="304800"/>
          </a:xfrm>
          <a:prstGeom prst="rect">
            <a:avLst/>
          </a:prstGeom>
        </p:spPr>
      </p:pic>
      <p:sp>
        <p:nvSpPr>
          <p:cNvPr id="16" name="TextBox 15"/>
          <p:cNvSpPr txBox="1"/>
          <p:nvPr/>
        </p:nvSpPr>
        <p:spPr>
          <a:xfrm>
            <a:off x="1075134" y="4252912"/>
            <a:ext cx="1850231" cy="295275"/>
          </a:xfrm>
          <a:prstGeom prst="rect">
            <a:avLst/>
          </a:prstGeom>
          <a:noFill/>
        </p:spPr>
        <p:txBody>
          <a:bodyPr wrap="none" lIns="0" tIns="0" rIns="0" bIns="0" anchor="t">
            <a:spAutoFit/>
          </a:bodyPr>
          <a:lstStyle/>
          <a:p>
            <a:pPr algn="ctr"/>
            <a:r>
              <a:rPr sz="1800" b="1" i="0" u="none">
                <a:solidFill>
                  <a:srgbClr val="171717"/>
                </a:solidFill>
                <a:latin typeface="Space Grotesk"/>
              </a:rPr>
              <a:t>Secure Vault</a:t>
            </a:r>
          </a:p>
        </p:txBody>
      </p:sp>
      <p:sp>
        <p:nvSpPr>
          <p:cNvPr id="17" name="TextBox 16"/>
          <p:cNvSpPr txBox="1"/>
          <p:nvPr/>
        </p:nvSpPr>
        <p:spPr>
          <a:xfrm>
            <a:off x="809625" y="4624387"/>
            <a:ext cx="2381250" cy="381000"/>
          </a:xfrm>
          <a:prstGeom prst="rect">
            <a:avLst/>
          </a:prstGeom>
          <a:noFill/>
        </p:spPr>
        <p:txBody>
          <a:bodyPr wrap="square" lIns="0" tIns="0" rIns="0" bIns="0" anchor="t">
            <a:spAutoFit/>
          </a:bodyPr>
          <a:lstStyle/>
          <a:p>
            <a:pPr algn="ctr"/>
            <a:r>
              <a:rPr sz="1200" b="0" i="0" u="none">
                <a:solidFill>
                  <a:srgbClr val="525252"/>
                </a:solidFill>
                <a:latin typeface="Inter"/>
              </a:rPr>
              <a:t>Original raw data remains isolated.</a:t>
            </a:r>
          </a:p>
        </p:txBody>
      </p:sp>
      <p:sp>
        <p:nvSpPr>
          <p:cNvPr id="18" name="TextBox 17"/>
          <p:cNvSpPr txBox="1"/>
          <p:nvPr/>
        </p:nvSpPr>
        <p:spPr>
          <a:xfrm>
            <a:off x="5120878" y="4252912"/>
            <a:ext cx="1950243" cy="295275"/>
          </a:xfrm>
          <a:prstGeom prst="rect">
            <a:avLst/>
          </a:prstGeom>
          <a:noFill/>
        </p:spPr>
        <p:txBody>
          <a:bodyPr wrap="none" lIns="0" tIns="0" rIns="0" bIns="0" anchor="t">
            <a:spAutoFit/>
          </a:bodyPr>
          <a:lstStyle/>
          <a:p>
            <a:pPr algn="ctr"/>
            <a:r>
              <a:rPr sz="1800" b="1" i="0" u="none">
                <a:solidFill>
                  <a:srgbClr val="171717"/>
                </a:solidFill>
                <a:latin typeface="Space Grotesk"/>
              </a:rPr>
              <a:t>AI Generation</a:t>
            </a:r>
          </a:p>
        </p:txBody>
      </p:sp>
      <p:sp>
        <p:nvSpPr>
          <p:cNvPr id="19" name="TextBox 18"/>
          <p:cNvSpPr txBox="1"/>
          <p:nvPr/>
        </p:nvSpPr>
        <p:spPr>
          <a:xfrm>
            <a:off x="4905375" y="4624387"/>
            <a:ext cx="2381250" cy="381000"/>
          </a:xfrm>
          <a:prstGeom prst="rect">
            <a:avLst/>
          </a:prstGeom>
          <a:noFill/>
        </p:spPr>
        <p:txBody>
          <a:bodyPr wrap="square" lIns="0" tIns="0" rIns="0" bIns="0" anchor="t">
            <a:spAutoFit/>
          </a:bodyPr>
          <a:lstStyle/>
          <a:p>
            <a:pPr algn="ctr"/>
            <a:r>
              <a:rPr sz="1200" b="0" i="0" u="none">
                <a:solidFill>
                  <a:srgbClr val="525252"/>
                </a:solidFill>
                <a:latin typeface="Inter"/>
              </a:rPr>
              <a:t>Model learns the statistical distributions.</a:t>
            </a:r>
          </a:p>
        </p:txBody>
      </p:sp>
      <p:sp>
        <p:nvSpPr>
          <p:cNvPr id="20" name="TextBox 19"/>
          <p:cNvSpPr txBox="1"/>
          <p:nvPr/>
        </p:nvSpPr>
        <p:spPr>
          <a:xfrm>
            <a:off x="9260383" y="4252912"/>
            <a:ext cx="1862732" cy="295275"/>
          </a:xfrm>
          <a:prstGeom prst="rect">
            <a:avLst/>
          </a:prstGeom>
          <a:noFill/>
        </p:spPr>
        <p:txBody>
          <a:bodyPr wrap="none" lIns="0" tIns="0" rIns="0" bIns="0" anchor="t">
            <a:spAutoFit/>
          </a:bodyPr>
          <a:lstStyle/>
          <a:p>
            <a:pPr algn="ctr"/>
            <a:r>
              <a:rPr sz="1800" b="1" i="0" u="none">
                <a:solidFill>
                  <a:srgbClr val="171717"/>
                </a:solidFill>
                <a:latin typeface="Space Grotesk"/>
              </a:rPr>
              <a:t>Open Access</a:t>
            </a:r>
          </a:p>
        </p:txBody>
      </p:sp>
      <p:sp>
        <p:nvSpPr>
          <p:cNvPr id="21" name="TextBox 20"/>
          <p:cNvSpPr txBox="1"/>
          <p:nvPr/>
        </p:nvSpPr>
        <p:spPr>
          <a:xfrm>
            <a:off x="9001125" y="4624387"/>
            <a:ext cx="2381250" cy="381000"/>
          </a:xfrm>
          <a:prstGeom prst="rect">
            <a:avLst/>
          </a:prstGeom>
          <a:noFill/>
        </p:spPr>
        <p:txBody>
          <a:bodyPr wrap="square" lIns="0" tIns="0" rIns="0" bIns="0" anchor="t">
            <a:spAutoFit/>
          </a:bodyPr>
          <a:lstStyle/>
          <a:p>
            <a:pPr algn="ctr"/>
            <a:r>
              <a:rPr sz="1200" b="0" i="0" u="none">
                <a:solidFill>
                  <a:srgbClr val="525252"/>
                </a:solidFill>
                <a:latin typeface="Inter"/>
              </a:rPr>
              <a:t>Publish synthetic data openly for code-testing.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B5F3A-7975-EC93-0C37-C29FBF336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69BD3-7C17-547C-D3E5-1EF988EC08F9}"/>
              </a:ext>
            </a:extLst>
          </p:cNvPr>
          <p:cNvSpPr>
            <a:spLocks noGrp="1"/>
          </p:cNvSpPr>
          <p:nvPr>
            <p:ph type="title"/>
          </p:nvPr>
        </p:nvSpPr>
        <p:spPr/>
        <p:txBody>
          <a:bodyPr/>
          <a:lstStyle/>
          <a:p>
            <a:r>
              <a:rPr lang="en-US" dirty="0"/>
              <a:t>synthetic data types</a:t>
            </a:r>
          </a:p>
        </p:txBody>
      </p:sp>
      <p:sp>
        <p:nvSpPr>
          <p:cNvPr id="3" name="Content Placeholder 2">
            <a:extLst>
              <a:ext uri="{FF2B5EF4-FFF2-40B4-BE49-F238E27FC236}">
                <a16:creationId xmlns:a16="http://schemas.microsoft.com/office/drawing/2014/main" id="{660C7745-C1A1-810C-DC12-2053DE63FD2A}"/>
              </a:ext>
            </a:extLst>
          </p:cNvPr>
          <p:cNvSpPr>
            <a:spLocks noGrp="1"/>
          </p:cNvSpPr>
          <p:nvPr>
            <p:ph idx="1"/>
          </p:nvPr>
        </p:nvSpPr>
        <p:spPr/>
        <p:txBody>
          <a:bodyPr/>
          <a:lstStyle/>
          <a:p>
            <a:endParaRPr lang="en-US" dirty="0"/>
          </a:p>
          <a:p>
            <a:endParaRPr lang="en-US" dirty="0"/>
          </a:p>
          <a:p>
            <a:endParaRPr lang="en-US" dirty="0"/>
          </a:p>
        </p:txBody>
      </p:sp>
      <p:pic>
        <p:nvPicPr>
          <p:cNvPr id="6" name="Picture 5">
            <a:extLst>
              <a:ext uri="{FF2B5EF4-FFF2-40B4-BE49-F238E27FC236}">
                <a16:creationId xmlns:a16="http://schemas.microsoft.com/office/drawing/2014/main" id="{8FEDC0E5-D0B8-8C2C-F527-337D440CE244}"/>
              </a:ext>
            </a:extLst>
          </p:cNvPr>
          <p:cNvPicPr>
            <a:picLocks noChangeAspect="1"/>
          </p:cNvPicPr>
          <p:nvPr/>
        </p:nvPicPr>
        <p:blipFill>
          <a:blip r:embed="rId3"/>
          <a:stretch>
            <a:fillRect/>
          </a:stretch>
        </p:blipFill>
        <p:spPr>
          <a:xfrm>
            <a:off x="259772" y="101677"/>
            <a:ext cx="11475028" cy="6474181"/>
          </a:xfrm>
          <a:prstGeom prst="rect">
            <a:avLst/>
          </a:prstGeom>
        </p:spPr>
      </p:pic>
    </p:spTree>
    <p:extLst>
      <p:ext uri="{BB962C8B-B14F-4D97-AF65-F5344CB8AC3E}">
        <p14:creationId xmlns:p14="http://schemas.microsoft.com/office/powerpoint/2010/main" val="233396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7ED8913-0295-4A95-B0E8-D143E80D7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What is Synthetic Data">
            <a:extLst>
              <a:ext uri="{FF2B5EF4-FFF2-40B4-BE49-F238E27FC236}">
                <a16:creationId xmlns:a16="http://schemas.microsoft.com/office/drawing/2014/main" id="{720AA19C-C5B7-5288-C911-04137FF8BA6D}"/>
              </a:ext>
            </a:extLst>
          </p:cNvPr>
          <p:cNvPicPr>
            <a:picLocks noGrp="1" noChangeAspect="1"/>
          </p:cNvPicPr>
          <p:nvPr>
            <p:ph idx="1"/>
          </p:nvPr>
        </p:nvPicPr>
        <p:blipFill>
          <a:blip r:embed="rId2"/>
          <a:srcRect l="729" r="3566" b="1"/>
          <a:stretch>
            <a:fillRect/>
          </a:stretch>
        </p:blipFill>
        <p:spPr>
          <a:xfrm>
            <a:off x="20" y="10"/>
            <a:ext cx="12191979" cy="6210290"/>
          </a:xfrm>
          <a:prstGeom prst="rect">
            <a:avLst/>
          </a:prstGeom>
        </p:spPr>
      </p:pic>
      <p:sp>
        <p:nvSpPr>
          <p:cNvPr id="5" name="TextBox 4">
            <a:extLst>
              <a:ext uri="{FF2B5EF4-FFF2-40B4-BE49-F238E27FC236}">
                <a16:creationId xmlns:a16="http://schemas.microsoft.com/office/drawing/2014/main" id="{15FDAAC2-B206-3950-17B4-3CC5DF5DB83C}"/>
              </a:ext>
            </a:extLst>
          </p:cNvPr>
          <p:cNvSpPr txBox="1"/>
          <p:nvPr/>
        </p:nvSpPr>
        <p:spPr>
          <a:xfrm>
            <a:off x="6520721" y="6295869"/>
            <a:ext cx="2923082" cy="369332"/>
          </a:xfrm>
          <a:prstGeom prst="rect">
            <a:avLst/>
          </a:prstGeom>
          <a:noFill/>
        </p:spPr>
        <p:txBody>
          <a:bodyPr wrap="square" rtlCol="0">
            <a:spAutoFit/>
          </a:bodyPr>
          <a:lstStyle/>
          <a:p>
            <a:r>
              <a:rPr lang="en-US" dirty="0">
                <a:hlinkClick r:id="rId3"/>
              </a:rPr>
              <a:t>Pic sources</a:t>
            </a:r>
            <a:endParaRPr lang="en-US" dirty="0"/>
          </a:p>
        </p:txBody>
      </p:sp>
    </p:spTree>
    <p:extLst>
      <p:ext uri="{BB962C8B-B14F-4D97-AF65-F5344CB8AC3E}">
        <p14:creationId xmlns:p14="http://schemas.microsoft.com/office/powerpoint/2010/main" val="3844521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FE2B0-E7F3-3A92-CF6C-5B96D0C97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8437D-3D32-293D-06F5-D31605FC7D2F}"/>
              </a:ext>
            </a:extLst>
          </p:cNvPr>
          <p:cNvSpPr>
            <a:spLocks noGrp="1"/>
          </p:cNvSpPr>
          <p:nvPr>
            <p:ph type="title"/>
          </p:nvPr>
        </p:nvSpPr>
        <p:spPr/>
        <p:txBody>
          <a:bodyPr/>
          <a:lstStyle/>
          <a:p>
            <a:r>
              <a:rPr lang="en-US" dirty="0"/>
              <a:t>How to generate synthetic data</a:t>
            </a:r>
          </a:p>
        </p:txBody>
      </p:sp>
      <p:sp>
        <p:nvSpPr>
          <p:cNvPr id="3" name="Content Placeholder 2">
            <a:extLst>
              <a:ext uri="{FF2B5EF4-FFF2-40B4-BE49-F238E27FC236}">
                <a16:creationId xmlns:a16="http://schemas.microsoft.com/office/drawing/2014/main" id="{F034F5B6-E8FA-CF5D-503F-53DF523A7F56}"/>
              </a:ext>
            </a:extLst>
          </p:cNvPr>
          <p:cNvSpPr>
            <a:spLocks noGrp="1"/>
          </p:cNvSpPr>
          <p:nvPr>
            <p:ph idx="1"/>
          </p:nvPr>
        </p:nvSpPr>
        <p:spPr/>
        <p:txBody>
          <a:bodyPr/>
          <a:lstStyle/>
          <a:p>
            <a:r>
              <a:rPr lang="en-GB" dirty="0"/>
              <a:t>Statistical &amp; Copula Models</a:t>
            </a:r>
          </a:p>
          <a:p>
            <a:r>
              <a:rPr lang="en-GB" dirty="0"/>
              <a:t>Deep Learning: GANs, VAEs, Diffusion</a:t>
            </a:r>
          </a:p>
          <a:p>
            <a:r>
              <a:rPr lang="en-GB" dirty="0"/>
              <a:t>LLMs &amp; Agentic Generation</a:t>
            </a:r>
            <a:endParaRPr lang="en-US" dirty="0"/>
          </a:p>
        </p:txBody>
      </p:sp>
    </p:spTree>
    <p:extLst>
      <p:ext uri="{BB962C8B-B14F-4D97-AF65-F5344CB8AC3E}">
        <p14:creationId xmlns:p14="http://schemas.microsoft.com/office/powerpoint/2010/main" val="2427807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2F9E3-A944-A8F3-D98F-3AD60475A33A}"/>
              </a:ext>
            </a:extLst>
          </p:cNvPr>
          <p:cNvSpPr>
            <a:spLocks noGrp="1"/>
          </p:cNvSpPr>
          <p:nvPr>
            <p:ph type="title"/>
          </p:nvPr>
        </p:nvSpPr>
        <p:spPr>
          <a:xfrm>
            <a:off x="652371" y="647700"/>
            <a:ext cx="3424329" cy="2781300"/>
          </a:xfrm>
        </p:spPr>
        <p:txBody>
          <a:bodyPr>
            <a:normAutofit/>
          </a:bodyPr>
          <a:lstStyle/>
          <a:p>
            <a:r>
              <a:rPr lang="en-GB" sz="3000"/>
              <a:t>Statistical &amp; Probabilistic Models</a:t>
            </a:r>
            <a:endParaRPr lang="en-US" sz="3000"/>
          </a:p>
        </p:txBody>
      </p:sp>
      <p:graphicFrame>
        <p:nvGraphicFramePr>
          <p:cNvPr id="5" name="Content Placeholder 2">
            <a:extLst>
              <a:ext uri="{FF2B5EF4-FFF2-40B4-BE49-F238E27FC236}">
                <a16:creationId xmlns:a16="http://schemas.microsoft.com/office/drawing/2014/main" id="{873E74D4-0000-DD66-CEBB-F147EA7BCAC1}"/>
              </a:ext>
            </a:extLst>
          </p:cNvPr>
          <p:cNvGraphicFramePr>
            <a:graphicFrameLocks noGrp="1"/>
          </p:cNvGraphicFramePr>
          <p:nvPr>
            <p:ph idx="1"/>
            <p:extLst>
              <p:ext uri="{D42A27DB-BD31-4B8C-83A1-F6EECF244321}">
                <p14:modId xmlns:p14="http://schemas.microsoft.com/office/powerpoint/2010/main" val="3840911508"/>
              </p:ext>
            </p:extLst>
          </p:nvPr>
        </p:nvGraphicFramePr>
        <p:xfrm>
          <a:off x="5486400" y="914400"/>
          <a:ext cx="60579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782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030C083-7BDA-4E25-BFBB-C9679AF2C6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B4A91A-1A6F-4201-7E2B-231DCF90EB2D}"/>
              </a:ext>
            </a:extLst>
          </p:cNvPr>
          <p:cNvSpPr>
            <a:spLocks noGrp="1"/>
          </p:cNvSpPr>
          <p:nvPr>
            <p:ph type="title"/>
          </p:nvPr>
        </p:nvSpPr>
        <p:spPr>
          <a:xfrm>
            <a:off x="914398" y="647701"/>
            <a:ext cx="9534525" cy="941760"/>
          </a:xfrm>
        </p:spPr>
        <p:txBody>
          <a:bodyPr vert="horz" lIns="91440" tIns="45720" rIns="91440" bIns="45720" rtlCol="0" anchor="ctr">
            <a:normAutofit/>
          </a:bodyPr>
          <a:lstStyle/>
          <a:p>
            <a:r>
              <a:rPr lang="en-US" sz="3200" dirty="0"/>
              <a:t>Stat methods</a:t>
            </a:r>
          </a:p>
        </p:txBody>
      </p:sp>
      <p:pic>
        <p:nvPicPr>
          <p:cNvPr id="5" name="Content Placeholder 4">
            <a:extLst>
              <a:ext uri="{FF2B5EF4-FFF2-40B4-BE49-F238E27FC236}">
                <a16:creationId xmlns:a16="http://schemas.microsoft.com/office/drawing/2014/main" id="{447DBB01-50F9-81F6-03F8-4B19459CD9FF}"/>
              </a:ext>
            </a:extLst>
          </p:cNvPr>
          <p:cNvPicPr>
            <a:picLocks noGrp="1" noChangeAspect="1"/>
          </p:cNvPicPr>
          <p:nvPr>
            <p:ph idx="1"/>
          </p:nvPr>
        </p:nvPicPr>
        <p:blipFill>
          <a:blip r:embed="rId2"/>
          <a:stretch>
            <a:fillRect/>
          </a:stretch>
        </p:blipFill>
        <p:spPr>
          <a:xfrm>
            <a:off x="1293923" y="2173970"/>
            <a:ext cx="9604154" cy="3769629"/>
          </a:xfrm>
          <a:prstGeom prst="rect">
            <a:avLst/>
          </a:prstGeom>
        </p:spPr>
      </p:pic>
    </p:spTree>
    <p:extLst>
      <p:ext uri="{BB962C8B-B14F-4D97-AF65-F5344CB8AC3E}">
        <p14:creationId xmlns:p14="http://schemas.microsoft.com/office/powerpoint/2010/main" val="1475747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EF546-8D9E-93EE-B264-5C320A772386}"/>
              </a:ext>
            </a:extLst>
          </p:cNvPr>
          <p:cNvSpPr>
            <a:spLocks noGrp="1"/>
          </p:cNvSpPr>
          <p:nvPr>
            <p:ph type="title"/>
          </p:nvPr>
        </p:nvSpPr>
        <p:spPr>
          <a:xfrm>
            <a:off x="652371" y="647700"/>
            <a:ext cx="3424329" cy="2781300"/>
          </a:xfrm>
        </p:spPr>
        <p:txBody>
          <a:bodyPr>
            <a:normAutofit/>
          </a:bodyPr>
          <a:lstStyle/>
          <a:p>
            <a:r>
              <a:rPr lang="en-GB" sz="3200"/>
              <a:t>Deep Generative Models</a:t>
            </a:r>
            <a:endParaRPr lang="en-US" sz="3200"/>
          </a:p>
        </p:txBody>
      </p:sp>
      <p:graphicFrame>
        <p:nvGraphicFramePr>
          <p:cNvPr id="5" name="Content Placeholder 2">
            <a:extLst>
              <a:ext uri="{FF2B5EF4-FFF2-40B4-BE49-F238E27FC236}">
                <a16:creationId xmlns:a16="http://schemas.microsoft.com/office/drawing/2014/main" id="{220B41F4-7984-4DD9-4AC7-424C11A17589}"/>
              </a:ext>
            </a:extLst>
          </p:cNvPr>
          <p:cNvGraphicFramePr>
            <a:graphicFrameLocks noGrp="1"/>
          </p:cNvGraphicFramePr>
          <p:nvPr>
            <p:ph idx="1"/>
            <p:extLst>
              <p:ext uri="{D42A27DB-BD31-4B8C-83A1-F6EECF244321}">
                <p14:modId xmlns:p14="http://schemas.microsoft.com/office/powerpoint/2010/main" val="3183902278"/>
              </p:ext>
            </p:extLst>
          </p:nvPr>
        </p:nvGraphicFramePr>
        <p:xfrm>
          <a:off x="5486400" y="914400"/>
          <a:ext cx="60579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9190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EC692-65BB-D45F-B663-4F2B3BB8BD9B}"/>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50577EF-7528-D224-A05D-2A5C8C5F06F6}"/>
              </a:ext>
            </a:extLst>
          </p:cNvPr>
          <p:cNvPicPr>
            <a:picLocks noGrp="1" noChangeAspect="1"/>
          </p:cNvPicPr>
          <p:nvPr>
            <p:ph idx="1"/>
          </p:nvPr>
        </p:nvPicPr>
        <p:blipFill>
          <a:blip r:embed="rId2"/>
          <a:stretch>
            <a:fillRect/>
          </a:stretch>
        </p:blipFill>
        <p:spPr>
          <a:xfrm>
            <a:off x="443482" y="412229"/>
            <a:ext cx="11233856" cy="6214077"/>
          </a:xfrm>
          <a:prstGeom prst="rect">
            <a:avLst/>
          </a:prstGeom>
        </p:spPr>
      </p:pic>
    </p:spTree>
    <p:extLst>
      <p:ext uri="{BB962C8B-B14F-4D97-AF65-F5344CB8AC3E}">
        <p14:creationId xmlns:p14="http://schemas.microsoft.com/office/powerpoint/2010/main" val="3833507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2A0A40-7D7D-5FA7-DEF3-0D3E208CDA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4016C4-2F42-6D55-C2FC-D402F3C04181}"/>
              </a:ext>
            </a:extLst>
          </p:cNvPr>
          <p:cNvSpPr>
            <a:spLocks noGrp="1"/>
          </p:cNvSpPr>
          <p:nvPr>
            <p:ph type="title"/>
          </p:nvPr>
        </p:nvSpPr>
        <p:spPr>
          <a:xfrm>
            <a:off x="652371" y="647700"/>
            <a:ext cx="3424329" cy="2781300"/>
          </a:xfrm>
        </p:spPr>
        <p:txBody>
          <a:bodyPr>
            <a:normAutofit/>
          </a:bodyPr>
          <a:lstStyle/>
          <a:p>
            <a:r>
              <a:rPr lang="en-GB" sz="3200"/>
              <a:t>Deep Generative Models</a:t>
            </a:r>
            <a:endParaRPr lang="en-US" sz="3200"/>
          </a:p>
        </p:txBody>
      </p:sp>
      <p:graphicFrame>
        <p:nvGraphicFramePr>
          <p:cNvPr id="5" name="Content Placeholder 2">
            <a:extLst>
              <a:ext uri="{FF2B5EF4-FFF2-40B4-BE49-F238E27FC236}">
                <a16:creationId xmlns:a16="http://schemas.microsoft.com/office/drawing/2014/main" id="{FD187DAC-6C01-C13C-9934-47D757E8D186}"/>
              </a:ext>
            </a:extLst>
          </p:cNvPr>
          <p:cNvGraphicFramePr>
            <a:graphicFrameLocks noGrp="1"/>
          </p:cNvGraphicFramePr>
          <p:nvPr>
            <p:ph idx="1"/>
            <p:extLst>
              <p:ext uri="{D42A27DB-BD31-4B8C-83A1-F6EECF244321}">
                <p14:modId xmlns:p14="http://schemas.microsoft.com/office/powerpoint/2010/main" val="160262572"/>
              </p:ext>
            </p:extLst>
          </p:nvPr>
        </p:nvGraphicFramePr>
        <p:xfrm>
          <a:off x="5486400" y="914400"/>
          <a:ext cx="60579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4975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3365B-AADA-DAA0-8F38-F99A6051C671}"/>
              </a:ext>
            </a:extLst>
          </p:cNvPr>
          <p:cNvSpPr>
            <a:spLocks noGrp="1"/>
          </p:cNvSpPr>
          <p:nvPr>
            <p:ph type="title"/>
          </p:nvPr>
        </p:nvSpPr>
        <p:spPr>
          <a:xfrm>
            <a:off x="652371" y="647700"/>
            <a:ext cx="3424329" cy="2781300"/>
          </a:xfrm>
        </p:spPr>
        <p:txBody>
          <a:bodyPr>
            <a:normAutofit/>
          </a:bodyPr>
          <a:lstStyle/>
          <a:p>
            <a:r>
              <a:rPr lang="en-GB" sz="3200" dirty="0"/>
              <a:t>LLM-based Synthetic Generation</a:t>
            </a:r>
            <a:endParaRPr lang="en-US" sz="3200" dirty="0"/>
          </a:p>
        </p:txBody>
      </p:sp>
      <p:graphicFrame>
        <p:nvGraphicFramePr>
          <p:cNvPr id="5" name="Content Placeholder 2">
            <a:extLst>
              <a:ext uri="{FF2B5EF4-FFF2-40B4-BE49-F238E27FC236}">
                <a16:creationId xmlns:a16="http://schemas.microsoft.com/office/drawing/2014/main" id="{E373B440-8750-DA69-3DF8-7A0408EBED15}"/>
              </a:ext>
            </a:extLst>
          </p:cNvPr>
          <p:cNvGraphicFramePr>
            <a:graphicFrameLocks noGrp="1"/>
          </p:cNvGraphicFramePr>
          <p:nvPr>
            <p:ph idx="1"/>
            <p:extLst>
              <p:ext uri="{D42A27DB-BD31-4B8C-83A1-F6EECF244321}">
                <p14:modId xmlns:p14="http://schemas.microsoft.com/office/powerpoint/2010/main" val="3370159582"/>
              </p:ext>
            </p:extLst>
          </p:nvPr>
        </p:nvGraphicFramePr>
        <p:xfrm>
          <a:off x="5486400" y="914400"/>
          <a:ext cx="6057900" cy="502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6430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D5B-31F2-8D61-113E-FDA52FB2A90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237D293-51BB-EB9B-7F0A-73974C3661E5}"/>
              </a:ext>
            </a:extLst>
          </p:cNvPr>
          <p:cNvPicPr>
            <a:picLocks noGrp="1" noChangeAspect="1"/>
          </p:cNvPicPr>
          <p:nvPr>
            <p:ph idx="1"/>
          </p:nvPr>
        </p:nvPicPr>
        <p:blipFill>
          <a:blip r:embed="rId2"/>
          <a:stretch>
            <a:fillRect/>
          </a:stretch>
        </p:blipFill>
        <p:spPr>
          <a:xfrm>
            <a:off x="347480" y="530901"/>
            <a:ext cx="11651228" cy="5525125"/>
          </a:xfrm>
          <a:prstGeom prst="rect">
            <a:avLst/>
          </a:prstGeom>
        </p:spPr>
      </p:pic>
    </p:spTree>
    <p:extLst>
      <p:ext uri="{BB962C8B-B14F-4D97-AF65-F5344CB8AC3E}">
        <p14:creationId xmlns:p14="http://schemas.microsoft.com/office/powerpoint/2010/main" val="569590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6D9EF-CFC6-C0E1-8983-16BA6580B654}"/>
              </a:ext>
            </a:extLst>
          </p:cNvPr>
          <p:cNvSpPr>
            <a:spLocks noGrp="1"/>
          </p:cNvSpPr>
          <p:nvPr>
            <p:ph type="title"/>
          </p:nvPr>
        </p:nvSpPr>
        <p:spPr/>
        <p:txBody>
          <a:bodyPr>
            <a:normAutofit fontScale="90000"/>
          </a:bodyPr>
          <a:lstStyle/>
          <a:p>
            <a:r>
              <a:rPr lang="en-GB" dirty="0"/>
              <a:t>four main paradigms of </a:t>
            </a:r>
            <a:r>
              <a:rPr lang="en-GB" dirty="0" err="1"/>
              <a:t>llm</a:t>
            </a:r>
            <a:r>
              <a:rPr lang="en-GB" dirty="0"/>
              <a:t> synthetic data generation</a:t>
            </a:r>
            <a:endParaRPr lang="en-US" dirty="0"/>
          </a:p>
        </p:txBody>
      </p:sp>
      <p:sp>
        <p:nvSpPr>
          <p:cNvPr id="3" name="Content Placeholder 2">
            <a:extLst>
              <a:ext uri="{FF2B5EF4-FFF2-40B4-BE49-F238E27FC236}">
                <a16:creationId xmlns:a16="http://schemas.microsoft.com/office/drawing/2014/main" id="{E8365542-0D77-2EE2-FD32-72673E9F39C6}"/>
              </a:ext>
            </a:extLst>
          </p:cNvPr>
          <p:cNvSpPr>
            <a:spLocks noGrp="1"/>
          </p:cNvSpPr>
          <p:nvPr>
            <p:ph idx="1"/>
          </p:nvPr>
        </p:nvSpPr>
        <p:spPr/>
        <p:txBody>
          <a:bodyPr/>
          <a:lstStyle/>
          <a:p>
            <a:r>
              <a:rPr lang="en-US" dirty="0"/>
              <a:t>In context seed generation</a:t>
            </a:r>
          </a:p>
          <a:p>
            <a:r>
              <a:rPr lang="en-GB" dirty="0"/>
              <a:t>Agentic Persona Simulation</a:t>
            </a:r>
          </a:p>
          <a:p>
            <a:r>
              <a:rPr lang="en-GB" dirty="0"/>
              <a:t>Structured Schema Generation</a:t>
            </a:r>
          </a:p>
          <a:p>
            <a:r>
              <a:rPr lang="en-GB" dirty="0"/>
              <a:t>Model Distillation &amp; Synthetic Reasoning Chains</a:t>
            </a:r>
            <a:endParaRPr lang="en-US" dirty="0"/>
          </a:p>
        </p:txBody>
      </p:sp>
    </p:spTree>
    <p:extLst>
      <p:ext uri="{BB962C8B-B14F-4D97-AF65-F5344CB8AC3E}">
        <p14:creationId xmlns:p14="http://schemas.microsoft.com/office/powerpoint/2010/main" val="3341658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DAC68-F483-8959-937C-988D8FB6B180}"/>
              </a:ext>
            </a:extLst>
          </p:cNvPr>
          <p:cNvSpPr>
            <a:spLocks noGrp="1"/>
          </p:cNvSpPr>
          <p:nvPr>
            <p:ph type="title"/>
          </p:nvPr>
        </p:nvSpPr>
        <p:spPr/>
        <p:txBody>
          <a:bodyPr/>
          <a:lstStyle/>
          <a:p>
            <a:r>
              <a:rPr lang="en-US" dirty="0"/>
              <a:t>If you know some coding</a:t>
            </a:r>
          </a:p>
        </p:txBody>
      </p:sp>
      <p:pic>
        <p:nvPicPr>
          <p:cNvPr id="5" name="Content Placeholder 4">
            <a:extLst>
              <a:ext uri="{FF2B5EF4-FFF2-40B4-BE49-F238E27FC236}">
                <a16:creationId xmlns:a16="http://schemas.microsoft.com/office/drawing/2014/main" id="{0FB18B90-BC84-664B-7FD2-4665C6CEF574}"/>
              </a:ext>
            </a:extLst>
          </p:cNvPr>
          <p:cNvPicPr>
            <a:picLocks noGrp="1" noChangeAspect="1"/>
          </p:cNvPicPr>
          <p:nvPr>
            <p:ph idx="1"/>
          </p:nvPr>
        </p:nvPicPr>
        <p:blipFill>
          <a:blip r:embed="rId3"/>
          <a:stretch>
            <a:fillRect/>
          </a:stretch>
        </p:blipFill>
        <p:spPr>
          <a:xfrm>
            <a:off x="652370" y="2110491"/>
            <a:ext cx="7547249" cy="4187443"/>
          </a:xfrm>
          <a:prstGeom prst="rect">
            <a:avLst/>
          </a:prstGeom>
        </p:spPr>
      </p:pic>
      <p:sp>
        <p:nvSpPr>
          <p:cNvPr id="6" name="TextBox 5">
            <a:extLst>
              <a:ext uri="{FF2B5EF4-FFF2-40B4-BE49-F238E27FC236}">
                <a16:creationId xmlns:a16="http://schemas.microsoft.com/office/drawing/2014/main" id="{4904EEAE-AF9F-68EF-5EDF-EC6CE1114102}"/>
              </a:ext>
            </a:extLst>
          </p:cNvPr>
          <p:cNvSpPr txBox="1"/>
          <p:nvPr/>
        </p:nvSpPr>
        <p:spPr>
          <a:xfrm>
            <a:off x="9114020" y="2353456"/>
            <a:ext cx="2425610" cy="369332"/>
          </a:xfrm>
          <a:prstGeom prst="rect">
            <a:avLst/>
          </a:prstGeom>
          <a:noFill/>
        </p:spPr>
        <p:txBody>
          <a:bodyPr wrap="square" rtlCol="0">
            <a:spAutoFit/>
          </a:bodyPr>
          <a:lstStyle/>
          <a:p>
            <a:r>
              <a:rPr lang="en-US" dirty="0"/>
              <a:t>Just 5- 8 rows, bang!</a:t>
            </a:r>
          </a:p>
        </p:txBody>
      </p:sp>
    </p:spTree>
    <p:extLst>
      <p:ext uri="{BB962C8B-B14F-4D97-AF65-F5344CB8AC3E}">
        <p14:creationId xmlns:p14="http://schemas.microsoft.com/office/powerpoint/2010/main" val="3286774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BF266-2A44-DE17-677D-B1C5668E48E8}"/>
              </a:ext>
            </a:extLst>
          </p:cNvPr>
          <p:cNvSpPr>
            <a:spLocks noGrp="1"/>
          </p:cNvSpPr>
          <p:nvPr>
            <p:ph type="title"/>
          </p:nvPr>
        </p:nvSpPr>
        <p:spPr>
          <a:xfrm>
            <a:off x="647997" y="481667"/>
            <a:ext cx="10625229" cy="1147053"/>
          </a:xfrm>
        </p:spPr>
        <p:txBody>
          <a:bodyPr/>
          <a:lstStyle/>
          <a:p>
            <a:r>
              <a:rPr lang="en-US" dirty="0"/>
              <a:t>If you don’t have coding experience</a:t>
            </a:r>
          </a:p>
        </p:txBody>
      </p:sp>
      <p:sp>
        <p:nvSpPr>
          <p:cNvPr id="3" name="Content Placeholder 2">
            <a:extLst>
              <a:ext uri="{FF2B5EF4-FFF2-40B4-BE49-F238E27FC236}">
                <a16:creationId xmlns:a16="http://schemas.microsoft.com/office/drawing/2014/main" id="{9163F1EB-7FF2-26B6-F11D-01B7E5DB6B74}"/>
              </a:ext>
            </a:extLst>
          </p:cNvPr>
          <p:cNvSpPr>
            <a:spLocks noGrp="1"/>
          </p:cNvSpPr>
          <p:nvPr>
            <p:ph idx="1"/>
          </p:nvPr>
        </p:nvSpPr>
        <p:spPr/>
        <p:txBody>
          <a:bodyPr/>
          <a:lstStyle/>
          <a:p>
            <a:endParaRPr lang="en-US"/>
          </a:p>
        </p:txBody>
      </p:sp>
      <p:pic>
        <p:nvPicPr>
          <p:cNvPr id="4" name="Picture 3" descr="Create Synthetic Data">
            <a:extLst>
              <a:ext uri="{FF2B5EF4-FFF2-40B4-BE49-F238E27FC236}">
                <a16:creationId xmlns:a16="http://schemas.microsoft.com/office/drawing/2014/main" id="{217B0783-2F98-2740-7760-B5395D410DE4}"/>
              </a:ext>
            </a:extLst>
          </p:cNvPr>
          <p:cNvPicPr>
            <a:picLocks noChangeAspect="1"/>
          </p:cNvPicPr>
          <p:nvPr/>
        </p:nvPicPr>
        <p:blipFill>
          <a:blip r:embed="rId2"/>
          <a:stretch>
            <a:fillRect/>
          </a:stretch>
        </p:blipFill>
        <p:spPr>
          <a:xfrm>
            <a:off x="499670" y="1835482"/>
            <a:ext cx="9436009" cy="4888406"/>
          </a:xfrm>
          <a:prstGeom prst="rect">
            <a:avLst/>
          </a:prstGeom>
        </p:spPr>
      </p:pic>
    </p:spTree>
    <p:extLst>
      <p:ext uri="{BB962C8B-B14F-4D97-AF65-F5344CB8AC3E}">
        <p14:creationId xmlns:p14="http://schemas.microsoft.com/office/powerpoint/2010/main" val="4177574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FB825-74BA-404E-F566-F18942FE3B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A8DBB1-F1D8-1AF8-034A-8F718024C107}"/>
              </a:ext>
            </a:extLst>
          </p:cNvPr>
          <p:cNvSpPr>
            <a:spLocks noGrp="1"/>
          </p:cNvSpPr>
          <p:nvPr>
            <p:ph type="title"/>
          </p:nvPr>
        </p:nvSpPr>
        <p:spPr>
          <a:xfrm>
            <a:off x="647997" y="224547"/>
            <a:ext cx="10625229" cy="1147053"/>
          </a:xfrm>
        </p:spPr>
        <p:txBody>
          <a:bodyPr/>
          <a:lstStyle/>
          <a:p>
            <a:r>
              <a:rPr lang="en-US" dirty="0"/>
              <a:t>If you don’t have coding </a:t>
            </a:r>
            <a:r>
              <a:rPr lang="en-US" dirty="0" err="1"/>
              <a:t>expeirence</a:t>
            </a:r>
            <a:endParaRPr lang="en-US" dirty="0"/>
          </a:p>
        </p:txBody>
      </p:sp>
      <p:sp>
        <p:nvSpPr>
          <p:cNvPr id="3" name="Content Placeholder 2">
            <a:extLst>
              <a:ext uri="{FF2B5EF4-FFF2-40B4-BE49-F238E27FC236}">
                <a16:creationId xmlns:a16="http://schemas.microsoft.com/office/drawing/2014/main" id="{C773B800-6603-2449-FF08-FD2C2AFE1A6B}"/>
              </a:ext>
            </a:extLst>
          </p:cNvPr>
          <p:cNvSpPr>
            <a:spLocks noGrp="1"/>
          </p:cNvSpPr>
          <p:nvPr>
            <p:ph idx="1"/>
          </p:nvPr>
        </p:nvSpPr>
        <p:spPr/>
        <p:txBody>
          <a:bodyPr/>
          <a:lstStyle/>
          <a:p>
            <a:endParaRPr lang="en-US"/>
          </a:p>
        </p:txBody>
      </p:sp>
      <p:pic>
        <p:nvPicPr>
          <p:cNvPr id="6" name="Picture 5" descr="Configure Metadata">
            <a:extLst>
              <a:ext uri="{FF2B5EF4-FFF2-40B4-BE49-F238E27FC236}">
                <a16:creationId xmlns:a16="http://schemas.microsoft.com/office/drawing/2014/main" id="{9C6A9B6B-5EF9-CD00-3153-3781BA1F5BFA}"/>
              </a:ext>
            </a:extLst>
          </p:cNvPr>
          <p:cNvPicPr>
            <a:picLocks noChangeAspect="1"/>
          </p:cNvPicPr>
          <p:nvPr/>
        </p:nvPicPr>
        <p:blipFill>
          <a:blip r:embed="rId2"/>
          <a:stretch>
            <a:fillRect/>
          </a:stretch>
        </p:blipFill>
        <p:spPr>
          <a:xfrm>
            <a:off x="647997" y="1682765"/>
            <a:ext cx="10189463" cy="5175235"/>
          </a:xfrm>
          <a:prstGeom prst="rect">
            <a:avLst/>
          </a:prstGeom>
        </p:spPr>
      </p:pic>
    </p:spTree>
    <p:extLst>
      <p:ext uri="{BB962C8B-B14F-4D97-AF65-F5344CB8AC3E}">
        <p14:creationId xmlns:p14="http://schemas.microsoft.com/office/powerpoint/2010/main" val="3350010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4CB3D98-012D-4B56-80F4-A2EF4FA70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Save Synthetic Data configurations">
            <a:extLst>
              <a:ext uri="{FF2B5EF4-FFF2-40B4-BE49-F238E27FC236}">
                <a16:creationId xmlns:a16="http://schemas.microsoft.com/office/drawing/2014/main" id="{1C6D1656-3389-25D2-4ED2-99A3010A64D5}"/>
              </a:ext>
            </a:extLst>
          </p:cNvPr>
          <p:cNvPicPr>
            <a:picLocks noGrp="1" noChangeAspect="1"/>
          </p:cNvPicPr>
          <p:nvPr>
            <p:ph idx="1"/>
          </p:nvPr>
        </p:nvPicPr>
        <p:blipFill>
          <a:blip r:embed="rId2"/>
          <a:srcRect b="11721"/>
          <a:stretch>
            <a:fillRect/>
          </a:stretch>
        </p:blipFill>
        <p:spPr>
          <a:xfrm>
            <a:off x="20" y="1294327"/>
            <a:ext cx="12191979" cy="5569810"/>
          </a:xfrm>
          <a:prstGeom prst="rect">
            <a:avLst/>
          </a:prstGeom>
        </p:spPr>
      </p:pic>
      <p:sp>
        <p:nvSpPr>
          <p:cNvPr id="5" name="Title 4">
            <a:extLst>
              <a:ext uri="{FF2B5EF4-FFF2-40B4-BE49-F238E27FC236}">
                <a16:creationId xmlns:a16="http://schemas.microsoft.com/office/drawing/2014/main" id="{100CFEA8-05F9-C45D-84A9-8332F15EED5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36077728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885236-3740-A01D-FD04-89DD739726D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2C6683-4FE3-076E-5B65-9A4842EAAA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Generate synthetic data records">
            <a:extLst>
              <a:ext uri="{FF2B5EF4-FFF2-40B4-BE49-F238E27FC236}">
                <a16:creationId xmlns:a16="http://schemas.microsoft.com/office/drawing/2014/main" id="{E074D568-44BA-23DE-BDBE-653E7DF5D006}"/>
              </a:ext>
            </a:extLst>
          </p:cNvPr>
          <p:cNvPicPr>
            <a:picLocks noChangeAspect="1"/>
          </p:cNvPicPr>
          <p:nvPr/>
        </p:nvPicPr>
        <p:blipFill>
          <a:blip r:embed="rId2"/>
          <a:stretch>
            <a:fillRect/>
          </a:stretch>
        </p:blipFill>
        <p:spPr>
          <a:xfrm>
            <a:off x="224853" y="549109"/>
            <a:ext cx="12118378" cy="4847351"/>
          </a:xfrm>
          <a:prstGeom prst="rect">
            <a:avLst/>
          </a:prstGeom>
        </p:spPr>
      </p:pic>
      <p:sp>
        <p:nvSpPr>
          <p:cNvPr id="6" name="Content Placeholder 5">
            <a:extLst>
              <a:ext uri="{FF2B5EF4-FFF2-40B4-BE49-F238E27FC236}">
                <a16:creationId xmlns:a16="http://schemas.microsoft.com/office/drawing/2014/main" id="{752FD5B8-4339-51B3-F5F5-4B47980C1598}"/>
              </a:ext>
            </a:extLst>
          </p:cNvPr>
          <p:cNvSpPr>
            <a:spLocks noGrp="1"/>
          </p:cNvSpPr>
          <p:nvPr>
            <p:ph idx="1"/>
          </p:nvPr>
        </p:nvSpPr>
        <p:spPr/>
        <p:txBody>
          <a:bodyPr/>
          <a:lstStyle/>
          <a:p>
            <a:endParaRPr lang="en-US" dirty="0"/>
          </a:p>
        </p:txBody>
      </p:sp>
      <p:sp>
        <p:nvSpPr>
          <p:cNvPr id="5" name="Title 4">
            <a:extLst>
              <a:ext uri="{FF2B5EF4-FFF2-40B4-BE49-F238E27FC236}">
                <a16:creationId xmlns:a16="http://schemas.microsoft.com/office/drawing/2014/main" id="{97FB3E35-0278-8D23-C191-AB2F4FB844BA}"/>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6929379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473BF9-21A3-9DB9-290E-53E12F180BD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FFD25F-3B76-F52A-5767-B8354A5802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35C25D-F3B6-D9A8-A654-A92F06F3724D}"/>
              </a:ext>
            </a:extLst>
          </p:cNvPr>
          <p:cNvSpPr>
            <a:spLocks noGrp="1"/>
          </p:cNvSpPr>
          <p:nvPr>
            <p:ph type="title"/>
          </p:nvPr>
        </p:nvSpPr>
        <p:spPr>
          <a:xfrm>
            <a:off x="6700520" y="3248024"/>
            <a:ext cx="4839108" cy="2695576"/>
          </a:xfrm>
        </p:spPr>
        <p:txBody>
          <a:bodyPr vert="horz" lIns="91440" tIns="45720" rIns="91440" bIns="45720" rtlCol="0" anchor="b">
            <a:normAutofit/>
          </a:bodyPr>
          <a:lstStyle/>
          <a:p>
            <a:pPr algn="r"/>
            <a:r>
              <a:rPr lang="en-US" dirty="0"/>
              <a:t>If you don’t know how to coding</a:t>
            </a:r>
          </a:p>
        </p:txBody>
      </p:sp>
      <p:sp>
        <p:nvSpPr>
          <p:cNvPr id="6" name="Content Placeholder 5">
            <a:extLst>
              <a:ext uri="{FF2B5EF4-FFF2-40B4-BE49-F238E27FC236}">
                <a16:creationId xmlns:a16="http://schemas.microsoft.com/office/drawing/2014/main" id="{25E88C51-35B2-6C0B-298F-1721442715BB}"/>
              </a:ext>
            </a:extLst>
          </p:cNvPr>
          <p:cNvSpPr>
            <a:spLocks noGrp="1"/>
          </p:cNvSpPr>
          <p:nvPr>
            <p:ph idx="1"/>
          </p:nvPr>
        </p:nvSpPr>
        <p:spPr/>
        <p:txBody>
          <a:bodyPr/>
          <a:lstStyle/>
          <a:p>
            <a:endParaRPr lang="en-US" dirty="0"/>
          </a:p>
        </p:txBody>
      </p:sp>
      <p:pic>
        <p:nvPicPr>
          <p:cNvPr id="4" name="Picture 3" descr="Synthetic data generator overview">
            <a:extLst>
              <a:ext uri="{FF2B5EF4-FFF2-40B4-BE49-F238E27FC236}">
                <a16:creationId xmlns:a16="http://schemas.microsoft.com/office/drawing/2014/main" id="{CE4852FF-094A-DAC9-24C3-6960B07917A6}"/>
              </a:ext>
            </a:extLst>
          </p:cNvPr>
          <p:cNvPicPr>
            <a:picLocks noChangeAspect="1"/>
          </p:cNvPicPr>
          <p:nvPr/>
        </p:nvPicPr>
        <p:blipFill>
          <a:blip r:embed="rId2"/>
          <a:stretch>
            <a:fillRect/>
          </a:stretch>
        </p:blipFill>
        <p:spPr>
          <a:xfrm>
            <a:off x="187311" y="427552"/>
            <a:ext cx="11515175" cy="6123149"/>
          </a:xfrm>
          <a:prstGeom prst="rect">
            <a:avLst/>
          </a:prstGeom>
        </p:spPr>
      </p:pic>
    </p:spTree>
    <p:extLst>
      <p:ext uri="{BB962C8B-B14F-4D97-AF65-F5344CB8AC3E}">
        <p14:creationId xmlns:p14="http://schemas.microsoft.com/office/powerpoint/2010/main" val="6112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CA8A6-5028-7633-89A7-7D8C8372013E}"/>
              </a:ext>
            </a:extLst>
          </p:cNvPr>
          <p:cNvSpPr>
            <a:spLocks noGrp="1"/>
          </p:cNvSpPr>
          <p:nvPr>
            <p:ph type="title"/>
          </p:nvPr>
        </p:nvSpPr>
        <p:spPr>
          <a:xfrm>
            <a:off x="609601" y="108904"/>
            <a:ext cx="10972800" cy="1325563"/>
          </a:xfrm>
        </p:spPr>
        <p:txBody>
          <a:bodyPr>
            <a:normAutofit/>
          </a:bodyPr>
          <a:lstStyle/>
          <a:p>
            <a:r>
              <a:rPr lang="en-US" dirty="0"/>
              <a:t>Synthetic data</a:t>
            </a:r>
            <a:r>
              <a:rPr lang="zh-CN" altLang="en-US" dirty="0"/>
              <a:t> </a:t>
            </a:r>
            <a:r>
              <a:rPr lang="en-US" altLang="zh-CN" dirty="0"/>
              <a:t>evaluation </a:t>
            </a:r>
            <a:endParaRPr lang="en-US" dirty="0"/>
          </a:p>
        </p:txBody>
      </p:sp>
      <p:graphicFrame>
        <p:nvGraphicFramePr>
          <p:cNvPr id="4" name="Content Placeholder 3">
            <a:extLst>
              <a:ext uri="{FF2B5EF4-FFF2-40B4-BE49-F238E27FC236}">
                <a16:creationId xmlns:a16="http://schemas.microsoft.com/office/drawing/2014/main" id="{A9827473-12F8-4380-65CE-A1932BD14076}"/>
              </a:ext>
            </a:extLst>
          </p:cNvPr>
          <p:cNvGraphicFramePr>
            <a:graphicFrameLocks noGrp="1"/>
          </p:cNvGraphicFramePr>
          <p:nvPr>
            <p:ph idx="1"/>
            <p:extLst>
              <p:ext uri="{D42A27DB-BD31-4B8C-83A1-F6EECF244321}">
                <p14:modId xmlns:p14="http://schemas.microsoft.com/office/powerpoint/2010/main" val="487408315"/>
              </p:ext>
            </p:extLst>
          </p:nvPr>
        </p:nvGraphicFramePr>
        <p:xfrm>
          <a:off x="1120097" y="1959145"/>
          <a:ext cx="6161902" cy="40365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54991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05AACD-5279-4270-B933-D48329B24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nifying glass showing decling performance">
            <a:extLst>
              <a:ext uri="{FF2B5EF4-FFF2-40B4-BE49-F238E27FC236}">
                <a16:creationId xmlns:a16="http://schemas.microsoft.com/office/drawing/2014/main" id="{56E636AB-C473-7398-E797-3BAB1E79E413}"/>
              </a:ext>
            </a:extLst>
          </p:cNvPr>
          <p:cNvPicPr>
            <a:picLocks noChangeAspect="1"/>
          </p:cNvPicPr>
          <p:nvPr/>
        </p:nvPicPr>
        <p:blipFill>
          <a:blip r:embed="rId2"/>
          <a:srcRect l="5051" r="35615" b="-1"/>
          <a:stretch>
            <a:fillRect/>
          </a:stretch>
        </p:blipFill>
        <p:spPr>
          <a:xfrm>
            <a:off x="20" y="10"/>
            <a:ext cx="6095980" cy="6857990"/>
          </a:xfrm>
          <a:prstGeom prst="rect">
            <a:avLst/>
          </a:prstGeom>
        </p:spPr>
      </p:pic>
      <p:sp>
        <p:nvSpPr>
          <p:cNvPr id="2" name="Title 1">
            <a:extLst>
              <a:ext uri="{FF2B5EF4-FFF2-40B4-BE49-F238E27FC236}">
                <a16:creationId xmlns:a16="http://schemas.microsoft.com/office/drawing/2014/main" id="{CC02DB26-3AC4-1388-105D-50A7E08C8781}"/>
              </a:ext>
            </a:extLst>
          </p:cNvPr>
          <p:cNvSpPr>
            <a:spLocks noGrp="1"/>
          </p:cNvSpPr>
          <p:nvPr>
            <p:ph type="title"/>
          </p:nvPr>
        </p:nvSpPr>
        <p:spPr>
          <a:xfrm>
            <a:off x="652371" y="647701"/>
            <a:ext cx="4238748" cy="2371660"/>
          </a:xfrm>
        </p:spPr>
        <p:txBody>
          <a:bodyPr>
            <a:normAutofit/>
          </a:bodyPr>
          <a:lstStyle/>
          <a:p>
            <a:r>
              <a:rPr lang="en-US" dirty="0"/>
              <a:t>Fidelity (resemblance or similarity)</a:t>
            </a:r>
          </a:p>
        </p:txBody>
      </p:sp>
      <p:sp>
        <p:nvSpPr>
          <p:cNvPr id="13" name="Content Placeholder 2">
            <a:extLst>
              <a:ext uri="{FF2B5EF4-FFF2-40B4-BE49-F238E27FC236}">
                <a16:creationId xmlns:a16="http://schemas.microsoft.com/office/drawing/2014/main" id="{9951F351-30BF-AFDA-DD2E-390241F38FF6}"/>
              </a:ext>
            </a:extLst>
          </p:cNvPr>
          <p:cNvSpPr>
            <a:spLocks noGrp="1"/>
          </p:cNvSpPr>
          <p:nvPr>
            <p:ph idx="1"/>
          </p:nvPr>
        </p:nvSpPr>
        <p:spPr>
          <a:xfrm>
            <a:off x="7119641" y="914400"/>
            <a:ext cx="4157958" cy="5029200"/>
          </a:xfrm>
        </p:spPr>
        <p:txBody>
          <a:bodyPr>
            <a:normAutofit/>
          </a:bodyPr>
          <a:lstStyle/>
          <a:p>
            <a:pPr>
              <a:lnSpc>
                <a:spcPct val="110000"/>
              </a:lnSpc>
            </a:pPr>
            <a:r>
              <a:rPr lang="en-US" sz="1600"/>
              <a:t>The core question: "Does the synthetic data resemble real data in appearance and distribution?"</a:t>
            </a:r>
          </a:p>
          <a:p>
            <a:pPr marL="0" indent="0">
              <a:lnSpc>
                <a:spcPct val="110000"/>
              </a:lnSpc>
              <a:buNone/>
            </a:pPr>
            <a:endParaRPr lang="en-US" sz="1600"/>
          </a:p>
          <a:p>
            <a:pPr>
              <a:lnSpc>
                <a:spcPct val="110000"/>
              </a:lnSpc>
            </a:pPr>
            <a:r>
              <a:rPr lang="en-US" sz="1600"/>
              <a:t>Tabular Data: Examine the probability distribution of univariate data (e.g., KS-Test/Kolmogorov-Smirnov test) and the correlation heatmap of multivariate data.</a:t>
            </a:r>
          </a:p>
          <a:p>
            <a:pPr>
              <a:lnSpc>
                <a:spcPct val="110000"/>
              </a:lnSpc>
            </a:pPr>
            <a:endParaRPr lang="en-US" sz="1600"/>
          </a:p>
          <a:p>
            <a:pPr>
              <a:lnSpc>
                <a:spcPct val="110000"/>
              </a:lnSpc>
            </a:pPr>
            <a:r>
              <a:rPr lang="en-US" sz="1600"/>
              <a:t>Image Data: Examine the FID (Fréchet Inception Distance). This is the gold standard for image synthesis; the lower the FID score, the closer the feature distribution of the synthetic image is to that of a real photograph.</a:t>
            </a:r>
          </a:p>
          <a:p>
            <a:pPr>
              <a:lnSpc>
                <a:spcPct val="110000"/>
              </a:lnSpc>
            </a:pPr>
            <a:endParaRPr lang="en-US" sz="1600"/>
          </a:p>
        </p:txBody>
      </p:sp>
    </p:spTree>
    <p:extLst>
      <p:ext uri="{BB962C8B-B14F-4D97-AF65-F5344CB8AC3E}">
        <p14:creationId xmlns:p14="http://schemas.microsoft.com/office/powerpoint/2010/main" val="4174889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17D40F-7605-A5BD-7C93-F7FE627BF21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905AACD-5279-4270-B933-D48329B24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02D4B02B-7081-A99E-D338-B84B803ACB19}"/>
              </a:ext>
            </a:extLst>
          </p:cNvPr>
          <p:cNvPicPr>
            <a:picLocks noChangeAspect="1"/>
          </p:cNvPicPr>
          <p:nvPr/>
        </p:nvPicPr>
        <p:blipFill>
          <a:blip r:embed="rId3"/>
          <a:srcRect l="9298" r="4038" b="2"/>
          <a:stretch>
            <a:fillRect/>
          </a:stretch>
        </p:blipFill>
        <p:spPr>
          <a:xfrm>
            <a:off x="20" y="10"/>
            <a:ext cx="6095980" cy="6857990"/>
          </a:xfrm>
          <a:prstGeom prst="rect">
            <a:avLst/>
          </a:prstGeom>
        </p:spPr>
      </p:pic>
      <p:sp>
        <p:nvSpPr>
          <p:cNvPr id="2" name="Title 1">
            <a:extLst>
              <a:ext uri="{FF2B5EF4-FFF2-40B4-BE49-F238E27FC236}">
                <a16:creationId xmlns:a16="http://schemas.microsoft.com/office/drawing/2014/main" id="{97CCE85C-AB2F-C664-9FAE-B7A7F567D833}"/>
              </a:ext>
            </a:extLst>
          </p:cNvPr>
          <p:cNvSpPr>
            <a:spLocks noGrp="1"/>
          </p:cNvSpPr>
          <p:nvPr>
            <p:ph type="title"/>
          </p:nvPr>
        </p:nvSpPr>
        <p:spPr>
          <a:xfrm>
            <a:off x="652371" y="647701"/>
            <a:ext cx="4238748" cy="2371660"/>
          </a:xfrm>
        </p:spPr>
        <p:txBody>
          <a:bodyPr>
            <a:normAutofit/>
          </a:bodyPr>
          <a:lstStyle/>
          <a:p>
            <a:r>
              <a:rPr lang="en-US" dirty="0"/>
              <a:t>Fidelity (resemblance or similarity)</a:t>
            </a:r>
          </a:p>
        </p:txBody>
      </p:sp>
      <p:sp>
        <p:nvSpPr>
          <p:cNvPr id="3" name="Content Placeholder 2">
            <a:extLst>
              <a:ext uri="{FF2B5EF4-FFF2-40B4-BE49-F238E27FC236}">
                <a16:creationId xmlns:a16="http://schemas.microsoft.com/office/drawing/2014/main" id="{C3E22921-930C-8231-C0CF-3C01144FE5F5}"/>
              </a:ext>
            </a:extLst>
          </p:cNvPr>
          <p:cNvSpPr>
            <a:spLocks noGrp="1"/>
          </p:cNvSpPr>
          <p:nvPr>
            <p:ph idx="1"/>
          </p:nvPr>
        </p:nvSpPr>
        <p:spPr>
          <a:xfrm>
            <a:off x="7119641" y="914400"/>
            <a:ext cx="4157958" cy="5029200"/>
          </a:xfrm>
        </p:spPr>
        <p:txBody>
          <a:bodyPr>
            <a:normAutofit/>
          </a:bodyPr>
          <a:lstStyle/>
          <a:p>
            <a:endParaRPr lang="en-US" dirty="0"/>
          </a:p>
          <a:p>
            <a:r>
              <a:rPr lang="en-US" dirty="0"/>
              <a:t>Text Data: Examine the perplexity and the degree of overlap of the embeddings (semantic vectors) in high-dimensional space.</a:t>
            </a:r>
          </a:p>
          <a:p>
            <a:endParaRPr lang="en-US" dirty="0"/>
          </a:p>
          <a:p>
            <a:r>
              <a:rPr lang="en-US" dirty="0"/>
              <a:t>Time-Series Data: Examine the autocorrelation function and dynamic time warping (DTW).</a:t>
            </a:r>
          </a:p>
        </p:txBody>
      </p:sp>
    </p:spTree>
    <p:extLst>
      <p:ext uri="{BB962C8B-B14F-4D97-AF65-F5344CB8AC3E}">
        <p14:creationId xmlns:p14="http://schemas.microsoft.com/office/powerpoint/2010/main" val="9966641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52643-EC68-6EEB-938D-C799803625C7}"/>
              </a:ext>
            </a:extLst>
          </p:cNvPr>
          <p:cNvSpPr>
            <a:spLocks noGrp="1"/>
          </p:cNvSpPr>
          <p:nvPr>
            <p:ph type="title"/>
          </p:nvPr>
        </p:nvSpPr>
        <p:spPr/>
        <p:txBody>
          <a:bodyPr/>
          <a:lstStyle/>
          <a:p>
            <a:r>
              <a:rPr lang="en-US" dirty="0"/>
              <a:t>Utility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A6BEF6F-1724-BFB3-F256-0B219E45B679}"/>
                  </a:ext>
                </a:extLst>
              </p:cNvPr>
              <p:cNvSpPr>
                <a:spLocks noGrp="1"/>
              </p:cNvSpPr>
              <p:nvPr>
                <p:ph idx="1"/>
              </p:nvPr>
            </p:nvSpPr>
            <p:spPr/>
            <p:txBody>
              <a:bodyPr>
                <a:normAutofit/>
              </a:bodyPr>
              <a:lstStyle/>
              <a:p>
                <a:r>
                  <a:rPr lang="en-US" dirty="0"/>
                  <a:t>The core question is: "If I use this fake data to run analysis/train the model, will the conclusions drawn still hold true in the real world?”</a:t>
                </a:r>
              </a:p>
              <a:p>
                <a:endParaRPr lang="en-US" dirty="0"/>
              </a:p>
              <a:p>
                <a:r>
                  <a:rPr lang="en-GB" b="1" dirty="0"/>
                  <a:t>Evaluation Metrics:</a:t>
                </a:r>
                <a:br>
                  <a:rPr lang="en-GB" dirty="0"/>
                </a:br>
                <a:endParaRPr lang="en-GB" dirty="0"/>
              </a:p>
              <a:p>
                <a:r>
                  <a:rPr lang="en-GB" dirty="0"/>
                  <a:t>• </a:t>
                </a:r>
                <a:r>
                  <a:rPr lang="en-GB" b="1" dirty="0"/>
                  <a:t>AUC /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𝑅</m:t>
                        </m:r>
                      </m:e>
                      <m:sup>
                        <m:r>
                          <a:rPr lang="en-US">
                            <a:latin typeface="Cambria Math" panose="02040503050406030204" pitchFamily="18" charset="0"/>
                          </a:rPr>
                          <m:t>2</m:t>
                        </m:r>
                      </m:sup>
                    </m:sSup>
                  </m:oMath>
                </a14:m>
                <a:r>
                  <a:rPr lang="en-GB" b="1" dirty="0"/>
                  <a:t>Gap:</a:t>
                </a:r>
                <a:r>
                  <a:rPr lang="en-GB" dirty="0"/>
                  <a:t> Is performance loss minimal?</a:t>
                </a:r>
                <a:br>
                  <a:rPr lang="en-GB" dirty="0"/>
                </a:br>
                <a:endParaRPr lang="en-GB" dirty="0"/>
              </a:p>
              <a:p>
                <a:r>
                  <a:rPr lang="en-GB" dirty="0"/>
                  <a:t>• </a:t>
                </a:r>
                <a:r>
                  <a:rPr lang="en-GB" b="1" dirty="0"/>
                  <a:t>Inference Alignment:</a:t>
                </a:r>
                <a:r>
                  <a:rPr lang="en-GB" dirty="0"/>
                  <a:t> Are </a:t>
                </a:r>
                <a14:m>
                  <m:oMath xmlns:m="http://schemas.openxmlformats.org/officeDocument/2006/math">
                    <m:r>
                      <a:rPr lang="en-US" i="1">
                        <a:latin typeface="Cambria Math" panose="02040503050406030204" pitchFamily="18" charset="0"/>
                      </a:rPr>
                      <m:t>𝑝</m:t>
                    </m:r>
                  </m:oMath>
                </a14:m>
                <a:r>
                  <a:rPr lang="en-GB" dirty="0"/>
                  <a:t>-values &amp; coefficients consistent?</a:t>
                </a:r>
              </a:p>
              <a:p>
                <a:endParaRPr lang="en-US" dirty="0"/>
              </a:p>
            </p:txBody>
          </p:sp>
        </mc:Choice>
        <mc:Fallback xmlns="">
          <p:sp>
            <p:nvSpPr>
              <p:cNvPr id="3" name="Content Placeholder 2">
                <a:extLst>
                  <a:ext uri="{FF2B5EF4-FFF2-40B4-BE49-F238E27FC236}">
                    <a16:creationId xmlns:a16="http://schemas.microsoft.com/office/drawing/2014/main" id="{2A6BEF6F-1724-BFB3-F256-0B219E45B679}"/>
                  </a:ext>
                </a:extLst>
              </p:cNvPr>
              <p:cNvSpPr>
                <a:spLocks noGrp="1" noRot="1" noChangeAspect="1" noMove="1" noResize="1" noEditPoints="1" noAdjustHandles="1" noChangeArrowheads="1" noChangeShapeType="1" noTextEdit="1"/>
              </p:cNvSpPr>
              <p:nvPr>
                <p:ph idx="1"/>
              </p:nvPr>
            </p:nvSpPr>
            <p:spPr>
              <a:blipFill>
                <a:blip r:embed="rId2"/>
                <a:stretch>
                  <a:fillRect l="-239"/>
                </a:stretch>
              </a:blipFill>
            </p:spPr>
            <p:txBody>
              <a:bodyPr/>
              <a:lstStyle/>
              <a:p>
                <a:r>
                  <a:rPr lang="en-US">
                    <a:noFill/>
                  </a:rPr>
                  <a:t> </a:t>
                </a:r>
              </a:p>
            </p:txBody>
          </p:sp>
        </mc:Fallback>
      </mc:AlternateContent>
    </p:spTree>
    <p:extLst>
      <p:ext uri="{BB962C8B-B14F-4D97-AF65-F5344CB8AC3E}">
        <p14:creationId xmlns:p14="http://schemas.microsoft.com/office/powerpoint/2010/main" val="123321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43F2F-DC08-9C40-4104-171B9E0C0DEF}"/>
              </a:ext>
            </a:extLst>
          </p:cNvPr>
          <p:cNvSpPr>
            <a:spLocks noGrp="1"/>
          </p:cNvSpPr>
          <p:nvPr>
            <p:ph type="title"/>
          </p:nvPr>
        </p:nvSpPr>
        <p:spPr/>
        <p:txBody>
          <a:bodyPr/>
          <a:lstStyle/>
          <a:p>
            <a:r>
              <a:rPr lang="en-US" dirty="0"/>
              <a:t>utility</a:t>
            </a:r>
          </a:p>
        </p:txBody>
      </p:sp>
      <p:sp>
        <p:nvSpPr>
          <p:cNvPr id="3" name="Content Placeholder 2">
            <a:extLst>
              <a:ext uri="{FF2B5EF4-FFF2-40B4-BE49-F238E27FC236}">
                <a16:creationId xmlns:a16="http://schemas.microsoft.com/office/drawing/2014/main" id="{19FA53D9-354F-1109-90EB-55B614951026}"/>
              </a:ext>
            </a:extLst>
          </p:cNvPr>
          <p:cNvSpPr>
            <a:spLocks noGrp="1"/>
          </p:cNvSpPr>
          <p:nvPr>
            <p:ph idx="1"/>
          </p:nvPr>
        </p:nvSpPr>
        <p:spPr/>
        <p:txBody>
          <a:bodyPr>
            <a:normAutofit/>
          </a:bodyPr>
          <a:lstStyle/>
          <a:p>
            <a:r>
              <a:rPr lang="en-US" dirty="0"/>
              <a:t>[ Benchmark: TRTR ]</a:t>
            </a:r>
          </a:p>
          <a:p>
            <a:r>
              <a:rPr lang="en-US" dirty="0"/>
              <a:t>  Real Training Data  ──&gt;  Train ML/Stats Model  ──&gt;  Test on Real Data  ──&gt;  Score A (e.g., AUC = 0.88)</a:t>
            </a:r>
          </a:p>
          <a:p>
            <a:endParaRPr lang="en-US" dirty="0"/>
          </a:p>
          <a:p>
            <a:r>
              <a:rPr lang="en-US" dirty="0"/>
              <a:t>[ Utility Test: TSTR ]</a:t>
            </a:r>
          </a:p>
          <a:p>
            <a:r>
              <a:rPr lang="en-US" dirty="0"/>
              <a:t>  Synthetic Data     ──&gt;  Train ML/Stats Model  ──&gt;  Test on Real Data  ──&gt;  Score B (e.g., AUC = 0.86)</a:t>
            </a:r>
          </a:p>
        </p:txBody>
      </p:sp>
    </p:spTree>
    <p:extLst>
      <p:ext uri="{BB962C8B-B14F-4D97-AF65-F5344CB8AC3E}">
        <p14:creationId xmlns:p14="http://schemas.microsoft.com/office/powerpoint/2010/main" val="18492627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0E1A7D-E37F-4622-979D-188B4349CF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3843B9-94FE-BC1F-18AE-F12A7CE8168B}"/>
              </a:ext>
            </a:extLst>
          </p:cNvPr>
          <p:cNvSpPr>
            <a:spLocks noGrp="1"/>
          </p:cNvSpPr>
          <p:nvPr>
            <p:ph type="title"/>
          </p:nvPr>
        </p:nvSpPr>
        <p:spPr>
          <a:xfrm>
            <a:off x="914399" y="914399"/>
            <a:ext cx="8396345" cy="892885"/>
          </a:xfrm>
        </p:spPr>
        <p:txBody>
          <a:bodyPr anchor="b">
            <a:normAutofit/>
          </a:bodyPr>
          <a:lstStyle/>
          <a:p>
            <a:r>
              <a:rPr lang="en-US" sz="2800"/>
              <a:t>Privacy </a:t>
            </a:r>
          </a:p>
        </p:txBody>
      </p:sp>
      <p:graphicFrame>
        <p:nvGraphicFramePr>
          <p:cNvPr id="5" name="Content Placeholder 2">
            <a:extLst>
              <a:ext uri="{FF2B5EF4-FFF2-40B4-BE49-F238E27FC236}">
                <a16:creationId xmlns:a16="http://schemas.microsoft.com/office/drawing/2014/main" id="{A7DD6BC7-BB57-E076-1D4A-AF8F02ED1A6C}"/>
              </a:ext>
            </a:extLst>
          </p:cNvPr>
          <p:cNvGraphicFramePr>
            <a:graphicFrameLocks noGrp="1"/>
          </p:cNvGraphicFramePr>
          <p:nvPr>
            <p:ph idx="1"/>
            <p:extLst>
              <p:ext uri="{D42A27DB-BD31-4B8C-83A1-F6EECF244321}">
                <p14:modId xmlns:p14="http://schemas.microsoft.com/office/powerpoint/2010/main" val="4001427740"/>
              </p:ext>
            </p:extLst>
          </p:nvPr>
        </p:nvGraphicFramePr>
        <p:xfrm>
          <a:off x="652463" y="2635624"/>
          <a:ext cx="10891837" cy="3574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07991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F3FD1-7849-0AE6-9646-4E3315C93DF5}"/>
              </a:ext>
            </a:extLst>
          </p:cNvPr>
          <p:cNvSpPr>
            <a:spLocks noGrp="1"/>
          </p:cNvSpPr>
          <p:nvPr>
            <p:ph type="title"/>
          </p:nvPr>
        </p:nvSpPr>
        <p:spPr/>
        <p:txBody>
          <a:bodyPr/>
          <a:lstStyle/>
          <a:p>
            <a:r>
              <a:rPr lang="en-US" dirty="0"/>
              <a:t>Specific metrics</a:t>
            </a:r>
          </a:p>
        </p:txBody>
      </p:sp>
      <p:sp>
        <p:nvSpPr>
          <p:cNvPr id="3" name="Content Placeholder 2">
            <a:extLst>
              <a:ext uri="{FF2B5EF4-FFF2-40B4-BE49-F238E27FC236}">
                <a16:creationId xmlns:a16="http://schemas.microsoft.com/office/drawing/2014/main" id="{7C1725D1-8A79-D6F9-BD3D-D7685A81FFAB}"/>
              </a:ext>
            </a:extLst>
          </p:cNvPr>
          <p:cNvSpPr>
            <a:spLocks noGrp="1"/>
          </p:cNvSpPr>
          <p:nvPr>
            <p:ph idx="1"/>
          </p:nvPr>
        </p:nvSpPr>
        <p:spPr/>
        <p:txBody>
          <a:bodyPr/>
          <a:lstStyle/>
          <a:p>
            <a:r>
              <a:rPr lang="en-US" dirty="0"/>
              <a:t>DCR (Distance to Closest Record): Measures how far each synthetic data point is from its nearest original real data point. A distance of 0 indicates that the model is "copying" the original data, posing a serious vulnerability.</a:t>
            </a:r>
          </a:p>
          <a:p>
            <a:endParaRPr lang="en-US" dirty="0"/>
          </a:p>
          <a:p>
            <a:r>
              <a:rPr lang="en-US" dirty="0"/>
              <a:t>MIA (Membership Inference Attack): Simulates an attacker attempting to infer whether a specific patient is present in the original dataset using synthetic data.</a:t>
            </a:r>
          </a:p>
        </p:txBody>
      </p:sp>
    </p:spTree>
    <p:extLst>
      <p:ext uri="{BB962C8B-B14F-4D97-AF65-F5344CB8AC3E}">
        <p14:creationId xmlns:p14="http://schemas.microsoft.com/office/powerpoint/2010/main" val="2929650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CAAB-D431-34F7-C829-E310DD3A9511}"/>
              </a:ext>
            </a:extLst>
          </p:cNvPr>
          <p:cNvSpPr>
            <a:spLocks noGrp="1"/>
          </p:cNvSpPr>
          <p:nvPr>
            <p:ph type="title"/>
          </p:nvPr>
        </p:nvSpPr>
        <p:spPr/>
        <p:txBody>
          <a:bodyPr/>
          <a:lstStyle/>
          <a:p>
            <a:r>
              <a:rPr lang="en-GB" dirty="0"/>
              <a:t>The Evaluation Triangle</a:t>
            </a:r>
            <a:endParaRPr lang="en-US" dirty="0"/>
          </a:p>
        </p:txBody>
      </p:sp>
      <p:pic>
        <p:nvPicPr>
          <p:cNvPr id="5" name="Content Placeholder 4">
            <a:extLst>
              <a:ext uri="{FF2B5EF4-FFF2-40B4-BE49-F238E27FC236}">
                <a16:creationId xmlns:a16="http://schemas.microsoft.com/office/drawing/2014/main" id="{6D21B4C8-4A2A-FA7A-6954-597A27A0B6A3}"/>
              </a:ext>
            </a:extLst>
          </p:cNvPr>
          <p:cNvPicPr>
            <a:picLocks noGrp="1" noChangeAspect="1"/>
          </p:cNvPicPr>
          <p:nvPr>
            <p:ph idx="1"/>
          </p:nvPr>
        </p:nvPicPr>
        <p:blipFill>
          <a:blip r:embed="rId2"/>
          <a:stretch>
            <a:fillRect/>
          </a:stretch>
        </p:blipFill>
        <p:spPr>
          <a:xfrm>
            <a:off x="652370" y="2528110"/>
            <a:ext cx="8626999" cy="3425217"/>
          </a:xfrm>
          <a:prstGeom prst="rect">
            <a:avLst/>
          </a:prstGeom>
        </p:spPr>
      </p:pic>
      <p:sp>
        <p:nvSpPr>
          <p:cNvPr id="6" name="TextBox 5">
            <a:extLst>
              <a:ext uri="{FF2B5EF4-FFF2-40B4-BE49-F238E27FC236}">
                <a16:creationId xmlns:a16="http://schemas.microsoft.com/office/drawing/2014/main" id="{EE9AD552-EB8E-9AC5-F140-4AE5330C6C36}"/>
              </a:ext>
            </a:extLst>
          </p:cNvPr>
          <p:cNvSpPr txBox="1"/>
          <p:nvPr/>
        </p:nvSpPr>
        <p:spPr>
          <a:xfrm>
            <a:off x="8291611" y="904673"/>
            <a:ext cx="2796208" cy="646331"/>
          </a:xfrm>
          <a:prstGeom prst="rect">
            <a:avLst/>
          </a:prstGeom>
          <a:noFill/>
        </p:spPr>
        <p:txBody>
          <a:bodyPr wrap="square" rtlCol="0">
            <a:spAutoFit/>
          </a:bodyPr>
          <a:lstStyle/>
          <a:p>
            <a:r>
              <a:rPr lang="en-US" dirty="0"/>
              <a:t>There can be more: such as fairness!</a:t>
            </a:r>
          </a:p>
        </p:txBody>
      </p:sp>
      <p:pic>
        <p:nvPicPr>
          <p:cNvPr id="8" name="Picture 7">
            <a:extLst>
              <a:ext uri="{FF2B5EF4-FFF2-40B4-BE49-F238E27FC236}">
                <a16:creationId xmlns:a16="http://schemas.microsoft.com/office/drawing/2014/main" id="{B45BB994-917B-929A-0F21-67C1C3769961}"/>
              </a:ext>
            </a:extLst>
          </p:cNvPr>
          <p:cNvPicPr>
            <a:picLocks noChangeAspect="1"/>
          </p:cNvPicPr>
          <p:nvPr/>
        </p:nvPicPr>
        <p:blipFill>
          <a:blip r:embed="rId3"/>
          <a:stretch>
            <a:fillRect/>
          </a:stretch>
        </p:blipFill>
        <p:spPr>
          <a:xfrm>
            <a:off x="4195793" y="1856476"/>
            <a:ext cx="7772400" cy="855769"/>
          </a:xfrm>
          <a:prstGeom prst="rect">
            <a:avLst/>
          </a:prstGeom>
        </p:spPr>
      </p:pic>
      <p:sp>
        <p:nvSpPr>
          <p:cNvPr id="9" name="TextBox 8">
            <a:extLst>
              <a:ext uri="{FF2B5EF4-FFF2-40B4-BE49-F238E27FC236}">
                <a16:creationId xmlns:a16="http://schemas.microsoft.com/office/drawing/2014/main" id="{2023494C-C8F9-9F0D-2F0E-5FA1A20E8BB5}"/>
              </a:ext>
            </a:extLst>
          </p:cNvPr>
          <p:cNvSpPr txBox="1"/>
          <p:nvPr/>
        </p:nvSpPr>
        <p:spPr>
          <a:xfrm>
            <a:off x="9395792" y="2389079"/>
            <a:ext cx="2796208" cy="369332"/>
          </a:xfrm>
          <a:prstGeom prst="rect">
            <a:avLst/>
          </a:prstGeom>
          <a:noFill/>
        </p:spPr>
        <p:txBody>
          <a:bodyPr wrap="square" rtlCol="0">
            <a:spAutoFit/>
          </a:bodyPr>
          <a:lstStyle/>
          <a:p>
            <a:r>
              <a:rPr lang="en-US" dirty="0"/>
              <a:t>Liu et al., 2025</a:t>
            </a:r>
          </a:p>
        </p:txBody>
      </p:sp>
    </p:spTree>
    <p:extLst>
      <p:ext uri="{BB962C8B-B14F-4D97-AF65-F5344CB8AC3E}">
        <p14:creationId xmlns:p14="http://schemas.microsoft.com/office/powerpoint/2010/main" val="27488967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90E1A7D-E37F-4622-979D-188B4349CF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B0D015-D7B7-35EC-A465-093D2101410E}"/>
              </a:ext>
            </a:extLst>
          </p:cNvPr>
          <p:cNvSpPr>
            <a:spLocks noGrp="1"/>
          </p:cNvSpPr>
          <p:nvPr>
            <p:ph type="title"/>
          </p:nvPr>
        </p:nvSpPr>
        <p:spPr>
          <a:xfrm>
            <a:off x="914399" y="914399"/>
            <a:ext cx="8396345" cy="892885"/>
          </a:xfrm>
        </p:spPr>
        <p:txBody>
          <a:bodyPr anchor="b">
            <a:normAutofit/>
          </a:bodyPr>
          <a:lstStyle/>
          <a:p>
            <a:r>
              <a:rPr lang="en-US" sz="2600"/>
              <a:t>Speaking of privacy in synthetic data</a:t>
            </a:r>
          </a:p>
        </p:txBody>
      </p:sp>
      <p:graphicFrame>
        <p:nvGraphicFramePr>
          <p:cNvPr id="5" name="Content Placeholder 2">
            <a:extLst>
              <a:ext uri="{FF2B5EF4-FFF2-40B4-BE49-F238E27FC236}">
                <a16:creationId xmlns:a16="http://schemas.microsoft.com/office/drawing/2014/main" id="{6A3FBA01-05FE-E7A7-0EAD-93573AAE0428}"/>
              </a:ext>
            </a:extLst>
          </p:cNvPr>
          <p:cNvGraphicFramePr>
            <a:graphicFrameLocks noGrp="1"/>
          </p:cNvGraphicFramePr>
          <p:nvPr>
            <p:ph idx="1"/>
            <p:extLst>
              <p:ext uri="{D42A27DB-BD31-4B8C-83A1-F6EECF244321}">
                <p14:modId xmlns:p14="http://schemas.microsoft.com/office/powerpoint/2010/main" val="1199500044"/>
              </p:ext>
            </p:extLst>
          </p:nvPr>
        </p:nvGraphicFramePr>
        <p:xfrm>
          <a:off x="652463" y="2635624"/>
          <a:ext cx="10891837" cy="3574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57353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F1E851-CD33-4DE3-B862-1D439E2BB5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14D160-AD48-0797-9037-D6C123F156E9}"/>
              </a:ext>
            </a:extLst>
          </p:cNvPr>
          <p:cNvSpPr>
            <a:spLocks noGrp="1"/>
          </p:cNvSpPr>
          <p:nvPr>
            <p:ph type="title"/>
          </p:nvPr>
        </p:nvSpPr>
        <p:spPr>
          <a:xfrm>
            <a:off x="660591" y="4500283"/>
            <a:ext cx="5435409" cy="1443318"/>
          </a:xfrm>
        </p:spPr>
        <p:txBody>
          <a:bodyPr>
            <a:normAutofit/>
          </a:bodyPr>
          <a:lstStyle/>
          <a:p>
            <a:pPr>
              <a:lnSpc>
                <a:spcPct val="110000"/>
              </a:lnSpc>
            </a:pPr>
            <a:r>
              <a:rPr lang="en-US" sz="3100"/>
              <a:t>Differential private synthetic data</a:t>
            </a:r>
          </a:p>
        </p:txBody>
      </p:sp>
      <p:pic>
        <p:nvPicPr>
          <p:cNvPr id="4" name="Picture 3" descr="Differential Privacy - A simple recipe for private synthetic data generation">
            <a:extLst>
              <a:ext uri="{FF2B5EF4-FFF2-40B4-BE49-F238E27FC236}">
                <a16:creationId xmlns:a16="http://schemas.microsoft.com/office/drawing/2014/main" id="{15B492F4-6543-71FC-64E5-CF2E04E914FA}"/>
              </a:ext>
            </a:extLst>
          </p:cNvPr>
          <p:cNvPicPr>
            <a:picLocks noChangeAspect="1"/>
          </p:cNvPicPr>
          <p:nvPr/>
        </p:nvPicPr>
        <p:blipFill>
          <a:blip r:embed="rId3"/>
          <a:stretch>
            <a:fillRect/>
          </a:stretch>
        </p:blipFill>
        <p:spPr>
          <a:xfrm>
            <a:off x="1021104" y="647701"/>
            <a:ext cx="10184714" cy="3386418"/>
          </a:xfrm>
          <a:prstGeom prst="rect">
            <a:avLst/>
          </a:prstGeom>
        </p:spPr>
      </p:pic>
      <p:sp>
        <p:nvSpPr>
          <p:cNvPr id="3" name="Content Placeholder 2">
            <a:extLst>
              <a:ext uri="{FF2B5EF4-FFF2-40B4-BE49-F238E27FC236}">
                <a16:creationId xmlns:a16="http://schemas.microsoft.com/office/drawing/2014/main" id="{6D8B8265-E16E-8878-3AB5-CA79C568C6DA}"/>
              </a:ext>
            </a:extLst>
          </p:cNvPr>
          <p:cNvSpPr>
            <a:spLocks noGrp="1"/>
          </p:cNvSpPr>
          <p:nvPr>
            <p:ph idx="1"/>
          </p:nvPr>
        </p:nvSpPr>
        <p:spPr>
          <a:xfrm>
            <a:off x="7119641" y="4428565"/>
            <a:ext cx="4157959" cy="1781734"/>
          </a:xfrm>
        </p:spPr>
        <p:txBody>
          <a:bodyPr>
            <a:normAutofit/>
          </a:bodyPr>
          <a:lstStyle/>
          <a:p>
            <a:r>
              <a:rPr lang="en-US" dirty="0">
                <a:hlinkClick r:id="rId4"/>
              </a:rPr>
              <a:t>Pic sources</a:t>
            </a:r>
            <a:endParaRPr lang="en-US" dirty="0"/>
          </a:p>
          <a:p>
            <a:endParaRPr lang="en-US" dirty="0"/>
          </a:p>
          <a:p>
            <a:r>
              <a:rPr lang="en-US" dirty="0"/>
              <a:t>By latest AI attacks, with only synthetic data alone, it’s not safe</a:t>
            </a:r>
          </a:p>
        </p:txBody>
      </p:sp>
    </p:spTree>
    <p:extLst>
      <p:ext uri="{BB962C8B-B14F-4D97-AF65-F5344CB8AC3E}">
        <p14:creationId xmlns:p14="http://schemas.microsoft.com/office/powerpoint/2010/main" val="37251766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B1580-DF39-A643-EB42-4500FCED2927}"/>
              </a:ext>
            </a:extLst>
          </p:cNvPr>
          <p:cNvSpPr>
            <a:spLocks noGrp="1"/>
          </p:cNvSpPr>
          <p:nvPr>
            <p:ph type="title"/>
          </p:nvPr>
        </p:nvSpPr>
        <p:spPr/>
        <p:txBody>
          <a:bodyPr/>
          <a:lstStyle/>
          <a:p>
            <a:r>
              <a:rPr lang="en-GB" dirty="0"/>
              <a:t>Federated Learning + Synthetic Data</a:t>
            </a:r>
            <a:endParaRPr lang="en-US" dirty="0"/>
          </a:p>
        </p:txBody>
      </p:sp>
      <p:sp>
        <p:nvSpPr>
          <p:cNvPr id="3" name="Content Placeholder 2">
            <a:extLst>
              <a:ext uri="{FF2B5EF4-FFF2-40B4-BE49-F238E27FC236}">
                <a16:creationId xmlns:a16="http://schemas.microsoft.com/office/drawing/2014/main" id="{9D00B1A0-D10C-608C-F5DE-9303459F40AA}"/>
              </a:ext>
            </a:extLst>
          </p:cNvPr>
          <p:cNvSpPr>
            <a:spLocks noGrp="1"/>
          </p:cNvSpPr>
          <p:nvPr>
            <p:ph idx="1"/>
          </p:nvPr>
        </p:nvSpPr>
        <p:spPr>
          <a:xfrm>
            <a:off x="6883879" y="2095500"/>
            <a:ext cx="4389347" cy="3848100"/>
          </a:xfrm>
        </p:spPr>
        <p:txBody>
          <a:bodyPr/>
          <a:lstStyle/>
          <a:p>
            <a:r>
              <a:rPr lang="en-US" dirty="0"/>
              <a:t>The core challenge: Data is scattered across three hospitals in Oslo, USA, and London. Due to GDPR restrictions, none of the three hospitals can aggregate the raw data onto a central server.</a:t>
            </a:r>
          </a:p>
          <a:p>
            <a:endParaRPr lang="en-US" dirty="0"/>
          </a:p>
          <a:p>
            <a:r>
              <a:rPr lang="en-US" dirty="0"/>
              <a:t>In short: "Bring the model to the data, not the data to the model."</a:t>
            </a:r>
          </a:p>
        </p:txBody>
      </p:sp>
      <p:pic>
        <p:nvPicPr>
          <p:cNvPr id="4" name="Picture 2" descr="Distributed Computing">
            <a:extLst>
              <a:ext uri="{FF2B5EF4-FFF2-40B4-BE49-F238E27FC236}">
                <a16:creationId xmlns:a16="http://schemas.microsoft.com/office/drawing/2014/main" id="{9B4014E3-AC66-8D37-B504-FDA17AD7A97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80467" y="2331594"/>
            <a:ext cx="5648193" cy="3177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738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1767F-E183-5241-D4CB-77E1BF146D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534A9-DD32-B356-EC9D-92EEF218C985}"/>
              </a:ext>
            </a:extLst>
          </p:cNvPr>
          <p:cNvSpPr>
            <a:spLocks noGrp="1"/>
          </p:cNvSpPr>
          <p:nvPr>
            <p:ph type="title"/>
          </p:nvPr>
        </p:nvSpPr>
        <p:spPr/>
        <p:txBody>
          <a:bodyPr/>
          <a:lstStyle/>
          <a:p>
            <a:r>
              <a:rPr lang="en-GB" dirty="0"/>
              <a:t>Federated Learning + Synthetic Data</a:t>
            </a:r>
            <a:endParaRPr lang="en-US" dirty="0"/>
          </a:p>
        </p:txBody>
      </p:sp>
      <p:sp>
        <p:nvSpPr>
          <p:cNvPr id="3" name="Content Placeholder 2">
            <a:extLst>
              <a:ext uri="{FF2B5EF4-FFF2-40B4-BE49-F238E27FC236}">
                <a16:creationId xmlns:a16="http://schemas.microsoft.com/office/drawing/2014/main" id="{94ABC9D9-BC87-BC68-D3AC-104B644BC029}"/>
              </a:ext>
            </a:extLst>
          </p:cNvPr>
          <p:cNvSpPr>
            <a:spLocks noGrp="1"/>
          </p:cNvSpPr>
          <p:nvPr>
            <p:ph idx="1"/>
          </p:nvPr>
        </p:nvSpPr>
        <p:spPr>
          <a:xfrm>
            <a:off x="6883879" y="2095500"/>
            <a:ext cx="4389347" cy="3848100"/>
          </a:xfrm>
        </p:spPr>
        <p:txBody>
          <a:bodyPr>
            <a:normAutofit fontScale="92500" lnSpcReduction="10000"/>
          </a:bodyPr>
          <a:lstStyle/>
          <a:p>
            <a:r>
              <a:rPr lang="en-US" dirty="0"/>
              <a:t>The three hospitals do not share a single line of raw data. We train the AI ​​generation models locally separately and upload only the model’s ‘weight parameters’ to a central server for aggregation.</a:t>
            </a:r>
          </a:p>
          <a:p>
            <a:r>
              <a:rPr lang="en-US" dirty="0"/>
              <a:t> Finally, we use this ‘joint society’s AI’ to generate a global synthetic data set (Global Synthetic Dataset) that combines the strengths of each company. "</a:t>
            </a:r>
          </a:p>
        </p:txBody>
      </p:sp>
      <p:pic>
        <p:nvPicPr>
          <p:cNvPr id="6" name="Picture 5" descr="Diagram of a model&#10;&#10;AI-generated content may be incorrect.">
            <a:extLst>
              <a:ext uri="{FF2B5EF4-FFF2-40B4-BE49-F238E27FC236}">
                <a16:creationId xmlns:a16="http://schemas.microsoft.com/office/drawing/2014/main" id="{C121B35A-491E-F689-5F0D-91FD2A3FBF11}"/>
              </a:ext>
            </a:extLst>
          </p:cNvPr>
          <p:cNvPicPr>
            <a:picLocks noChangeAspect="1"/>
          </p:cNvPicPr>
          <p:nvPr/>
        </p:nvPicPr>
        <p:blipFill>
          <a:blip r:embed="rId2"/>
          <a:stretch>
            <a:fillRect/>
          </a:stretch>
        </p:blipFill>
        <p:spPr>
          <a:xfrm>
            <a:off x="652371" y="1794753"/>
            <a:ext cx="5587762" cy="4583972"/>
          </a:xfrm>
          <a:prstGeom prst="rect">
            <a:avLst/>
          </a:prstGeom>
        </p:spPr>
      </p:pic>
    </p:spTree>
    <p:extLst>
      <p:ext uri="{BB962C8B-B14F-4D97-AF65-F5344CB8AC3E}">
        <p14:creationId xmlns:p14="http://schemas.microsoft.com/office/powerpoint/2010/main" val="3731543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D1320-FC7C-33E9-7CDB-A7D10E03DDCB}"/>
              </a:ext>
            </a:extLst>
          </p:cNvPr>
          <p:cNvSpPr>
            <a:spLocks noGrp="1"/>
          </p:cNvSpPr>
          <p:nvPr>
            <p:ph type="title"/>
          </p:nvPr>
        </p:nvSpPr>
        <p:spPr/>
        <p:txBody>
          <a:bodyPr>
            <a:normAutofit/>
          </a:bodyPr>
          <a:lstStyle/>
          <a:p>
            <a:r>
              <a:rPr lang="en-US" dirty="0">
                <a:solidFill>
                  <a:schemeClr val="tx1">
                    <a:lumMod val="95000"/>
                    <a:lumOff val="5000"/>
                  </a:schemeClr>
                </a:solidFill>
              </a:rPr>
              <a:t>ASPIRE project in </a:t>
            </a:r>
            <a:r>
              <a:rPr lang="en-US" dirty="0" err="1">
                <a:solidFill>
                  <a:schemeClr val="tx1">
                    <a:lumMod val="95000"/>
                    <a:lumOff val="5000"/>
                  </a:schemeClr>
                </a:solidFill>
              </a:rPr>
              <a:t>uib</a:t>
            </a:r>
            <a:endParaRPr lang="en-US"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9018341E-F6FA-81B4-62D4-B06757DF667D}"/>
              </a:ext>
            </a:extLst>
          </p:cNvPr>
          <p:cNvSpPr>
            <a:spLocks noGrp="1"/>
          </p:cNvSpPr>
          <p:nvPr>
            <p:ph idx="1"/>
          </p:nvPr>
        </p:nvSpPr>
        <p:spPr>
          <a:xfrm>
            <a:off x="652371" y="2095500"/>
            <a:ext cx="6002429" cy="3848100"/>
          </a:xfrm>
        </p:spPr>
        <p:txBody>
          <a:bodyPr/>
          <a:lstStyle/>
          <a:p>
            <a:r>
              <a:rPr lang="en-US" dirty="0"/>
              <a:t>Accelerating Privacy and Data Protection Measures Using Synthetic Data Generation (ASPIRE)</a:t>
            </a:r>
          </a:p>
          <a:p>
            <a:r>
              <a:rPr lang="en-GB" dirty="0"/>
              <a:t>ASPIRE aims to develop novel synthetic data generation methods that robustly ensure privacy and data protection using two innovative techniques: Differential Privacy and Federated Learning. </a:t>
            </a:r>
          </a:p>
          <a:p>
            <a:r>
              <a:rPr lang="en-GB" dirty="0"/>
              <a:t>For education data and health data both</a:t>
            </a:r>
          </a:p>
          <a:p>
            <a:endParaRPr lang="en-US" dirty="0"/>
          </a:p>
        </p:txBody>
      </p:sp>
      <p:pic>
        <p:nvPicPr>
          <p:cNvPr id="5" name="Picture 4">
            <a:extLst>
              <a:ext uri="{FF2B5EF4-FFF2-40B4-BE49-F238E27FC236}">
                <a16:creationId xmlns:a16="http://schemas.microsoft.com/office/drawing/2014/main" id="{AE59380C-D5EB-36DB-515B-06BBB5D5D0FB}"/>
              </a:ext>
            </a:extLst>
          </p:cNvPr>
          <p:cNvPicPr>
            <a:picLocks noChangeAspect="1"/>
          </p:cNvPicPr>
          <p:nvPr/>
        </p:nvPicPr>
        <p:blipFill>
          <a:blip r:embed="rId2"/>
          <a:stretch>
            <a:fillRect/>
          </a:stretch>
        </p:blipFill>
        <p:spPr>
          <a:xfrm>
            <a:off x="7158426" y="2095500"/>
            <a:ext cx="3810000" cy="4216400"/>
          </a:xfrm>
          <a:prstGeom prst="rect">
            <a:avLst/>
          </a:prstGeom>
        </p:spPr>
      </p:pic>
    </p:spTree>
    <p:extLst>
      <p:ext uri="{BB962C8B-B14F-4D97-AF65-F5344CB8AC3E}">
        <p14:creationId xmlns:p14="http://schemas.microsoft.com/office/powerpoint/2010/main" val="13305619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F8B8C-1A9B-F6B3-3FAB-C80434E9C197}"/>
              </a:ext>
            </a:extLst>
          </p:cNvPr>
          <p:cNvSpPr>
            <a:spLocks noGrp="1"/>
          </p:cNvSpPr>
          <p:nvPr>
            <p:ph type="title"/>
          </p:nvPr>
        </p:nvSpPr>
        <p:spPr/>
        <p:txBody>
          <a:bodyPr>
            <a:normAutofit fontScale="90000"/>
          </a:bodyPr>
          <a:lstStyle/>
          <a:p>
            <a:r>
              <a:rPr lang="en-GB" dirty="0"/>
              <a:t>Illustrative example: a privacy-conscious sharing workflow</a:t>
            </a:r>
            <a:endParaRPr lang="en-US" dirty="0"/>
          </a:p>
        </p:txBody>
      </p:sp>
      <p:graphicFrame>
        <p:nvGraphicFramePr>
          <p:cNvPr id="4" name="Content Placeholder 3">
            <a:extLst>
              <a:ext uri="{FF2B5EF4-FFF2-40B4-BE49-F238E27FC236}">
                <a16:creationId xmlns:a16="http://schemas.microsoft.com/office/drawing/2014/main" id="{4D4E3A6F-FD0D-B1FC-2AA2-D265123FE87F}"/>
              </a:ext>
            </a:extLst>
          </p:cNvPr>
          <p:cNvGraphicFramePr>
            <a:graphicFrameLocks noGrp="1"/>
          </p:cNvGraphicFramePr>
          <p:nvPr>
            <p:ph idx="1"/>
            <p:extLst>
              <p:ext uri="{D42A27DB-BD31-4B8C-83A1-F6EECF244321}">
                <p14:modId xmlns:p14="http://schemas.microsoft.com/office/powerpoint/2010/main" val="2394661963"/>
              </p:ext>
            </p:extLst>
          </p:nvPr>
        </p:nvGraphicFramePr>
        <p:xfrm>
          <a:off x="652371" y="2079447"/>
          <a:ext cx="10620374" cy="2021840"/>
        </p:xfrm>
        <a:graphic>
          <a:graphicData uri="http://schemas.openxmlformats.org/drawingml/2006/table">
            <a:tbl>
              <a:tblPr firstRow="1" bandRow="1">
                <a:tableStyleId>{5C22544A-7EE6-4342-B048-85BDC9FD1C3A}</a:tableStyleId>
              </a:tblPr>
              <a:tblGrid>
                <a:gridCol w="5310187">
                  <a:extLst>
                    <a:ext uri="{9D8B030D-6E8A-4147-A177-3AD203B41FA5}">
                      <a16:colId xmlns:a16="http://schemas.microsoft.com/office/drawing/2014/main" val="3568165121"/>
                    </a:ext>
                  </a:extLst>
                </a:gridCol>
                <a:gridCol w="5310187">
                  <a:extLst>
                    <a:ext uri="{9D8B030D-6E8A-4147-A177-3AD203B41FA5}">
                      <a16:colId xmlns:a16="http://schemas.microsoft.com/office/drawing/2014/main" val="3148598638"/>
                    </a:ext>
                  </a:extLst>
                </a:gridCol>
              </a:tblGrid>
              <a:tr h="370840">
                <a:tc>
                  <a:txBody>
                    <a:bodyPr/>
                    <a:lstStyle/>
                    <a:p>
                      <a:r>
                        <a:rPr lang="en-GB" dirty="0"/>
                        <a:t>1. THE DILEMMA ] </a:t>
                      </a:r>
                      <a:endParaRPr lang="en-US" dirty="0"/>
                    </a:p>
                  </a:txBody>
                  <a:tcPr/>
                </a:tc>
                <a:tc>
                  <a:txBody>
                    <a:bodyPr/>
                    <a:lstStyle/>
                    <a:p>
                      <a:r>
                        <a:rPr lang="en-GB" dirty="0"/>
                        <a:t>[ 3. THE OPEN SCIENCE IMPACT ]</a:t>
                      </a:r>
                      <a:endParaRPr lang="en-US" dirty="0"/>
                    </a:p>
                  </a:txBody>
                  <a:tcPr/>
                </a:tc>
                <a:extLst>
                  <a:ext uri="{0D108BD9-81ED-4DB2-BD59-A6C34878D82A}">
                    <a16:rowId xmlns:a16="http://schemas.microsoft.com/office/drawing/2014/main" val="2175504854"/>
                  </a:ext>
                </a:extLst>
              </a:tr>
              <a:tr h="370840">
                <a:tc>
                  <a:txBody>
                    <a:bodyPr/>
                    <a:lstStyle/>
                    <a:p>
                      <a:r>
                        <a:rPr lang="en-US" dirty="0"/>
                        <a:t>• 5,000 sensitive patient records (EHR) </a:t>
                      </a:r>
                    </a:p>
                  </a:txBody>
                  <a:tcPr/>
                </a:tc>
                <a:tc>
                  <a:txBody>
                    <a:bodyPr/>
                    <a:lstStyle/>
                    <a:p>
                      <a:r>
                        <a:rPr lang="en-GB" dirty="0"/>
                        <a:t>Public synthetic dataset released on </a:t>
                      </a:r>
                      <a:r>
                        <a:rPr lang="en-GB" dirty="0" err="1"/>
                        <a:t>Zenodo</a:t>
                      </a:r>
                      <a:r>
                        <a:rPr lang="en-GB" dirty="0"/>
                        <a:t> </a:t>
                      </a:r>
                      <a:endParaRPr lang="en-US" dirty="0"/>
                    </a:p>
                  </a:txBody>
                  <a:tcPr/>
                </a:tc>
                <a:extLst>
                  <a:ext uri="{0D108BD9-81ED-4DB2-BD59-A6C34878D82A}">
                    <a16:rowId xmlns:a16="http://schemas.microsoft.com/office/drawing/2014/main" val="1039423568"/>
                  </a:ext>
                </a:extLst>
              </a:tr>
              <a:tr h="370840">
                <a:tc>
                  <a:txBody>
                    <a:bodyPr/>
                    <a:lstStyle/>
                    <a:p>
                      <a:r>
                        <a:rPr lang="en-GB" dirty="0"/>
                        <a:t>• Locked under strict GDPR &amp; TSD security rules </a:t>
                      </a:r>
                      <a:endParaRPr lang="en-US" dirty="0"/>
                    </a:p>
                  </a:txBody>
                  <a:tcPr/>
                </a:tc>
                <a:tc>
                  <a:txBody>
                    <a:bodyPr/>
                    <a:lstStyle/>
                    <a:p>
                      <a:r>
                        <a:rPr lang="en-US" dirty="0"/>
                        <a:t>Global collaborators built &amp; debugged algorithms without ever accessing raw patient rows</a:t>
                      </a:r>
                    </a:p>
                  </a:txBody>
                  <a:tcPr/>
                </a:tc>
                <a:extLst>
                  <a:ext uri="{0D108BD9-81ED-4DB2-BD59-A6C34878D82A}">
                    <a16:rowId xmlns:a16="http://schemas.microsoft.com/office/drawing/2014/main" val="2961706077"/>
                  </a:ext>
                </a:extLst>
              </a:tr>
              <a:tr h="370840">
                <a:tc>
                  <a:txBody>
                    <a:bodyPr/>
                    <a:lstStyle/>
                    <a:p>
                      <a:r>
                        <a:rPr lang="en-GB" dirty="0"/>
                        <a:t>• Direct cross-border sharing was strictly impossible</a:t>
                      </a:r>
                      <a:endParaRPr lang="en-US" dirty="0"/>
                    </a:p>
                  </a:txBody>
                  <a:tcPr/>
                </a:tc>
                <a:tc>
                  <a:txBody>
                    <a:bodyPr/>
                    <a:lstStyle/>
                    <a:p>
                      <a:endParaRPr lang="en-US" dirty="0"/>
                    </a:p>
                  </a:txBody>
                  <a:tcPr/>
                </a:tc>
                <a:extLst>
                  <a:ext uri="{0D108BD9-81ED-4DB2-BD59-A6C34878D82A}">
                    <a16:rowId xmlns:a16="http://schemas.microsoft.com/office/drawing/2014/main" val="1977700101"/>
                  </a:ext>
                </a:extLst>
              </a:tr>
            </a:tbl>
          </a:graphicData>
        </a:graphic>
      </p:graphicFrame>
      <p:graphicFrame>
        <p:nvGraphicFramePr>
          <p:cNvPr id="5" name="Content Placeholder 3">
            <a:extLst>
              <a:ext uri="{FF2B5EF4-FFF2-40B4-BE49-F238E27FC236}">
                <a16:creationId xmlns:a16="http://schemas.microsoft.com/office/drawing/2014/main" id="{2E53B49E-75DA-C3E1-0DCC-030F6B9EFCF1}"/>
              </a:ext>
            </a:extLst>
          </p:cNvPr>
          <p:cNvGraphicFramePr>
            <a:graphicFrameLocks/>
          </p:cNvGraphicFramePr>
          <p:nvPr>
            <p:extLst>
              <p:ext uri="{D42A27DB-BD31-4B8C-83A1-F6EECF244321}">
                <p14:modId xmlns:p14="http://schemas.microsoft.com/office/powerpoint/2010/main" val="2441322029"/>
              </p:ext>
            </p:extLst>
          </p:nvPr>
        </p:nvGraphicFramePr>
        <p:xfrm>
          <a:off x="652371" y="4385982"/>
          <a:ext cx="10620374" cy="1483360"/>
        </p:xfrm>
        <a:graphic>
          <a:graphicData uri="http://schemas.openxmlformats.org/drawingml/2006/table">
            <a:tbl>
              <a:tblPr firstRow="1" bandRow="1">
                <a:tableStyleId>{5C22544A-7EE6-4342-B048-85BDC9FD1C3A}</a:tableStyleId>
              </a:tblPr>
              <a:tblGrid>
                <a:gridCol w="5310187">
                  <a:extLst>
                    <a:ext uri="{9D8B030D-6E8A-4147-A177-3AD203B41FA5}">
                      <a16:colId xmlns:a16="http://schemas.microsoft.com/office/drawing/2014/main" val="3568165121"/>
                    </a:ext>
                  </a:extLst>
                </a:gridCol>
                <a:gridCol w="5310187">
                  <a:extLst>
                    <a:ext uri="{9D8B030D-6E8A-4147-A177-3AD203B41FA5}">
                      <a16:colId xmlns:a16="http://schemas.microsoft.com/office/drawing/2014/main" val="3148598638"/>
                    </a:ext>
                  </a:extLst>
                </a:gridCol>
              </a:tblGrid>
              <a:tr h="370840">
                <a:tc>
                  <a:txBody>
                    <a:bodyPr/>
                    <a:lstStyle/>
                    <a:p>
                      <a:r>
                        <a:rPr lang="en-GB" dirty="0"/>
                        <a:t>[ 2. THE SYNTHETIC PIPELINE ] </a:t>
                      </a:r>
                      <a:endParaRPr lang="en-US" dirty="0"/>
                    </a:p>
                  </a:txBody>
                  <a:tcPr/>
                </a:tc>
                <a:tc>
                  <a:txBody>
                    <a:bodyPr/>
                    <a:lstStyle/>
                    <a:p>
                      <a:r>
                        <a:rPr lang="en-GB" dirty="0"/>
                        <a:t>[ 4. THE VALIDATION RESULT ]</a:t>
                      </a:r>
                      <a:endParaRPr lang="en-US" dirty="0"/>
                    </a:p>
                  </a:txBody>
                  <a:tcPr/>
                </a:tc>
                <a:extLst>
                  <a:ext uri="{0D108BD9-81ED-4DB2-BD59-A6C34878D82A}">
                    <a16:rowId xmlns:a16="http://schemas.microsoft.com/office/drawing/2014/main" val="2175504854"/>
                  </a:ext>
                </a:extLst>
              </a:tr>
              <a:tr h="370840">
                <a:tc>
                  <a:txBody>
                    <a:bodyPr/>
                    <a:lstStyle/>
                    <a:p>
                      <a:r>
                        <a:rPr lang="en-US" dirty="0"/>
                        <a:t>•</a:t>
                      </a:r>
                      <a:r>
                        <a:rPr lang="zh-CN" altLang="en-US" dirty="0"/>
                        <a:t> </a:t>
                      </a:r>
                      <a:r>
                        <a:rPr lang="en-GB" dirty="0"/>
                        <a:t>Trained CTGAN generator inside secure vault </a:t>
                      </a:r>
                      <a:endParaRPr lang="en-US" dirty="0"/>
                    </a:p>
                  </a:txBody>
                  <a:tcPr/>
                </a:tc>
                <a:tc>
                  <a:txBody>
                    <a:bodyPr/>
                    <a:lstStyle/>
                    <a:p>
                      <a:r>
                        <a:rPr lang="en-GB" dirty="0"/>
                        <a:t>• High Utility: TSTR Model AUC 0.85 (vs Real 0.87)</a:t>
                      </a:r>
                      <a:endParaRPr lang="en-US" dirty="0"/>
                    </a:p>
                  </a:txBody>
                  <a:tcPr/>
                </a:tc>
                <a:extLst>
                  <a:ext uri="{0D108BD9-81ED-4DB2-BD59-A6C34878D82A}">
                    <a16:rowId xmlns:a16="http://schemas.microsoft.com/office/drawing/2014/main" val="1039423568"/>
                  </a:ext>
                </a:extLst>
              </a:tr>
              <a:tr h="370840">
                <a:tc>
                  <a:txBody>
                    <a:bodyPr/>
                    <a:lstStyle/>
                    <a:p>
                      <a:r>
                        <a:rPr lang="en-GB" dirty="0"/>
                        <a:t>•</a:t>
                      </a:r>
                      <a:r>
                        <a:rPr lang="zh-CN" altLang="en-US" dirty="0"/>
                        <a:t> </a:t>
                      </a:r>
                      <a:r>
                        <a:rPr lang="en-GB" dirty="0"/>
                        <a:t>Outputted 10,000 privacy-safe synthetic rows </a:t>
                      </a:r>
                      <a:endParaRPr lang="en-US" dirty="0"/>
                    </a:p>
                  </a:txBody>
                  <a:tcPr/>
                </a:tc>
                <a:tc>
                  <a:txBody>
                    <a:bodyPr/>
                    <a:lstStyle/>
                    <a:p>
                      <a:r>
                        <a:rPr lang="en-GB" dirty="0"/>
                        <a:t>• Strong Privacy: Zero leaks (DCR safety score)</a:t>
                      </a:r>
                      <a:endParaRPr lang="en-US" dirty="0"/>
                    </a:p>
                  </a:txBody>
                  <a:tcPr/>
                </a:tc>
                <a:extLst>
                  <a:ext uri="{0D108BD9-81ED-4DB2-BD59-A6C34878D82A}">
                    <a16:rowId xmlns:a16="http://schemas.microsoft.com/office/drawing/2014/main" val="2961706077"/>
                  </a:ext>
                </a:extLst>
              </a:tr>
              <a:tr h="370840">
                <a:tc>
                  <a:txBody>
                    <a:bodyPr/>
                    <a:lstStyle/>
                    <a:p>
                      <a:r>
                        <a:rPr lang="en-GB" dirty="0"/>
                        <a:t>• Applied strict Differential Privacy (DP) checks </a:t>
                      </a:r>
                      <a:endParaRPr lang="en-US" dirty="0"/>
                    </a:p>
                  </a:txBody>
                  <a:tcPr/>
                </a:tc>
                <a:tc>
                  <a:txBody>
                    <a:bodyPr/>
                    <a:lstStyle/>
                    <a:p>
                      <a:r>
                        <a:rPr lang="en-GB" dirty="0"/>
                        <a:t>• Limitation: Rare gene interactions were smoothed </a:t>
                      </a:r>
                      <a:endParaRPr lang="en-US" dirty="0"/>
                    </a:p>
                  </a:txBody>
                  <a:tcPr/>
                </a:tc>
                <a:extLst>
                  <a:ext uri="{0D108BD9-81ED-4DB2-BD59-A6C34878D82A}">
                    <a16:rowId xmlns:a16="http://schemas.microsoft.com/office/drawing/2014/main" val="1977700101"/>
                  </a:ext>
                </a:extLst>
              </a:tr>
            </a:tbl>
          </a:graphicData>
        </a:graphic>
      </p:graphicFrame>
    </p:spTree>
    <p:extLst>
      <p:ext uri="{BB962C8B-B14F-4D97-AF65-F5344CB8AC3E}">
        <p14:creationId xmlns:p14="http://schemas.microsoft.com/office/powerpoint/2010/main" val="5639502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1FE33-C74F-C393-5181-7107BC6CF421}"/>
              </a:ext>
            </a:extLst>
          </p:cNvPr>
          <p:cNvSpPr>
            <a:spLocks noGrp="1"/>
          </p:cNvSpPr>
          <p:nvPr>
            <p:ph type="title"/>
          </p:nvPr>
        </p:nvSpPr>
        <p:spPr/>
        <p:txBody>
          <a:bodyPr/>
          <a:lstStyle/>
          <a:p>
            <a:r>
              <a:rPr lang="en-US" dirty="0"/>
              <a:t>Limitations of synthetic data</a:t>
            </a:r>
          </a:p>
        </p:txBody>
      </p:sp>
      <p:graphicFrame>
        <p:nvGraphicFramePr>
          <p:cNvPr id="5" name="Content Placeholder 2">
            <a:extLst>
              <a:ext uri="{FF2B5EF4-FFF2-40B4-BE49-F238E27FC236}">
                <a16:creationId xmlns:a16="http://schemas.microsoft.com/office/drawing/2014/main" id="{31BB9DC5-2033-CA7F-AEF9-34A47C4C1A61}"/>
              </a:ext>
            </a:extLst>
          </p:cNvPr>
          <p:cNvGraphicFramePr>
            <a:graphicFrameLocks noGrp="1"/>
          </p:cNvGraphicFramePr>
          <p:nvPr>
            <p:ph idx="1"/>
            <p:extLst>
              <p:ext uri="{D42A27DB-BD31-4B8C-83A1-F6EECF244321}">
                <p14:modId xmlns:p14="http://schemas.microsoft.com/office/powerpoint/2010/main" val="3418861961"/>
              </p:ext>
            </p:extLst>
          </p:nvPr>
        </p:nvGraphicFramePr>
        <p:xfrm>
          <a:off x="652371" y="2095500"/>
          <a:ext cx="10620855" cy="3848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85101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F7114-1F99-9E35-C839-17CAA7A893B4}"/>
              </a:ext>
            </a:extLst>
          </p:cNvPr>
          <p:cNvSpPr>
            <a:spLocks noGrp="1"/>
          </p:cNvSpPr>
          <p:nvPr>
            <p:ph type="title"/>
          </p:nvPr>
        </p:nvSpPr>
        <p:spPr/>
        <p:txBody>
          <a:bodyPr>
            <a:normAutofit fontScale="90000"/>
          </a:bodyPr>
          <a:lstStyle/>
          <a:p>
            <a:r>
              <a:rPr lang="en-US" dirty="0"/>
              <a:t>Take away: practical rule for synthetic data in open science</a:t>
            </a:r>
          </a:p>
        </p:txBody>
      </p:sp>
      <p:graphicFrame>
        <p:nvGraphicFramePr>
          <p:cNvPr id="4" name="Content Placeholder 3">
            <a:extLst>
              <a:ext uri="{FF2B5EF4-FFF2-40B4-BE49-F238E27FC236}">
                <a16:creationId xmlns:a16="http://schemas.microsoft.com/office/drawing/2014/main" id="{CB8EA6BC-65DC-B29E-FAA2-0641F41CC010}"/>
              </a:ext>
            </a:extLst>
          </p:cNvPr>
          <p:cNvGraphicFramePr>
            <a:graphicFrameLocks noGrp="1"/>
          </p:cNvGraphicFramePr>
          <p:nvPr>
            <p:ph idx="1"/>
            <p:extLst>
              <p:ext uri="{D42A27DB-BD31-4B8C-83A1-F6EECF244321}">
                <p14:modId xmlns:p14="http://schemas.microsoft.com/office/powerpoint/2010/main" val="4201315596"/>
              </p:ext>
            </p:extLst>
          </p:nvPr>
        </p:nvGraphicFramePr>
        <p:xfrm>
          <a:off x="652463" y="2095499"/>
          <a:ext cx="10003095" cy="4435930"/>
        </p:xfrm>
        <a:graphic>
          <a:graphicData uri="http://schemas.openxmlformats.org/drawingml/2006/table">
            <a:tbl>
              <a:tblPr firstRow="1" bandRow="1">
                <a:tableStyleId>{073A0DAA-6AF3-43AB-8588-CEC1D06C72B9}</a:tableStyleId>
              </a:tblPr>
              <a:tblGrid>
                <a:gridCol w="3334365">
                  <a:extLst>
                    <a:ext uri="{9D8B030D-6E8A-4147-A177-3AD203B41FA5}">
                      <a16:colId xmlns:a16="http://schemas.microsoft.com/office/drawing/2014/main" val="2277945945"/>
                    </a:ext>
                  </a:extLst>
                </a:gridCol>
                <a:gridCol w="3334365">
                  <a:extLst>
                    <a:ext uri="{9D8B030D-6E8A-4147-A177-3AD203B41FA5}">
                      <a16:colId xmlns:a16="http://schemas.microsoft.com/office/drawing/2014/main" val="2382028455"/>
                    </a:ext>
                  </a:extLst>
                </a:gridCol>
                <a:gridCol w="3334365">
                  <a:extLst>
                    <a:ext uri="{9D8B030D-6E8A-4147-A177-3AD203B41FA5}">
                      <a16:colId xmlns:a16="http://schemas.microsoft.com/office/drawing/2014/main" val="2731195679"/>
                    </a:ext>
                  </a:extLst>
                </a:gridCol>
              </a:tblGrid>
              <a:tr h="528259">
                <a:tc>
                  <a:txBody>
                    <a:bodyPr/>
                    <a:lstStyle/>
                    <a:p>
                      <a:r>
                        <a:rPr lang="en-US" dirty="0"/>
                        <a:t>1. Before you generate</a:t>
                      </a:r>
                    </a:p>
                  </a:txBody>
                  <a:tcPr/>
                </a:tc>
                <a:tc>
                  <a:txBody>
                    <a:bodyPr/>
                    <a:lstStyle/>
                    <a:p>
                      <a:r>
                        <a:rPr lang="en-US" dirty="0"/>
                        <a:t>2. Before you share</a:t>
                      </a:r>
                    </a:p>
                  </a:txBody>
                  <a:tcPr/>
                </a:tc>
                <a:tc>
                  <a:txBody>
                    <a:bodyPr/>
                    <a:lstStyle/>
                    <a:p>
                      <a:r>
                        <a:rPr lang="en-US" dirty="0"/>
                        <a:t>Before you reuse</a:t>
                      </a:r>
                    </a:p>
                  </a:txBody>
                  <a:tcPr/>
                </a:tc>
                <a:extLst>
                  <a:ext uri="{0D108BD9-81ED-4DB2-BD59-A6C34878D82A}">
                    <a16:rowId xmlns:a16="http://schemas.microsoft.com/office/drawing/2014/main" val="3937305731"/>
                  </a:ext>
                </a:extLst>
              </a:tr>
              <a:tr h="1302557">
                <a:tc>
                  <a:txBody>
                    <a:bodyPr/>
                    <a:lstStyle/>
                    <a:p>
                      <a:r>
                        <a:rPr lang="en-US" dirty="0"/>
                        <a:t>Define the target modality &amp; complexity before picking a model</a:t>
                      </a:r>
                    </a:p>
                  </a:txBody>
                  <a:tcPr/>
                </a:tc>
                <a:tc>
                  <a:txBody>
                    <a:bodyPr/>
                    <a:lstStyle/>
                    <a:p>
                      <a:r>
                        <a:rPr lang="en-US" dirty="0"/>
                        <a:t>Run the evaluation test (fidelity, utility, privacy)</a:t>
                      </a:r>
                    </a:p>
                  </a:txBody>
                  <a:tcPr/>
                </a:tc>
                <a:tc>
                  <a:txBody>
                    <a:bodyPr/>
                    <a:lstStyle/>
                    <a:p>
                      <a:r>
                        <a:rPr lang="en-US" dirty="0"/>
                        <a:t>Use as a “sandbox”: develop code &amp; test hypotheses safely</a:t>
                      </a:r>
                    </a:p>
                  </a:txBody>
                  <a:tcPr/>
                </a:tc>
                <a:extLst>
                  <a:ext uri="{0D108BD9-81ED-4DB2-BD59-A6C34878D82A}">
                    <a16:rowId xmlns:a16="http://schemas.microsoft.com/office/drawing/2014/main" val="534153960"/>
                  </a:ext>
                </a:extLst>
              </a:tr>
              <a:tr h="911790">
                <a:tc>
                  <a:txBody>
                    <a:bodyPr/>
                    <a:lstStyle/>
                    <a:p>
                      <a:r>
                        <a:rPr lang="en-US" dirty="0"/>
                        <a:t>Don’t over-engineer: start with simple models</a:t>
                      </a:r>
                    </a:p>
                  </a:txBody>
                  <a:tcPr/>
                </a:tc>
                <a:tc>
                  <a:txBody>
                    <a:bodyPr/>
                    <a:lstStyle/>
                    <a:p>
                      <a:r>
                        <a:rPr lang="en-US" dirty="0"/>
                        <a:t>See if more audits are needed</a:t>
                      </a:r>
                    </a:p>
                  </a:txBody>
                  <a:tcPr/>
                </a:tc>
                <a:tc>
                  <a:txBody>
                    <a:bodyPr/>
                    <a:lstStyle/>
                    <a:p>
                      <a:r>
                        <a:rPr lang="en-US" dirty="0"/>
                        <a:t>Check the performance reports (if there are)</a:t>
                      </a:r>
                    </a:p>
                  </a:txBody>
                  <a:tcPr/>
                </a:tc>
                <a:extLst>
                  <a:ext uri="{0D108BD9-81ED-4DB2-BD59-A6C34878D82A}">
                    <a16:rowId xmlns:a16="http://schemas.microsoft.com/office/drawing/2014/main" val="4288513956"/>
                  </a:ext>
                </a:extLst>
              </a:tr>
              <a:tr h="1693324">
                <a:tc>
                  <a:txBody>
                    <a:bodyPr/>
                    <a:lstStyle/>
                    <a:p>
                      <a:r>
                        <a:rPr lang="en-US" dirty="0"/>
                        <a:t>Document the generation parameters transparently for reproducibility </a:t>
                      </a:r>
                    </a:p>
                  </a:txBody>
                  <a:tcPr/>
                </a:tc>
                <a:tc>
                  <a:txBody>
                    <a:bodyPr/>
                    <a:lstStyle/>
                    <a:p>
                      <a:r>
                        <a:rPr lang="en-US" dirty="0"/>
                        <a:t>Report and limitations: rare samples loss</a:t>
                      </a:r>
                    </a:p>
                  </a:txBody>
                  <a:tcPr/>
                </a:tc>
                <a:tc>
                  <a:txBody>
                    <a:bodyPr/>
                    <a:lstStyle/>
                    <a:p>
                      <a:endParaRPr lang="en-US" dirty="0"/>
                    </a:p>
                  </a:txBody>
                  <a:tcPr/>
                </a:tc>
                <a:extLst>
                  <a:ext uri="{0D108BD9-81ED-4DB2-BD59-A6C34878D82A}">
                    <a16:rowId xmlns:a16="http://schemas.microsoft.com/office/drawing/2014/main" val="2974460009"/>
                  </a:ext>
                </a:extLst>
              </a:tr>
            </a:tbl>
          </a:graphicData>
        </a:graphic>
      </p:graphicFrame>
    </p:spTree>
    <p:extLst>
      <p:ext uri="{BB962C8B-B14F-4D97-AF65-F5344CB8AC3E}">
        <p14:creationId xmlns:p14="http://schemas.microsoft.com/office/powerpoint/2010/main" val="7618403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BC3A2-B2EC-BE4E-2D55-B5BBEC6B2C5A}"/>
              </a:ext>
            </a:extLst>
          </p:cNvPr>
          <p:cNvSpPr>
            <a:spLocks noGrp="1"/>
          </p:cNvSpPr>
          <p:nvPr>
            <p:ph type="title"/>
          </p:nvPr>
        </p:nvSpPr>
        <p:spPr/>
        <p:txBody>
          <a:bodyPr/>
          <a:lstStyle/>
          <a:p>
            <a:r>
              <a:rPr lang="en-US" dirty="0"/>
              <a:t>Useful links</a:t>
            </a:r>
          </a:p>
        </p:txBody>
      </p:sp>
      <p:sp>
        <p:nvSpPr>
          <p:cNvPr id="3" name="Content Placeholder 2">
            <a:extLst>
              <a:ext uri="{FF2B5EF4-FFF2-40B4-BE49-F238E27FC236}">
                <a16:creationId xmlns:a16="http://schemas.microsoft.com/office/drawing/2014/main" id="{3B9EE23E-0619-C6CF-BA12-ACE52401DB10}"/>
              </a:ext>
            </a:extLst>
          </p:cNvPr>
          <p:cNvSpPr>
            <a:spLocks noGrp="1"/>
          </p:cNvSpPr>
          <p:nvPr>
            <p:ph idx="1"/>
          </p:nvPr>
        </p:nvSpPr>
        <p:spPr/>
        <p:txBody>
          <a:bodyPr>
            <a:normAutofit fontScale="85000" lnSpcReduction="20000"/>
          </a:bodyPr>
          <a:lstStyle/>
          <a:p>
            <a:r>
              <a:rPr lang="en-US" dirty="0"/>
              <a:t>Common synthetic data generation packages (if you have coding experience): </a:t>
            </a:r>
          </a:p>
          <a:p>
            <a:r>
              <a:rPr lang="en-US" dirty="0">
                <a:hlinkClick r:id="rId2"/>
              </a:rPr>
              <a:t>https://github.com/statice/awesome-synthetic-data</a:t>
            </a:r>
          </a:p>
          <a:p>
            <a:r>
              <a:rPr lang="en-US" dirty="0">
                <a:hlinkClick r:id="rId2"/>
              </a:rPr>
              <a:t>https://github.com/ql909/awesome-synthetic-data-education</a:t>
            </a:r>
          </a:p>
          <a:p>
            <a:r>
              <a:rPr lang="en-US" dirty="0">
                <a:hlinkClick r:id="rId2"/>
              </a:rPr>
              <a:t>https://github.com/Data-Centric-AI-Community/fg-data-synthetic</a:t>
            </a:r>
            <a:endParaRPr lang="en-US" dirty="0"/>
          </a:p>
          <a:p>
            <a:r>
              <a:rPr lang="en-US" dirty="0">
                <a:hlinkClick r:id="rId3"/>
              </a:rPr>
              <a:t>https://github.com/vanderschaarlab/synthcity</a:t>
            </a:r>
            <a:endParaRPr lang="en-US" dirty="0"/>
          </a:p>
          <a:p>
            <a:r>
              <a:rPr lang="en-US" dirty="0">
                <a:hlinkClick r:id="rId4"/>
              </a:rPr>
              <a:t>https://github.com/sdv-dev/sdv</a:t>
            </a:r>
            <a:endParaRPr lang="en-US" dirty="0"/>
          </a:p>
          <a:p>
            <a:endParaRPr lang="en-US" dirty="0"/>
          </a:p>
          <a:p>
            <a:r>
              <a:rPr lang="en-US" dirty="0"/>
              <a:t>Common synthetic data generation dashboard (if you don’t know how to coding)</a:t>
            </a:r>
          </a:p>
          <a:p>
            <a:r>
              <a:rPr lang="en-US" dirty="0">
                <a:hlinkClick r:id="rId5"/>
              </a:rPr>
              <a:t>https://docs.synthetic.ydata.ai/latest/ydata_fabric_app/</a:t>
            </a:r>
            <a:endParaRPr lang="en-US" dirty="0"/>
          </a:p>
          <a:p>
            <a:r>
              <a:rPr lang="en-US" dirty="0" err="1"/>
              <a:t>Mostly.ai</a:t>
            </a:r>
            <a:endParaRPr lang="en-US" dirty="0"/>
          </a:p>
        </p:txBody>
      </p:sp>
    </p:spTree>
    <p:extLst>
      <p:ext uri="{BB962C8B-B14F-4D97-AF65-F5344CB8AC3E}">
        <p14:creationId xmlns:p14="http://schemas.microsoft.com/office/powerpoint/2010/main" val="38723102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8765D-7669-174C-91AD-89F643756F6D}"/>
              </a:ext>
            </a:extLst>
          </p:cNvPr>
          <p:cNvSpPr>
            <a:spLocks noGrp="1"/>
          </p:cNvSpPr>
          <p:nvPr>
            <p:ph type="title"/>
          </p:nvPr>
        </p:nvSpPr>
        <p:spPr/>
        <p:txBody>
          <a:bodyPr/>
          <a:lstStyle/>
          <a:p>
            <a:r>
              <a:rPr lang="en-US" dirty="0"/>
              <a:t>Questions? </a:t>
            </a:r>
          </a:p>
        </p:txBody>
      </p:sp>
      <p:sp>
        <p:nvSpPr>
          <p:cNvPr id="3" name="Content Placeholder 2">
            <a:extLst>
              <a:ext uri="{FF2B5EF4-FFF2-40B4-BE49-F238E27FC236}">
                <a16:creationId xmlns:a16="http://schemas.microsoft.com/office/drawing/2014/main" id="{8663A140-C958-CC9C-C8C0-9000FC9E7234}"/>
              </a:ext>
            </a:extLst>
          </p:cNvPr>
          <p:cNvSpPr>
            <a:spLocks noGrp="1"/>
          </p:cNvSpPr>
          <p:nvPr>
            <p:ph idx="1"/>
          </p:nvPr>
        </p:nvSpPr>
        <p:spPr/>
        <p:txBody>
          <a:bodyPr/>
          <a:lstStyle/>
          <a:p>
            <a:r>
              <a:rPr lang="en-US" dirty="0"/>
              <a:t>Contact me at </a:t>
            </a:r>
            <a:r>
              <a:rPr lang="en-US" dirty="0">
                <a:hlinkClick r:id="rId2"/>
              </a:rPr>
              <a:t>qyliu@cityu.edu.mo</a:t>
            </a:r>
            <a:endParaRPr lang="en-US" dirty="0"/>
          </a:p>
          <a:p>
            <a:r>
              <a:rPr lang="en-US" dirty="0"/>
              <a:t>Slides will be upload to my website (https://</a:t>
            </a:r>
            <a:r>
              <a:rPr lang="en-US" dirty="0" err="1"/>
              <a:t>qinyiliu.site</a:t>
            </a:r>
            <a:r>
              <a:rPr lang="en-US" dirty="0"/>
              <a:t>/), feel free to download or send request </a:t>
            </a:r>
          </a:p>
        </p:txBody>
      </p:sp>
    </p:spTree>
    <p:extLst>
      <p:ext uri="{BB962C8B-B14F-4D97-AF65-F5344CB8AC3E}">
        <p14:creationId xmlns:p14="http://schemas.microsoft.com/office/powerpoint/2010/main" val="3460488877"/>
      </p:ext>
    </p:extLst>
  </p:cSld>
  <p:clrMapOvr>
    <a:masterClrMapping/>
  </p:clrMapOvr>
</p:sld>
</file>

<file path=ppt/theme/theme1.xml><?xml version="1.0" encoding="utf-8"?>
<a:theme xmlns:a="http://schemas.openxmlformats.org/drawingml/2006/main" name="CitationVTI">
  <a:themeElements>
    <a:clrScheme name="Citation">
      <a:dk1>
        <a:sysClr val="windowText" lastClr="000000"/>
      </a:dk1>
      <a:lt1>
        <a:sysClr val="window" lastClr="FFFFFF"/>
      </a:lt1>
      <a:dk2>
        <a:srgbClr val="01375D"/>
      </a:dk2>
      <a:lt2>
        <a:srgbClr val="F3F2EF"/>
      </a:lt2>
      <a:accent1>
        <a:srgbClr val="29A3D2"/>
      </a:accent1>
      <a:accent2>
        <a:srgbClr val="0669AC"/>
      </a:accent2>
      <a:accent3>
        <a:srgbClr val="FD891C"/>
      </a:accent3>
      <a:accent4>
        <a:srgbClr val="FD6927"/>
      </a:accent4>
      <a:accent5>
        <a:srgbClr val="F95131"/>
      </a:accent5>
      <a:accent6>
        <a:srgbClr val="CE5FAE"/>
      </a:accent6>
      <a:hlink>
        <a:srgbClr val="0F8EC1"/>
      </a:hlink>
      <a:folHlink>
        <a:srgbClr val="DC6400"/>
      </a:folHlink>
    </a:clrScheme>
    <a:fontScheme name="Grandview">
      <a:majorFont>
        <a:latin typeface="Grandview"/>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VTI" id="{4899D957-8B31-4AB5-A19D-CB0353FFB667}" vid="{430294D6-2412-4BD3-B567-F0976EA493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602</TotalTime>
  <Words>2726</Words>
  <Application>Microsoft Macintosh PowerPoint</Application>
  <PresentationFormat>Widescreen</PresentationFormat>
  <Paragraphs>244</Paragraphs>
  <Slides>46</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Inter</vt:lpstr>
      <vt:lpstr>Space Grotesk</vt:lpstr>
      <vt:lpstr>Aptos</vt:lpstr>
      <vt:lpstr>Arial</vt:lpstr>
      <vt:lpstr>Cambria Math</vt:lpstr>
      <vt:lpstr>Grandview</vt:lpstr>
      <vt:lpstr>Grandview Display</vt:lpstr>
      <vt:lpstr>CitationVTI</vt:lpstr>
      <vt:lpstr>Can Synthetic Data Make Research Data More Open? Opportunities and Privacy Risks in the Age of AI</vt:lpstr>
      <vt:lpstr>What I have been working on</vt:lpstr>
      <vt:lpstr>Huge attention has been given to synthetic data</vt:lpstr>
      <vt:lpstr>PowerPoint Presentation</vt:lpstr>
      <vt:lpstr>PowerPoint Presentation</vt:lpstr>
      <vt:lpstr>PowerPoint Presentation</vt:lpstr>
      <vt:lpstr>PowerPoint Presentation</vt:lpstr>
      <vt:lpstr>Today’s plan</vt:lpstr>
      <vt:lpstr>What is synthetic data?</vt:lpstr>
      <vt:lpstr>PowerPoint Presentation</vt:lpstr>
      <vt:lpstr>PowerPoint Presentation</vt:lpstr>
      <vt:lpstr>synthetic data types</vt:lpstr>
      <vt:lpstr>PowerPoint Presentation</vt:lpstr>
      <vt:lpstr>How to generate synthetic data</vt:lpstr>
      <vt:lpstr>Statistical &amp; Probabilistic Models</vt:lpstr>
      <vt:lpstr>Stat methods</vt:lpstr>
      <vt:lpstr>Deep Generative Models</vt:lpstr>
      <vt:lpstr>PowerPoint Presentation</vt:lpstr>
      <vt:lpstr>Deep Generative Models</vt:lpstr>
      <vt:lpstr>LLM-based Synthetic Generation</vt:lpstr>
      <vt:lpstr>PowerPoint Presentation</vt:lpstr>
      <vt:lpstr>four main paradigms of llm synthetic data generation</vt:lpstr>
      <vt:lpstr>If you know some coding</vt:lpstr>
      <vt:lpstr>If you don’t have coding experience</vt:lpstr>
      <vt:lpstr>If you don’t have coding expeirence</vt:lpstr>
      <vt:lpstr>PowerPoint Presentation</vt:lpstr>
      <vt:lpstr>PowerPoint Presentation</vt:lpstr>
      <vt:lpstr>If you don’t know how to coding</vt:lpstr>
      <vt:lpstr>Synthetic data evaluation </vt:lpstr>
      <vt:lpstr>Fidelity (resemblance or similarity)</vt:lpstr>
      <vt:lpstr>Fidelity (resemblance or similarity)</vt:lpstr>
      <vt:lpstr>Utility</vt:lpstr>
      <vt:lpstr>utility</vt:lpstr>
      <vt:lpstr>Privacy </vt:lpstr>
      <vt:lpstr>Specific metrics</vt:lpstr>
      <vt:lpstr>The Evaluation Triangle</vt:lpstr>
      <vt:lpstr>Speaking of privacy in synthetic data</vt:lpstr>
      <vt:lpstr>Differential private synthetic data</vt:lpstr>
      <vt:lpstr>Federated Learning + Synthetic Data</vt:lpstr>
      <vt:lpstr>Federated Learning + Synthetic Data</vt:lpstr>
      <vt:lpstr>ASPIRE project in uib</vt:lpstr>
      <vt:lpstr>Illustrative example: a privacy-conscious sharing workflow</vt:lpstr>
      <vt:lpstr>Limitations of synthetic data</vt:lpstr>
      <vt:lpstr>Take away: practical rule for synthetic data in open science</vt:lpstr>
      <vt:lpstr>Useful links</vt:lpstr>
      <vt:lpstr>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Qinyi Liu</dc:creator>
  <cp:lastModifiedBy>Qinyi Liu</cp:lastModifiedBy>
  <cp:revision>113</cp:revision>
  <dcterms:created xsi:type="dcterms:W3CDTF">2026-09-21T02:58:00Z</dcterms:created>
  <dcterms:modified xsi:type="dcterms:W3CDTF">2026-09-24T08:48:17Z</dcterms:modified>
</cp:coreProperties>
</file>